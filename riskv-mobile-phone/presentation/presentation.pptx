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9" r:id="rId1"/>
  </p:sldMasterIdLst>
  <p:notesMasterIdLst>
    <p:notesMasterId r:id="rId12"/>
  </p:notesMasterIdLst>
  <p:sldIdLst>
    <p:sldId id="256" r:id="rId2"/>
    <p:sldId id="264" r:id="rId3"/>
    <p:sldId id="265" r:id="rId4"/>
    <p:sldId id="271" r:id="rId5"/>
    <p:sldId id="263" r:id="rId6"/>
    <p:sldId id="268" r:id="rId7"/>
    <p:sldId id="270" r:id="rId8"/>
    <p:sldId id="267" r:id="rId9"/>
    <p:sldId id="266" r:id="rId10"/>
    <p:sldId id="27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75"/>
    <p:restoredTop sz="94744"/>
  </p:normalViewPr>
  <p:slideViewPr>
    <p:cSldViewPr snapToGrid="0">
      <p:cViewPr varScale="1">
        <p:scale>
          <a:sx n="122" d="100"/>
          <a:sy n="122" d="100"/>
        </p:scale>
        <p:origin x="9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798AC6-28A4-3344-95BF-5DB9AD84A32E}" type="datetimeFigureOut">
              <a:rPr lang="en-US" smtClean="0"/>
              <a:t>5/26/23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DEDD3F-0F3A-3B41-AED2-ADC724B5D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270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EDD3F-0F3A-3B41-AED2-ADC724B5D45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073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642A5-BD3B-0347-A6F0-EFCB0F836C43}" type="datetimeFigureOut">
              <a:rPr lang="en-US" smtClean="0"/>
              <a:t>5/26/23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F0559881-2CC0-AB47-A6CE-87D016D288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646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642A5-BD3B-0347-A6F0-EFCB0F836C43}" type="datetimeFigureOut">
              <a:rPr lang="en-US" smtClean="0"/>
              <a:t>5/26/23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59881-2CC0-AB47-A6CE-87D016D288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167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0A6642A5-BD3B-0347-A6F0-EFCB0F836C43}" type="datetimeFigureOut">
              <a:rPr lang="en-US" smtClean="0"/>
              <a:t>5/26/23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F0559881-2CC0-AB47-A6CE-87D016D288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607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642A5-BD3B-0347-A6F0-EFCB0F836C43}" type="datetimeFigureOut">
              <a:rPr lang="en-US" smtClean="0"/>
              <a:t>5/26/23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59881-2CC0-AB47-A6CE-87D016D288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93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642A5-BD3B-0347-A6F0-EFCB0F836C43}" type="datetimeFigureOut">
              <a:rPr lang="en-US" smtClean="0"/>
              <a:t>5/26/23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59881-2CC0-AB47-A6CE-87D016D2883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399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642A5-BD3B-0347-A6F0-EFCB0F836C43}" type="datetimeFigureOut">
              <a:rPr lang="en-US" smtClean="0"/>
              <a:t>5/26/23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59881-2CC0-AB47-A6CE-87D016D2883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549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642A5-BD3B-0347-A6F0-EFCB0F836C43}" type="datetimeFigureOut">
              <a:rPr lang="en-US" smtClean="0"/>
              <a:t>5/26/23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59881-2CC0-AB47-A6CE-87D016D288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213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642A5-BD3B-0347-A6F0-EFCB0F836C43}" type="datetimeFigureOut">
              <a:rPr lang="en-US" smtClean="0"/>
              <a:t>5/26/23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59881-2CC0-AB47-A6CE-87D016D288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132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642A5-BD3B-0347-A6F0-EFCB0F836C43}" type="datetimeFigureOut">
              <a:rPr lang="en-US" smtClean="0"/>
              <a:t>5/26/23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59881-2CC0-AB47-A6CE-87D016D288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423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642A5-BD3B-0347-A6F0-EFCB0F836C43}" type="datetimeFigureOut">
              <a:rPr lang="en-US" smtClean="0"/>
              <a:t>5/26/23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59881-2CC0-AB47-A6CE-87D016D288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654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642A5-BD3B-0347-A6F0-EFCB0F836C43}" type="datetimeFigureOut">
              <a:rPr lang="en-US" smtClean="0"/>
              <a:t>5/26/23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59881-2CC0-AB47-A6CE-87D016D288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524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0A6642A5-BD3B-0347-A6F0-EFCB0F836C43}" type="datetimeFigureOut">
              <a:rPr lang="en-US" smtClean="0"/>
              <a:t>5/26/23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F0559881-2CC0-AB47-A6CE-87D016D288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87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electronics.stackexchange.com/questions/353915/what-is-the-role-of-isa-instruction-set-architecture-in-the-comp-arch-abstract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etimes.eu/creating-a-custom-processor-with-risc-v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chn.oversea.cnki.net/KCMS/detail/detail.aspx?dbcode=CJFD&amp;dbname=CJFDAUTO&amp;filename=JCDI2023Z1004&amp;uniplatform=OVERSEA&amp;v=qJ0SijI9rjIWFJCRHW7g_nOSfVq5vIMP0xN14seEy8XmeBb1M9f7ofBTztakN2Rd" TargetMode="External"/><Relationship Id="rId3" Type="http://schemas.openxmlformats.org/officeDocument/2006/relationships/hyperlink" Target="https://ieeexplore.ieee.org/document/10049118" TargetMode="External"/><Relationship Id="rId7" Type="http://schemas.openxmlformats.org/officeDocument/2006/relationships/hyperlink" Target="https://dl.acm.org/doi/10.1145/3386377" TargetMode="External"/><Relationship Id="rId2" Type="http://schemas.openxmlformats.org/officeDocument/2006/relationships/hyperlink" Target="https://www.jos.org.cn/jos/article/abstract/6490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eeexplore.ieee.org/document/8965559" TargetMode="External"/><Relationship Id="rId11" Type="http://schemas.openxmlformats.org/officeDocument/2006/relationships/hyperlink" Target="https://ieeexplore.ieee.org/document/9138983/authors#authors" TargetMode="External"/><Relationship Id="rId5" Type="http://schemas.openxmlformats.org/officeDocument/2006/relationships/hyperlink" Target="https://ieeexplore.ieee.org/document/9771410/authors#authors" TargetMode="External"/><Relationship Id="rId10" Type="http://schemas.openxmlformats.org/officeDocument/2006/relationships/hyperlink" Target="https://arxiv.org/abs/2107.04175" TargetMode="External"/><Relationship Id="rId4" Type="http://schemas.openxmlformats.org/officeDocument/2006/relationships/hyperlink" Target="https://link.springer.com/chapter/10.1007/978-3-030-96326-2_5" TargetMode="External"/><Relationship Id="rId9" Type="http://schemas.openxmlformats.org/officeDocument/2006/relationships/hyperlink" Target="https://chn.oversea.cnki.net/kcms/detail/detail.aspx?filename=JCDI202108006&amp;dbcode=CJFD&amp;dbname=CJFDTEMP&amp;v=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F843121-6A90-E07C-F836-FEB9DF7F60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0290" y="1509285"/>
            <a:ext cx="9871420" cy="2537197"/>
          </a:xfrm>
        </p:spPr>
        <p:txBody>
          <a:bodyPr>
            <a:noAutofit/>
          </a:bodyPr>
          <a:lstStyle/>
          <a:p>
            <a:r>
              <a:rPr lang="en-AU" sz="4800" dirty="0"/>
              <a:t>Exploring the Viability of Widespread Adoption of RISC-V Architecture in Mobile Phones: Prospects and Challenges</a:t>
            </a:r>
            <a:endParaRPr lang="en-US" sz="48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A755BBC-A310-A7C4-B6D0-22EF63A54F9A}"/>
              </a:ext>
            </a:extLst>
          </p:cNvPr>
          <p:cNvSpPr txBox="1">
            <a:spLocks/>
          </p:cNvSpPr>
          <p:nvPr/>
        </p:nvSpPr>
        <p:spPr>
          <a:xfrm>
            <a:off x="997380" y="4754774"/>
            <a:ext cx="5718731" cy="9917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err="1"/>
              <a:t>Haoting</a:t>
            </a:r>
            <a:r>
              <a:rPr lang="en-US" sz="2000" dirty="0"/>
              <a:t> Chen U7227871</a:t>
            </a:r>
          </a:p>
        </p:txBody>
      </p:sp>
    </p:spTree>
    <p:extLst>
      <p:ext uri="{BB962C8B-B14F-4D97-AF65-F5344CB8AC3E}">
        <p14:creationId xmlns:p14="http://schemas.microsoft.com/office/powerpoint/2010/main" val="2637221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3AD27-7B73-1B2F-1955-C2BCB7CA3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RISC-V and ISA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44499-4833-4706-6D09-A849E89F2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6403007" cy="2492633"/>
          </a:xfrm>
        </p:spPr>
        <p:txBody>
          <a:bodyPr>
            <a:normAutofit/>
          </a:bodyPr>
          <a:lstStyle/>
          <a:p>
            <a:r>
              <a:rPr lang="en-AU" dirty="0"/>
              <a:t>RISC-V is an instruction set architecture (ISA) first published by UC-Bakery in 2010. </a:t>
            </a:r>
          </a:p>
          <a:p>
            <a:r>
              <a:rPr lang="en-AU" dirty="0"/>
              <a:t>ISA is the connection between software and hardware.</a:t>
            </a:r>
            <a:r>
              <a:rPr lang="en-AU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r>
              <a:rPr lang="en-AU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ARM and x86 are the current dominant ISAs in the mobile phone and PC areas</a:t>
            </a:r>
            <a:r>
              <a:rPr lang="en-AU" dirty="0">
                <a:effectLst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FAEC6A-6A70-D924-87FD-1F2EEBD5C76A}"/>
              </a:ext>
            </a:extLst>
          </p:cNvPr>
          <p:cNvSpPr txBox="1"/>
          <p:nvPr/>
        </p:nvSpPr>
        <p:spPr>
          <a:xfrm>
            <a:off x="1765738" y="6199631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000" dirty="0"/>
              <a:t>Image From: </a:t>
            </a:r>
          </a:p>
          <a:p>
            <a:r>
              <a:rPr lang="en-AU" sz="1000" dirty="0"/>
              <a:t>&lt;</a:t>
            </a:r>
            <a:r>
              <a:rPr lang="en-US" sz="1000" dirty="0">
                <a:hlinkClick r:id="rId2"/>
              </a:rPr>
              <a:t>https://electronics.stackexchange.com/questions/353915/what-is-the-role-of-isa-instruction-set-architecture-in-the-comp-arch-abstract</a:t>
            </a:r>
            <a:r>
              <a:rPr lang="en-AU" sz="1000" dirty="0"/>
              <a:t>&gt;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9BC194-BF23-391C-1870-02E5BAD3A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6221" y="2529112"/>
            <a:ext cx="4364715" cy="323538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C5F4499-B59B-49B3-4AB8-1050B8D4BE7C}"/>
              </a:ext>
            </a:extLst>
          </p:cNvPr>
          <p:cNvSpPr txBox="1"/>
          <p:nvPr/>
        </p:nvSpPr>
        <p:spPr>
          <a:xfrm>
            <a:off x="882428" y="49496"/>
            <a:ext cx="149924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Exploring the Viability of Widespread Adoption of RISC-V Architecture in Mobile Phones: Prospects and Challenges</a:t>
            </a:r>
            <a:endParaRPr lang="en-US" sz="1600" i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3417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3AD27-7B73-1B2F-1955-C2BCB7CA3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RISC-V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44499-4833-4706-6D09-A849E89F2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6917" y="630406"/>
            <a:ext cx="5003761" cy="24926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Openness</a:t>
            </a:r>
          </a:p>
          <a:p>
            <a:r>
              <a:rPr lang="en-AU" sz="18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RISC-V is open-source under the BSD License</a:t>
            </a:r>
            <a:endParaRPr lang="en-AU" dirty="0">
              <a:effectLst/>
            </a:endParaRPr>
          </a:p>
          <a:p>
            <a:r>
              <a:rPr lang="en-AU" sz="18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AU" sz="18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veryone can use and modify it </a:t>
            </a:r>
            <a:r>
              <a:rPr lang="en-AU" sz="18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freely</a:t>
            </a:r>
          </a:p>
          <a:p>
            <a:r>
              <a:rPr lang="en-AU" sz="18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ARM and x86 </a:t>
            </a:r>
            <a:r>
              <a:rPr lang="en-AU" sz="18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are both proprietary</a:t>
            </a:r>
            <a:endParaRPr lang="en-AU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5347E7C-F5B8-5BD8-99BD-F30CC2F4D412}"/>
              </a:ext>
            </a:extLst>
          </p:cNvPr>
          <p:cNvSpPr txBox="1">
            <a:spLocks/>
          </p:cNvSpPr>
          <p:nvPr/>
        </p:nvSpPr>
        <p:spPr>
          <a:xfrm>
            <a:off x="865085" y="2012310"/>
            <a:ext cx="3638786" cy="43610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dirty="0"/>
              <a:t>Modularity</a:t>
            </a:r>
          </a:p>
          <a:p>
            <a:r>
              <a:rPr lang="en-AU" sz="18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RISC-V defines four basic instruction sets and various official and custom instruction extensions to provide more functionality</a:t>
            </a:r>
            <a:endParaRPr lang="en-AU" dirty="0">
              <a:effectLst/>
            </a:endParaRPr>
          </a:p>
          <a:p>
            <a:r>
              <a:rPr lang="en-AU" sz="18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Every RISC-V processor must consist of one of the four basic instruction sets but can have none or multiple instruction-set extensions.</a:t>
            </a:r>
          </a:p>
          <a:p>
            <a:r>
              <a:rPr lang="en-AU" sz="18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This allows you only to contain the instruction you need in your chip to suit your specific needs.</a:t>
            </a:r>
            <a:r>
              <a:rPr lang="en-AU" dirty="0">
                <a:effectLst/>
              </a:rPr>
              <a:t> </a:t>
            </a:r>
            <a:endParaRPr lang="en-AU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20ED9BE-4121-934E-D4B7-CA1C7345E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9057" y="2715470"/>
            <a:ext cx="6161621" cy="35121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2B5BA6-6480-6210-799C-3E86E826FDB4}"/>
              </a:ext>
            </a:extLst>
          </p:cNvPr>
          <p:cNvSpPr txBox="1"/>
          <p:nvPr/>
        </p:nvSpPr>
        <p:spPr>
          <a:xfrm>
            <a:off x="882428" y="49496"/>
            <a:ext cx="149924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Exploring the Viability of Widespread Adoption of RISC-V Architecture in Mobile Phones: Prospects and Challenges</a:t>
            </a:r>
            <a:endParaRPr lang="en-US" sz="1600" i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DBB28D-12A5-E9D4-A611-8B74FB4EE1E1}"/>
              </a:ext>
            </a:extLst>
          </p:cNvPr>
          <p:cNvSpPr txBox="1"/>
          <p:nvPr/>
        </p:nvSpPr>
        <p:spPr>
          <a:xfrm>
            <a:off x="1765738" y="6199631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000" dirty="0"/>
              <a:t>Image From: </a:t>
            </a:r>
          </a:p>
          <a:p>
            <a:r>
              <a:rPr lang="en-AU" sz="1000" dirty="0"/>
              <a:t>&lt;</a:t>
            </a:r>
            <a:r>
              <a:rPr lang="en-AU" sz="1000" dirty="0">
                <a:hlinkClick r:id="rId3"/>
              </a:rPr>
              <a:t>https://www.eetimes.eu/creating-a-custom-processor-with-risc-v/</a:t>
            </a:r>
            <a:r>
              <a:rPr lang="en-AU" sz="1000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323332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3AD27-7B73-1B2F-1955-C2BCB7CA3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RISC-V Properties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597A18C-38C2-8E12-2458-A3EB6D206D66}"/>
              </a:ext>
            </a:extLst>
          </p:cNvPr>
          <p:cNvSpPr txBox="1">
            <a:spLocks/>
          </p:cNvSpPr>
          <p:nvPr/>
        </p:nvSpPr>
        <p:spPr>
          <a:xfrm>
            <a:off x="2031240" y="2769969"/>
            <a:ext cx="9511403" cy="42793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dirty="0"/>
              <a:t>Simplicity</a:t>
            </a:r>
          </a:p>
          <a:p>
            <a:r>
              <a:rPr lang="en-AU" sz="18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The basic instruction set of RISC-V only contains 47 instructions.</a:t>
            </a:r>
          </a:p>
          <a:p>
            <a:r>
              <a:rPr lang="en-AU" sz="18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RISC-V hardly needs to consider any backward compatibility, such as retaining many old instructions to support outdated features</a:t>
            </a:r>
            <a:r>
              <a:rPr lang="en-AU" dirty="0">
                <a:effectLst/>
              </a:rPr>
              <a:t> </a:t>
            </a:r>
            <a:endParaRPr lang="en-AU" sz="18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AU" sz="18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The RISC-V specification document consists of only two volumes with 329 pages in total</a:t>
            </a:r>
            <a:r>
              <a:rPr lang="en-AU" sz="18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, while ARMv8-A has 8528 pages in the first volume alone.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93ACE4-06C2-70A4-8041-9A069A8147FD}"/>
              </a:ext>
            </a:extLst>
          </p:cNvPr>
          <p:cNvSpPr txBox="1"/>
          <p:nvPr/>
        </p:nvSpPr>
        <p:spPr>
          <a:xfrm>
            <a:off x="882428" y="49496"/>
            <a:ext cx="149924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Exploring the Viability of Widespread Adoption of RISC-V Architecture in Mobile Phones: Prospects and Challenges</a:t>
            </a:r>
            <a:endParaRPr lang="en-US" sz="1600" i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9036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C3AEB-B25D-3837-FCC5-5E1449610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3141" y="245519"/>
            <a:ext cx="10058400" cy="1609344"/>
          </a:xfrm>
        </p:spPr>
        <p:txBody>
          <a:bodyPr/>
          <a:lstStyle/>
          <a:p>
            <a:r>
              <a:rPr lang="en-US" dirty="0"/>
              <a:t>Research Methodologies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9448F-0812-76E1-1061-73484F0E4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79" y="1658840"/>
            <a:ext cx="9227091" cy="5340625"/>
          </a:xfrm>
        </p:spPr>
        <p:txBody>
          <a:bodyPr>
            <a:normAutofit/>
          </a:bodyPr>
          <a:lstStyle/>
          <a:p>
            <a:r>
              <a:rPr lang="en-AU" b="1" dirty="0"/>
              <a:t>Hardware Ecosystem</a:t>
            </a:r>
          </a:p>
          <a:p>
            <a:pPr marL="0" indent="0">
              <a:buNone/>
            </a:pPr>
            <a:r>
              <a:rPr lang="en-AU" dirty="0"/>
              <a:t>	Performance of Leading RISC-V Processors</a:t>
            </a:r>
          </a:p>
          <a:p>
            <a:pPr marL="0" indent="0">
              <a:buNone/>
            </a:pPr>
            <a:r>
              <a:rPr lang="en-AU" dirty="0"/>
              <a:t>	Availability of RISC-V Processors for Mobile Phones</a:t>
            </a:r>
          </a:p>
          <a:p>
            <a:pPr marL="0" indent="0">
              <a:buNone/>
            </a:pPr>
            <a:r>
              <a:rPr lang="en-AU" dirty="0"/>
              <a:t>	Academic and Industrial Activeness in RISC-V Extensions Research</a:t>
            </a:r>
          </a:p>
          <a:p>
            <a:pPr marL="0" indent="0">
              <a:buNone/>
            </a:pPr>
            <a:endParaRPr lang="en-AU" dirty="0"/>
          </a:p>
          <a:p>
            <a:r>
              <a:rPr lang="en-AU" b="1" dirty="0"/>
              <a:t>Software Ecosystem</a:t>
            </a:r>
          </a:p>
          <a:p>
            <a:pPr marL="0" indent="0">
              <a:buNone/>
            </a:pPr>
            <a:r>
              <a:rPr lang="en-AU" dirty="0"/>
              <a:t>	Emulators</a:t>
            </a:r>
          </a:p>
          <a:p>
            <a:pPr marL="0" indent="0">
              <a:buNone/>
            </a:pPr>
            <a:r>
              <a:rPr lang="en-AU" dirty="0"/>
              <a:t>	OSs</a:t>
            </a:r>
          </a:p>
          <a:p>
            <a:pPr marL="0" indent="0">
              <a:buNone/>
            </a:pPr>
            <a:r>
              <a:rPr lang="en-AU" dirty="0"/>
              <a:t>	Compilers</a:t>
            </a:r>
          </a:p>
          <a:p>
            <a:pPr marL="0" indent="0">
              <a:buNone/>
            </a:pPr>
            <a:r>
              <a:rPr lang="en-AU" dirty="0"/>
              <a:t>	Development toolkits</a:t>
            </a:r>
          </a:p>
          <a:p>
            <a:pPr marL="0" indent="0">
              <a:buNone/>
            </a:pPr>
            <a:r>
              <a:rPr lang="en-AU" dirty="0"/>
              <a:t>	Application software</a:t>
            </a:r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C201944-FFE6-8902-6990-8B93C816AA63}"/>
              </a:ext>
            </a:extLst>
          </p:cNvPr>
          <p:cNvSpPr txBox="1">
            <a:spLocks/>
          </p:cNvSpPr>
          <p:nvPr/>
        </p:nvSpPr>
        <p:spPr>
          <a:xfrm>
            <a:off x="4588032" y="3660229"/>
            <a:ext cx="7979598" cy="3733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b="1" dirty="0"/>
              <a:t>Security</a:t>
            </a:r>
          </a:p>
          <a:p>
            <a:pPr marL="0" indent="0">
              <a:buFont typeface="Wingdings" pitchFamily="2" charset="2"/>
              <a:buNone/>
            </a:pPr>
            <a:r>
              <a:rPr lang="en-AU" dirty="0"/>
              <a:t>	Security features of RISC-V</a:t>
            </a:r>
          </a:p>
          <a:p>
            <a:pPr marL="0" indent="0">
              <a:buFont typeface="Wingdings" pitchFamily="2" charset="2"/>
              <a:buNone/>
            </a:pPr>
            <a:r>
              <a:rPr lang="en-AU" dirty="0"/>
              <a:t>	Research progress in addressing the security weakness</a:t>
            </a:r>
          </a:p>
          <a:p>
            <a:pPr marL="0" indent="0">
              <a:buFont typeface="Wingdings" pitchFamily="2" charset="2"/>
              <a:buNone/>
            </a:pPr>
            <a:endParaRPr lang="en-AU" dirty="0"/>
          </a:p>
          <a:p>
            <a:r>
              <a:rPr lang="en-AU" b="1" dirty="0"/>
              <a:t>Other external factors</a:t>
            </a:r>
          </a:p>
          <a:p>
            <a:pPr marL="0" indent="0">
              <a:buFont typeface="Wingdings" pitchFamily="2" charset="2"/>
              <a:buNone/>
            </a:pPr>
            <a:r>
              <a:rPr lang="en-AU" dirty="0"/>
              <a:t>	Market strategies that Arm done against RISC-V</a:t>
            </a:r>
          </a:p>
          <a:p>
            <a:pPr marL="0" indent="0">
              <a:buFont typeface="Wingdings" pitchFamily="2" charset="2"/>
              <a:buNone/>
            </a:pPr>
            <a:r>
              <a:rPr lang="en-AU" dirty="0"/>
              <a:t>	National and Industrial Enthusiasm</a:t>
            </a:r>
          </a:p>
          <a:p>
            <a:pPr marL="0" indent="0">
              <a:buFont typeface="Wingdings" pitchFamily="2" charset="2"/>
              <a:buNone/>
            </a:pP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B3CB3C-29C4-5035-77CA-75A2919DC78E}"/>
              </a:ext>
            </a:extLst>
          </p:cNvPr>
          <p:cNvSpPr txBox="1"/>
          <p:nvPr/>
        </p:nvSpPr>
        <p:spPr>
          <a:xfrm>
            <a:off x="882428" y="49496"/>
            <a:ext cx="149924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Exploring the Viability of Widespread Adoption of RISC-V Architecture in Mobile Phones: Prospects and Challenges</a:t>
            </a:r>
            <a:endParaRPr lang="en-US" sz="1600" i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2579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C3AEB-B25D-3837-FCC5-5E1449610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Methodologies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9448F-0812-76E1-1061-73484F0E4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2454" y="1958123"/>
            <a:ext cx="9227091" cy="4280338"/>
          </a:xfrm>
        </p:spPr>
        <p:txBody>
          <a:bodyPr>
            <a:normAutofit/>
          </a:bodyPr>
          <a:lstStyle/>
          <a:p>
            <a:r>
              <a:rPr lang="en-AU" dirty="0"/>
              <a:t>Secondary Recourses</a:t>
            </a:r>
          </a:p>
          <a:p>
            <a:pPr marL="0" indent="0">
              <a:buNone/>
            </a:pPr>
            <a:r>
              <a:rPr lang="en-AU" dirty="0"/>
              <a:t>	Literature Articles</a:t>
            </a:r>
          </a:p>
          <a:p>
            <a:pPr marL="0" indent="0">
              <a:buNone/>
            </a:pPr>
            <a:r>
              <a:rPr lang="en-AU" dirty="0"/>
              <a:t>	News Articles</a:t>
            </a:r>
          </a:p>
          <a:p>
            <a:pPr marL="0" indent="0">
              <a:buNone/>
            </a:pPr>
            <a:r>
              <a:rPr lang="en-AU" dirty="0"/>
              <a:t>	Industrial Reports</a:t>
            </a:r>
          </a:p>
          <a:p>
            <a:pPr marL="0" indent="0">
              <a:buNone/>
            </a:pPr>
            <a:r>
              <a:rPr lang="en-AU" dirty="0"/>
              <a:t>	Summits</a:t>
            </a:r>
          </a:p>
          <a:p>
            <a:r>
              <a:rPr lang="en-AU" dirty="0"/>
              <a:t>Primary Recourses </a:t>
            </a:r>
          </a:p>
          <a:p>
            <a:pPr marL="0" indent="0">
              <a:buNone/>
            </a:pPr>
            <a:r>
              <a:rPr lang="en-AU" dirty="0"/>
              <a:t>	Survey</a:t>
            </a:r>
          </a:p>
          <a:p>
            <a:pPr marL="0" indent="0">
              <a:buNone/>
            </a:pPr>
            <a:r>
              <a:rPr lang="en-AU" dirty="0"/>
              <a:t>	Benchmark</a:t>
            </a:r>
          </a:p>
          <a:p>
            <a:pPr marL="0" indent="0">
              <a:buNone/>
            </a:pP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E547F1-4F19-A631-9781-240C121E10F8}"/>
              </a:ext>
            </a:extLst>
          </p:cNvPr>
          <p:cNvSpPr txBox="1"/>
          <p:nvPr/>
        </p:nvSpPr>
        <p:spPr>
          <a:xfrm>
            <a:off x="882428" y="49496"/>
            <a:ext cx="149924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Exploring the Viability of Widespread Adoption of RISC-V Architecture in Mobile Phones: Prospects and Challenges</a:t>
            </a:r>
            <a:endParaRPr lang="en-US" sz="1600" i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7959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C3AEB-B25D-3837-FCC5-5E1449610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6717" y="215717"/>
            <a:ext cx="10058400" cy="1609344"/>
          </a:xfrm>
        </p:spPr>
        <p:txBody>
          <a:bodyPr/>
          <a:lstStyle/>
          <a:p>
            <a:r>
              <a:rPr lang="en-US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9448F-0812-76E1-1061-73484F0E4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658840"/>
            <a:ext cx="10058400" cy="51914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Digital Database Visited:</a:t>
            </a:r>
          </a:p>
          <a:p>
            <a:r>
              <a:rPr lang="en-AU" dirty="0"/>
              <a:t>ACM (Association for Computing Machinery)</a:t>
            </a:r>
          </a:p>
          <a:p>
            <a:r>
              <a:rPr lang="en-AU" dirty="0"/>
              <a:t>CNKI (China National Knowledge Infrastructure)</a:t>
            </a:r>
          </a:p>
          <a:p>
            <a:r>
              <a:rPr lang="en-AU" dirty="0"/>
              <a:t>IEEE (Institute of Electrical and Electronics Engineers).</a:t>
            </a:r>
          </a:p>
          <a:p>
            <a:endParaRPr lang="en-AU" dirty="0"/>
          </a:p>
          <a:p>
            <a:pPr marL="0" indent="0">
              <a:buNone/>
            </a:pPr>
            <a:r>
              <a:rPr lang="en-AU" dirty="0"/>
              <a:t>Throughout the literature, some articles have been found to discuss the prospect of RISC-V explicitly. However, most are from a general perspective or the view of Internet of Things (IoT) applications instead of focusing on mobile phones.</a:t>
            </a:r>
          </a:p>
          <a:p>
            <a:pPr marL="0" indent="0">
              <a:buNone/>
            </a:pPr>
            <a:r>
              <a:rPr lang="en-AU" dirty="0"/>
              <a:t>By 18 May 2023, searching with the combination of the keywords “RISC-V” and “mobile phone” on ACM, CNKI, and IEEE would find no result, even though you can still find many personal videos and blog articles online explicitly discussing the RISC-V mobile phone prospect. </a:t>
            </a:r>
          </a:p>
          <a:p>
            <a:pPr marL="0" indent="0">
              <a:buNone/>
            </a:pPr>
            <a:r>
              <a:rPr lang="en-AU" dirty="0"/>
              <a:t>Therefore, the main research goal is to academically relate RISC-V and mobile phones.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0A74C6-E46E-83E5-15DB-6614412D45FD}"/>
              </a:ext>
            </a:extLst>
          </p:cNvPr>
          <p:cNvSpPr txBox="1"/>
          <p:nvPr/>
        </p:nvSpPr>
        <p:spPr>
          <a:xfrm>
            <a:off x="882428" y="49496"/>
            <a:ext cx="149924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Exploring the Viability of Widespread Adoption of RISC-V Architecture in Mobile Phones: Prospects and Challenges</a:t>
            </a:r>
            <a:endParaRPr lang="en-US" sz="1600" i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2034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C3AEB-B25D-3837-FCC5-5E1449610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53" y="232796"/>
            <a:ext cx="10058400" cy="1609344"/>
          </a:xfrm>
        </p:spPr>
        <p:txBody>
          <a:bodyPr/>
          <a:lstStyle/>
          <a:p>
            <a:r>
              <a:rPr lang="en-US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9448F-0812-76E1-1061-73484F0E4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772306"/>
            <a:ext cx="10058400" cy="53902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Although the existing literature may not directly mention mobile phones, some of them still provide valuable evidence to answer the research question.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9184F0-09DE-152D-F5C8-C9EF9842A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2416" y="2606566"/>
            <a:ext cx="3355709" cy="40186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57C2DE-29C1-5E2F-1175-145DE9960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0645" y="2701719"/>
            <a:ext cx="2869217" cy="39234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BD96B45-6C01-2C89-F1F5-FF44021BB62B}"/>
              </a:ext>
            </a:extLst>
          </p:cNvPr>
          <p:cNvSpPr txBox="1"/>
          <p:nvPr/>
        </p:nvSpPr>
        <p:spPr>
          <a:xfrm>
            <a:off x="882428" y="49496"/>
            <a:ext cx="149924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Exploring the Viability of Widespread Adoption of RISC-V Architecture in Mobile Phones: Prospects and Challenges</a:t>
            </a:r>
            <a:endParaRPr lang="en-US" sz="1600" i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0721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C3AEB-B25D-3837-FCC5-5E1449610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3024" y="49496"/>
            <a:ext cx="10058400" cy="1609344"/>
          </a:xfrm>
        </p:spPr>
        <p:txBody>
          <a:bodyPr/>
          <a:lstStyle/>
          <a:p>
            <a:r>
              <a:rPr lang="en-US" dirty="0"/>
              <a:t>Target Audience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9448F-0812-76E1-1061-73484F0E4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8826" y="1339840"/>
            <a:ext cx="10274013" cy="566530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AU" dirty="0"/>
              <a:t>The outcome holds significance for researchers, investors, and engineers who wonder if RISC-V has a bright future in the mobile phone area before conducting substantial studies and investments in RISC-V development.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b="1" dirty="0"/>
              <a:t>Investors</a:t>
            </a:r>
          </a:p>
          <a:p>
            <a:pPr marL="0" indent="0">
              <a:buNone/>
            </a:pPr>
            <a:r>
              <a:rPr lang="en-AU" dirty="0"/>
              <a:t>Adopting RISC-V in mobiles requires considerable funding support, especially for developing RISC-V chips. However, investors may have limited time or domain knowledge to delve into the topic.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b="1" dirty="0"/>
              <a:t>Engineers</a:t>
            </a:r>
          </a:p>
          <a:p>
            <a:pPr marL="0" indent="0">
              <a:buNone/>
            </a:pPr>
            <a:r>
              <a:rPr lang="en-AU" dirty="0"/>
              <a:t>The research outcome can highlight the strengths and weaknesses of RISC-V in mobile phones, which may provide board guidance for engineers when making their software or hardware product to maximise the advantage of using RISC-V.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b="1" dirty="0"/>
              <a:t>Researchers</a:t>
            </a:r>
          </a:p>
          <a:p>
            <a:pPr marL="0" indent="0">
              <a:buNone/>
            </a:pPr>
            <a:r>
              <a:rPr lang="en-AU" dirty="0"/>
              <a:t>The adoption of RISC-V architecture into mobile phones requires a lot of domain-specific research, such as how to make the Android kernel support RISC-V processors. The outcome of my research gives an overall view of RISC-V on mobile phones, which is a good starting point for those who want to research deeper. 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98589B-FFEC-8F00-BE48-21F4CCA263CE}"/>
              </a:ext>
            </a:extLst>
          </p:cNvPr>
          <p:cNvSpPr txBox="1"/>
          <p:nvPr/>
        </p:nvSpPr>
        <p:spPr>
          <a:xfrm>
            <a:off x="882428" y="49496"/>
            <a:ext cx="149924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Exploring the Viability of Widespread Adoption of RISC-V Architecture in Mobile Phones: Prospects and Challenges</a:t>
            </a:r>
            <a:endParaRPr lang="en-US" sz="1600" i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0506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44F05-EAA1-73CC-A8BD-4A94FA5B7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8826" y="159645"/>
            <a:ext cx="10058400" cy="1609344"/>
          </a:xfrm>
        </p:spPr>
        <p:txBody>
          <a:bodyPr/>
          <a:lstStyle/>
          <a:p>
            <a:r>
              <a:rPr lang="en-US" dirty="0"/>
              <a:t>Thank you for listening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744943-F364-DAAD-7FD2-9A3335394B1C}"/>
              </a:ext>
            </a:extLst>
          </p:cNvPr>
          <p:cNvSpPr txBox="1"/>
          <p:nvPr/>
        </p:nvSpPr>
        <p:spPr>
          <a:xfrm>
            <a:off x="1066800" y="1558486"/>
            <a:ext cx="10058400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[1] Liu, C &amp; Wu, Y &amp; Wu, J &amp; Zhao, C 2021, ‘Survey on RISC-V System Architecture Research’, </a:t>
            </a:r>
            <a:r>
              <a:rPr lang="en-AU" sz="1000" i="1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Journal of Software</a:t>
            </a:r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, vol. 32, no. 12, pp. 3992-4042, viewed 19 May 2023,</a:t>
            </a:r>
            <a:endParaRPr lang="en-AU" sz="10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AU" sz="10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  <a:hlinkClick r:id="rId2"/>
              </a:rPr>
              <a:t>https://www.jos.org.cn/jos/article/abstract/6490</a:t>
            </a:r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&gt;.</a:t>
            </a:r>
            <a:endParaRPr lang="en-AU" sz="10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AU" sz="10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[2] Cui, E &amp; Li, T &amp; Wei, Q 2023, ‘RISC-V Instruction Set Architecture Extensions: A Survey’, </a:t>
            </a:r>
            <a:r>
              <a:rPr lang="en-AU" sz="1000" i="1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IEEE</a:t>
            </a:r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, vol. 11, pp. 24696-24711, viewed 19 May 2023, </a:t>
            </a:r>
            <a:endParaRPr lang="en-AU" sz="10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AU" sz="10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  <a:hlinkClick r:id="rId3"/>
              </a:rPr>
              <a:t>https://ieeexplore.ieee.org/document/10049118</a:t>
            </a:r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&gt;.</a:t>
            </a:r>
            <a:endParaRPr lang="en-AU" sz="10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AU" sz="10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[3] Liu, Y &amp; Ye, K &amp; Xu, C 2021, ‘Performance Evaluation of Various RISC Processor Systems: A Case Study on ARM, MIPS and RISC-V’, </a:t>
            </a:r>
            <a:r>
              <a:rPr lang="en-AU" sz="1000" i="1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Cloud Computing – CLOUD 2021: 14th International Conference</a:t>
            </a:r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AU" sz="1000" i="1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Virtual Event</a:t>
            </a:r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AU" sz="1000" i="1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10-14 December 2021</a:t>
            </a:r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, viewed 19 May 2023,</a:t>
            </a:r>
            <a:endParaRPr lang="en-AU" sz="10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AU" sz="10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  <a:hlinkClick r:id="rId4"/>
              </a:rPr>
              <a:t>https://link.springer.com/chapter/10.1007/978-3-030-96326-2_5</a:t>
            </a:r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&gt;.</a:t>
            </a:r>
            <a:endParaRPr lang="en-AU" sz="10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AU" sz="10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[4] </a:t>
            </a:r>
            <a:r>
              <a:rPr lang="en-AU" sz="10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Mezger</a:t>
            </a:r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, B &amp; Santos, D &amp; </a:t>
            </a:r>
            <a:r>
              <a:rPr lang="en-AU" sz="10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Dilillo</a:t>
            </a:r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, L &amp; </a:t>
            </a:r>
            <a:r>
              <a:rPr lang="en-AU" sz="10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Zeferino</a:t>
            </a:r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, C &amp; Melo, D 2022, ‘A Survey of the RISC-V Architecture Software Support’, </a:t>
            </a:r>
            <a:r>
              <a:rPr lang="en-AU" sz="1000" i="1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IEEE</a:t>
            </a:r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, vol. 10, pp. 51394-51411, viewed 19 May 2023,</a:t>
            </a:r>
            <a:endParaRPr lang="en-AU" sz="10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AU" sz="10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  <a:hlinkClick r:id="rId5"/>
              </a:rPr>
              <a:t>https://ieeexplore.ieee.org/document/9771410/authors#authors</a:t>
            </a:r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&gt;.</a:t>
            </a:r>
            <a:endParaRPr lang="en-AU" sz="10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AU" sz="10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[5] Ince, M &amp; </a:t>
            </a:r>
            <a:r>
              <a:rPr lang="en-AU" sz="10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Ledet</a:t>
            </a:r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, J &amp; </a:t>
            </a:r>
            <a:r>
              <a:rPr lang="en-AU" sz="10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Gunay</a:t>
            </a:r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, M 2019, ‘Building An Open Source Linux Computing System On RISC-V’, </a:t>
            </a:r>
            <a:r>
              <a:rPr lang="en-AU" sz="1000" i="1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2019 1st International Informatics and Software Engineering Conference (UBMYK), Ankara, Turkey, 6-7 November 2019</a:t>
            </a:r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, viewed 19 May 2023,</a:t>
            </a:r>
            <a:endParaRPr lang="en-AU" sz="10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AU" sz="10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  <a:hlinkClick r:id="rId6"/>
              </a:rPr>
              <a:t>https://ieeexplore.ieee.org/document/8965559</a:t>
            </a:r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&gt;.</a:t>
            </a:r>
            <a:endParaRPr lang="en-AU" sz="10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AU" sz="10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[6] </a:t>
            </a:r>
            <a:r>
              <a:rPr lang="en-AU" sz="10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Greegard</a:t>
            </a:r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, G 2020, ‘Will RISC-V revolutionize computing?’, </a:t>
            </a:r>
            <a:r>
              <a:rPr lang="en-AU" sz="1000" i="1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Communications of the ACM</a:t>
            </a:r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, vol. 63, no. 5, pp. 30-32, viewed 19 May 2023, &lt;</a:t>
            </a:r>
            <a:r>
              <a:rPr lang="en-AU" sz="10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  <a:hlinkClick r:id="rId7"/>
              </a:rPr>
              <a:t>https://dl.acm.org/doi/10.1145/3386377</a:t>
            </a:r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&gt;.</a:t>
            </a:r>
            <a:endParaRPr lang="en-AU" sz="10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AU" sz="10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[7] Li, P 2023, ‘</a:t>
            </a:r>
            <a:r>
              <a:rPr lang="zh-CN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从低功耗到高性能应用领域，</a:t>
            </a:r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RISC-V</a:t>
            </a:r>
            <a:r>
              <a:rPr lang="zh-CN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的进阶之路前景如何？</a:t>
            </a:r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’,  </a:t>
            </a:r>
            <a:r>
              <a:rPr lang="en-AU" sz="1000" i="1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China Integrated Circuit</a:t>
            </a:r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, no. 2023(01), viewed 19 May 2023, </a:t>
            </a:r>
            <a:endParaRPr lang="en-AU" sz="10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AU" sz="10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  <a:hlinkClick r:id="rId8"/>
              </a:rPr>
              <a:t>https://chn.oversea.cnki.net/KCMS/detail/detail.aspx?dbcode=CJFD&amp;dbname=CJFDAUTO&amp;filename=JCDI2023Z1004&amp;uniplatform=OVERSEA&amp;v=qJ0SijI9rjIWFJCRHW7g_nOSfVq5vIMP0xN14seEy8XmeBb1M9f7ofBTztakN2Rd</a:t>
            </a:r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&gt;</a:t>
            </a:r>
            <a:endParaRPr lang="en-AU" sz="10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AU" sz="10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[8] Zhong, D 2021, ‘Current Status and Future Opportunities of Open-source Chip Ecosystem based on RISC-V’,  </a:t>
            </a:r>
            <a:r>
              <a:rPr lang="en-AU" sz="1000" i="1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China Integrated Circuit</a:t>
            </a:r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, no. 2021(08), viewed 19 May 2023, </a:t>
            </a:r>
            <a:endParaRPr lang="en-AU" sz="10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AU" sz="10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  <a:hlinkClick r:id="rId9"/>
              </a:rPr>
              <a:t>https://chn.oversea.cnki.net/kcms/detail/detail.aspx?filename=JCDI202108006&amp;dbcode=CJFD&amp;dbname=CJFDTEMP&amp;v=</a:t>
            </a:r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&gt;</a:t>
            </a:r>
            <a:endParaRPr lang="en-AU" sz="10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AU" sz="10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[9] Lu, T 2021, ‘A Survey on RISC-V Security: Hardware and Architecture’, </a:t>
            </a:r>
            <a:r>
              <a:rPr lang="en-AU" sz="1000" i="1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arXiv</a:t>
            </a:r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, no. 2107.04175, viewed 19 May 2023, &lt;</a:t>
            </a:r>
            <a:r>
              <a:rPr lang="en-AU" sz="10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  <a:hlinkClick r:id="rId10"/>
              </a:rPr>
              <a:t>https://arxiv.org/abs/2107.04175</a:t>
            </a:r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&gt;</a:t>
            </a:r>
            <a:endParaRPr lang="en-AU" sz="10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AU" sz="10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[10] Chen, C &amp; Xiang, X &amp; Liu, C &amp; Shang, Y &amp; Guo, R &amp; Liu, D &amp; LU, Y &amp; Hao, Z &amp; Luo, J &amp; Chen, Z &amp; Li, C &amp; Pu, Y &amp; Meng, J &amp; Yan, X &amp; </a:t>
            </a:r>
            <a:r>
              <a:rPr lang="en-AU" sz="10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Xie</a:t>
            </a:r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, Y &amp; Qi, X 2020, ‘Xuantie-910: A Commercial Multi-Core 12-Stage Pipeline Out-of-Order 64-bit High Performance RISC-V Processor with Vector Extension : Industrial Product’, </a:t>
            </a:r>
            <a:r>
              <a:rPr lang="en-AU" sz="1000" i="1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2020 ACM/IEEE 47th Annual International Symposium on Computer Architecture (ISCA), Valencia, Spain, 30 May – 3 June 2020</a:t>
            </a:r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, viewed 20 May 2023, &lt;</a:t>
            </a:r>
            <a:r>
              <a:rPr lang="en-AU" sz="10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  <a:hlinkClick r:id="rId11"/>
              </a:rPr>
              <a:t>https://ieeexplore.ieee.org/document/9138983/authors#authors</a:t>
            </a:r>
            <a:r>
              <a:rPr lang="en-AU" sz="10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&gt;.</a:t>
            </a:r>
            <a:endParaRPr lang="en-AU" sz="10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4BD623-1169-F5E9-198E-C1BF82B0F697}"/>
              </a:ext>
            </a:extLst>
          </p:cNvPr>
          <p:cNvSpPr txBox="1"/>
          <p:nvPr/>
        </p:nvSpPr>
        <p:spPr>
          <a:xfrm>
            <a:off x="882428" y="49496"/>
            <a:ext cx="149924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Exploring the Viability of Widespread Adoption of RISC-V Architecture in Mobile Phones: Prospects and Challenges</a:t>
            </a:r>
            <a:endParaRPr lang="en-US" sz="1600" i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10741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{33E8D41D-F490-6641-8213-4B18F0D4E8D6}tf10001070_mac</Template>
  <TotalTime>450</TotalTime>
  <Words>1513</Words>
  <Application>Microsoft Macintosh PowerPoint</Application>
  <PresentationFormat>Widescreen</PresentationFormat>
  <Paragraphs>111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Calibri</vt:lpstr>
      <vt:lpstr>Rockwell</vt:lpstr>
      <vt:lpstr>Rockwell Condensed</vt:lpstr>
      <vt:lpstr>Rockwell Extra Bold</vt:lpstr>
      <vt:lpstr>Times New Roman</vt:lpstr>
      <vt:lpstr>Wingdings</vt:lpstr>
      <vt:lpstr>Wood Type</vt:lpstr>
      <vt:lpstr>PowerPoint Presentation</vt:lpstr>
      <vt:lpstr>RISC-V and ISA</vt:lpstr>
      <vt:lpstr>RISC-V Properties</vt:lpstr>
      <vt:lpstr>RISC-V Properties</vt:lpstr>
      <vt:lpstr>Research Methodologies</vt:lpstr>
      <vt:lpstr>Research Methodologies</vt:lpstr>
      <vt:lpstr>Literature Review</vt:lpstr>
      <vt:lpstr>Literature Review</vt:lpstr>
      <vt:lpstr>Target Audience</vt:lpstr>
      <vt:lpstr>Thank you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Haoting Chen</dc:creator>
  <cp:lastModifiedBy>Haoting Chen</cp:lastModifiedBy>
  <cp:revision>18</cp:revision>
  <dcterms:created xsi:type="dcterms:W3CDTF">2023-05-11T21:55:54Z</dcterms:created>
  <dcterms:modified xsi:type="dcterms:W3CDTF">2023-05-25T23:51:00Z</dcterms:modified>
</cp:coreProperties>
</file>