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Default Extension="fntdata" ContentType="application/x-fontdata"/>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1.xml.rels" ContentType="application/vnd.openxmlformats-package.relationships+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slideLayouts/_rels/slideLayout1.xml.rels" ContentType="application/vnd.openxmlformats-package.relationships+xml"/>
  <Override PartName="/ppt/slideLayouts/slideLayout1.xml" ContentType="application/vnd.openxmlformats-officedocument.presentationml.slideLayout+xml"/>
  <Override PartName="/ppt/_rels/presentation.xml.rels" ContentType="application/vnd.openxmlformats-package.relationships+xml"/>
  <Override PartName="/ppt/notesMasters/_rels/notesMaster1.xml.rels" ContentType="application/vnd.openxmlformats-package.relationships+xml"/>
  <Override PartName="/ppt/notesMasters/notesMaster1.xml" ContentType="application/vnd.openxmlformats-officedocument.presentationml.notesMaster+xml"/>
  <Override PartName="/ppt/presProps.xml" ContentType="application/vnd.openxmlformats-officedocument.presentationml.presProps+xml"/>
  <Override PartName="/ppt/media/image12.png" ContentType="image/png"/>
  <Override PartName="/ppt/media/image13.png" ContentType="image/png"/>
  <Override PartName="/ppt/media/image10.gif" ContentType="image/gif"/>
  <Override PartName="/ppt/media/image18.gif" ContentType="image/gif"/>
  <Override PartName="/ppt/media/image17.png" ContentType="image/png"/>
  <Override PartName="/ppt/media/image15.png" ContentType="image/png"/>
  <Override PartName="/ppt/media/image9.png" ContentType="image/png"/>
  <Override PartName="/ppt/media/image1.png" ContentType="image/png"/>
  <Override PartName="/ppt/media/image8.gif" ContentType="image/gif"/>
  <Override PartName="/ppt/media/image4.png" ContentType="image/png"/>
  <Override PartName="/ppt/media/image14.png" ContentType="image/png"/>
  <Override PartName="/ppt/media/image16.png" ContentType="image/png"/>
  <Override PartName="/ppt/media/image3.gif" ContentType="image/gif"/>
  <Override PartName="/ppt/media/image7.png" ContentType="image/png"/>
  <Override PartName="/ppt/media/image2.png" ContentType="image/png"/>
  <Override PartName="/ppt/media/image6.gif" ContentType="image/gif"/>
  <Override PartName="/ppt/media/image11.png" ContentType="image/png"/>
  <Override PartName="/ppt/media/image5.png" ContentType="image/png"/>
  <Override PartName="/ppt/slides/slide29.xml" ContentType="application/vnd.openxmlformats-officedocument.presentationml.slide+xml"/>
  <Override PartName="/ppt/slides/slide27.xml" ContentType="application/vnd.openxmlformats-officedocument.presentationml.slide+xml"/>
  <Override PartName="/ppt/slides/slide26.xml" ContentType="application/vnd.openxmlformats-officedocument.presentationml.slide+xml"/>
  <Override PartName="/ppt/slides/slide5.xml" ContentType="application/vnd.openxmlformats-officedocument.presentationml.slide+xml"/>
  <Override PartName="/ppt/slides/slide19.xml" ContentType="application/vnd.openxmlformats-officedocument.presentationml.slide+xml"/>
  <Override PartName="/ppt/slides/slide22.xml" ContentType="application/vnd.openxmlformats-officedocument.presentationml.slide+xml"/>
  <Override PartName="/ppt/slides/slide25.xml" ContentType="application/vnd.openxmlformats-officedocument.presentationml.slide+xml"/>
  <Override PartName="/ppt/slides/slide21.xml" ContentType="application/vnd.openxmlformats-officedocument.presentationml.slide+xml"/>
  <Override PartName="/ppt/slides/slide28.xml" ContentType="application/vnd.openxmlformats-officedocument.presentationml.slide+xml"/>
  <Override PartName="/ppt/slides/slide12.xml" ContentType="application/vnd.openxmlformats-officedocument.presentationml.slide+xml"/>
  <Override PartName="/ppt/slides/slide30.xml" ContentType="application/vnd.openxmlformats-officedocument.presentationml.slide+xml"/>
  <Override PartName="/ppt/slides/slide11.xml" ContentType="application/vnd.openxmlformats-officedocument.presentationml.slide+xml"/>
  <Override PartName="/ppt/slides/slide13.xml" ContentType="application/vnd.openxmlformats-officedocument.presentationml.slide+xml"/>
  <Override PartName="/ppt/slides/slide4.xml" ContentType="application/vnd.openxmlformats-officedocument.presentationml.slide+xml"/>
  <Override PartName="/ppt/slides/slide9.xml" ContentType="application/vnd.openxmlformats-officedocument.presentationml.slide+xml"/>
  <Override PartName="/ppt/slides/_rels/slide14.xml.rels" ContentType="application/vnd.openxmlformats-package.relationships+xml"/>
  <Override PartName="/ppt/slides/_rels/slide6.xml.rels" ContentType="application/vnd.openxmlformats-package.relationships+xml"/>
  <Override PartName="/ppt/slides/_rels/slide15.xml.rels" ContentType="application/vnd.openxmlformats-package.relationships+xml"/>
  <Override PartName="/ppt/slides/_rels/slide33.xml.rels" ContentType="application/vnd.openxmlformats-package.relationships+xml"/>
  <Override PartName="/ppt/slides/_rels/slide21.xml.rels" ContentType="application/vnd.openxmlformats-package.relationships+xml"/>
  <Override PartName="/ppt/slides/_rels/slide9.xml.rels" ContentType="application/vnd.openxmlformats-package.relationships+xml"/>
  <Override PartName="/ppt/slides/_rels/slide5.xml.rels" ContentType="application/vnd.openxmlformats-package.relationships+xml"/>
  <Override PartName="/ppt/slides/_rels/slide26.xml.rels" ContentType="application/vnd.openxmlformats-package.relationships+xml"/>
  <Override PartName="/ppt/slides/_rels/slide23.xml.rels" ContentType="application/vnd.openxmlformats-package.relationships+xml"/>
  <Override PartName="/ppt/slides/_rels/slide30.xml.rels" ContentType="application/vnd.openxmlformats-package.relationships+xml"/>
  <Override PartName="/ppt/slides/_rels/slide19.xml.rels" ContentType="application/vnd.openxmlformats-package.relationships+xml"/>
  <Override PartName="/ppt/slides/_rels/slide32.xml.rels" ContentType="application/vnd.openxmlformats-package.relationships+xml"/>
  <Override PartName="/ppt/slides/_rels/slide12.xml.rels" ContentType="application/vnd.openxmlformats-package.relationships+xml"/>
  <Override PartName="/ppt/slides/_rels/slide24.xml.rels" ContentType="application/vnd.openxmlformats-package.relationships+xml"/>
  <Override PartName="/ppt/slides/_rels/slide27.xml.rels" ContentType="application/vnd.openxmlformats-package.relationships+xml"/>
  <Override PartName="/ppt/slides/_rels/slide10.xml.rels" ContentType="application/vnd.openxmlformats-package.relationships+xml"/>
  <Override PartName="/ppt/slides/_rels/slide2.xml.rels" ContentType="application/vnd.openxmlformats-package.relationships+xml"/>
  <Override PartName="/ppt/slides/_rels/slide22.xml.rels" ContentType="application/vnd.openxmlformats-package.relationships+xml"/>
  <Override PartName="/ppt/slides/_rels/slide28.xml.rels" ContentType="application/vnd.openxmlformats-package.relationships+xml"/>
  <Override PartName="/ppt/slides/_rels/slide16.xml.rels" ContentType="application/vnd.openxmlformats-package.relationships+xml"/>
  <Override PartName="/ppt/slides/_rels/slide11.xml.rels" ContentType="application/vnd.openxmlformats-package.relationships+xml"/>
  <Override PartName="/ppt/slides/_rels/slide29.xml.rels" ContentType="application/vnd.openxmlformats-package.relationships+xml"/>
  <Override PartName="/ppt/slides/_rels/slide4.xml.rels" ContentType="application/vnd.openxmlformats-package.relationships+xml"/>
  <Override PartName="/ppt/slides/_rels/slide18.xml.rels" ContentType="application/vnd.openxmlformats-package.relationships+xml"/>
  <Override PartName="/ppt/slides/_rels/slide1.xml.rels" ContentType="application/vnd.openxmlformats-package.relationships+xml"/>
  <Override PartName="/ppt/slides/_rels/slide20.xml.rels" ContentType="application/vnd.openxmlformats-package.relationships+xml"/>
  <Override PartName="/ppt/slides/_rels/slide3.xml.rels" ContentType="application/vnd.openxmlformats-package.relationships+xml"/>
  <Override PartName="/ppt/slides/_rels/slide17.xml.rels" ContentType="application/vnd.openxmlformats-package.relationships+xml"/>
  <Override PartName="/ppt/slides/_rels/slide8.xml.rels" ContentType="application/vnd.openxmlformats-package.relationships+xml"/>
  <Override PartName="/ppt/slides/_rels/slide13.xml.rels" ContentType="application/vnd.openxmlformats-package.relationships+xml"/>
  <Override PartName="/ppt/slides/_rels/slide25.xml.rels" ContentType="application/vnd.openxmlformats-package.relationships+xml"/>
  <Override PartName="/ppt/slides/_rels/slide31.xml.rels" ContentType="application/vnd.openxmlformats-package.relationships+xml"/>
  <Override PartName="/ppt/slides/_rels/slide7.xml.rels" ContentType="application/vnd.openxmlformats-package.relationships+xml"/>
  <Override PartName="/ppt/slides/slide31.xml" ContentType="application/vnd.openxmlformats-officedocument.presentationml.slide+xml"/>
  <Override PartName="/ppt/slides/slide24.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1.xml" ContentType="application/vnd.openxmlformats-officedocument.presentationml.slide+xml"/>
  <Override PartName="/ppt/slides/slide18.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17.xml" ContentType="application/vnd.openxmlformats-officedocument.presentationml.slide+xml"/>
  <Override PartName="/ppt/slides/slide10.xml" ContentType="application/vnd.openxmlformats-officedocument.presentationml.slide+xml"/>
  <Override PartName="/ppt/slides/slide23.xml" ContentType="application/vnd.openxmlformats-officedocument.presentationml.slide+xml"/>
  <Override PartName="/ppt/slides/slide2.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16.xml" ContentType="application/vnd.openxmlformats-officedocument.presentationml.slide+xml"/>
  <Override PartName="/ppt/slides/slide15.xml" ContentType="application/vnd.openxmlformats-officedocument.presentationml.slide+xml"/>
  <Override PartName="/ppt/slides/slide6.xml" ContentType="application/vnd.openxmlformats-officedocument.presentationml.slide+xml"/>
  <Override PartName="/ppt/slides/slide14.xml" ContentType="application/vnd.openxmlformats-officedocument.presentationml.slide+xml"/>
  <Override PartName="/ppt/notesSlides/notesSlide6.xml" ContentType="application/vnd.openxmlformats-officedocument.presentationml.notesSlide+xml"/>
  <Override PartName="/ppt/notesSlides/notesSlide20.xml" ContentType="application/vnd.openxmlformats-officedocument.presentationml.notesSlide+xml"/>
  <Override PartName="/ppt/notesSlides/notesSlide8.xml" ContentType="application/vnd.openxmlformats-officedocument.presentationml.notesSlide+xml"/>
  <Override PartName="/ppt/notesSlides/notesSlide13.xml" ContentType="application/vnd.openxmlformats-officedocument.presentationml.notesSlide+xml"/>
  <Override PartName="/ppt/notesSlides/notesSlide32.xml" ContentType="application/vnd.openxmlformats-officedocument.presentationml.notesSlide+xml"/>
  <Override PartName="/ppt/notesSlides/notesSlide10.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_rels/notesSlide19.xml.rels" ContentType="application/vnd.openxmlformats-package.relationships+xml"/>
  <Override PartName="/ppt/notesSlides/_rels/notesSlide15.xml.rels" ContentType="application/vnd.openxmlformats-package.relationships+xml"/>
  <Override PartName="/ppt/notesSlides/_rels/notesSlide8.xml.rels" ContentType="application/vnd.openxmlformats-package.relationships+xml"/>
  <Override PartName="/ppt/notesSlides/_rels/notesSlide14.xml.rels" ContentType="application/vnd.openxmlformats-package.relationships+xml"/>
  <Override PartName="/ppt/notesSlides/_rels/notesSlide13.xml.rels" ContentType="application/vnd.openxmlformats-package.relationships+xml"/>
  <Override PartName="/ppt/notesSlides/_rels/notesSlide6.xml.rels" ContentType="application/vnd.openxmlformats-package.relationships+xml"/>
  <Override PartName="/ppt/notesSlides/_rels/notesSlide10.xml.rels" ContentType="application/vnd.openxmlformats-package.relationships+xml"/>
  <Override PartName="/ppt/notesSlides/_rels/notesSlide32.xml.rels" ContentType="application/vnd.openxmlformats-package.relationships+xml"/>
  <Override PartName="/ppt/notesSlides/_rels/notesSlide16.xml.rels" ContentType="application/vnd.openxmlformats-package.relationships+xml"/>
  <Override PartName="/ppt/notesSlides/_rels/notesSlide20.xml.rels" ContentType="application/vnd.openxmlformats-package.relationships+xml"/>
  <Override PartName="/ppt/notesSlides/notesSlide16.xml" ContentType="application/vnd.openxmlformats-officedocument.presentationml.notesSlide+xml"/>
  <Override PartName="/ppt/notesSlides/notesSlide19.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Lst>
  <p:sldSz cx="10080625" cy="5670550"/>
  <p:notesSz cx="7559675" cy="10691813"/>
  <p:custShowLst>
    <p:custShow name="New Custom Slide Show" id="0">
      <p:sldLst>
        <p:sld r:id="rId11"/>
      </p:sldLst>
    </p:custShow>
  </p:custShowLst>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slide" Target="slides/slide25.xml"/><Relationship Id="rId29" Type="http://schemas.openxmlformats.org/officeDocument/2006/relationships/slide" Target="slides/slide26.xml"/><Relationship Id="rId30" Type="http://schemas.openxmlformats.org/officeDocument/2006/relationships/slide" Target="slides/slide27.xml"/><Relationship Id="rId31" Type="http://schemas.openxmlformats.org/officeDocument/2006/relationships/slide" Target="slides/slide28.xml"/><Relationship Id="rId32" Type="http://schemas.openxmlformats.org/officeDocument/2006/relationships/slide" Target="slides/slide29.xml"/><Relationship Id="rId33" Type="http://schemas.openxmlformats.org/officeDocument/2006/relationships/slide" Target="slides/slide30.xml"/><Relationship Id="rId34" Type="http://schemas.openxmlformats.org/officeDocument/2006/relationships/slide" Target="slides/slide31.xml"/><Relationship Id="rId35" Type="http://schemas.openxmlformats.org/officeDocument/2006/relationships/slide" Target="slides/slide32.xml"/><Relationship Id="rId36" Type="http://schemas.openxmlformats.org/officeDocument/2006/relationships/slide" Target="slides/slide33.xml"/><Relationship Id="rId37"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 name="PlaceHolder 1"/>
          <p:cNvSpPr>
            <a:spLocks noGrp="1"/>
          </p:cNvSpPr>
          <p:nvPr>
            <p:ph type="sldImg"/>
          </p:nvPr>
        </p:nvSpPr>
        <p:spPr>
          <a:xfrm>
            <a:off x="216000" y="812520"/>
            <a:ext cx="7127280" cy="4008960"/>
          </a:xfrm>
          <a:prstGeom prst="rect">
            <a:avLst/>
          </a:prstGeom>
          <a:noFill/>
          <a:ln w="0">
            <a:noFill/>
          </a:ln>
        </p:spPr>
        <p:txBody>
          <a:bodyPr lIns="0" rIns="0" tIns="0" bIns="0" anchor="ctr">
            <a:noAutofit/>
          </a:bodyPr>
          <a:p>
            <a:pPr algn="ctr"/>
            <a:r>
              <a:rPr b="0" lang="en-AU" sz="4400" strike="noStrike" u="none">
                <a:solidFill>
                  <a:srgbClr val="000000"/>
                </a:solidFill>
                <a:effectLst/>
                <a:uFillTx/>
                <a:latin typeface="Arial"/>
              </a:rPr>
              <a:t>Click to move the slide</a:t>
            </a:r>
            <a:endParaRPr b="0" lang="en-AU" sz="4400" strike="noStrike" u="none">
              <a:solidFill>
                <a:srgbClr val="000000"/>
              </a:solidFill>
              <a:effectLst/>
              <a:uFillTx/>
              <a:latin typeface="Arial"/>
            </a:endParaRPr>
          </a:p>
        </p:txBody>
      </p:sp>
      <p:sp>
        <p:nvSpPr>
          <p:cNvPr id="10"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indent="0">
              <a:buNone/>
            </a:pPr>
            <a:r>
              <a:rPr b="0" lang="en-AU" sz="2000" strike="noStrike" u="none">
                <a:solidFill>
                  <a:srgbClr val="000000"/>
                </a:solidFill>
                <a:effectLst/>
                <a:uFillTx/>
                <a:latin typeface="Arial"/>
              </a:rPr>
              <a:t>Click to edit the notes format</a:t>
            </a:r>
            <a:endParaRPr b="0" lang="en-AU" sz="2000" strike="noStrike" u="none">
              <a:solidFill>
                <a:srgbClr val="000000"/>
              </a:solidFill>
              <a:effectLst/>
              <a:uFillTx/>
              <a:latin typeface="Arial"/>
            </a:endParaRPr>
          </a:p>
        </p:txBody>
      </p:sp>
      <p:sp>
        <p:nvSpPr>
          <p:cNvPr id="11" name="PlaceHolder 3"/>
          <p:cNvSpPr>
            <a:spLocks noGrp="1"/>
          </p:cNvSpPr>
          <p:nvPr>
            <p:ph type="hdr"/>
          </p:nvPr>
        </p:nvSpPr>
        <p:spPr>
          <a:xfrm>
            <a:off x="0" y="0"/>
            <a:ext cx="3280680" cy="534240"/>
          </a:xfrm>
          <a:prstGeom prst="rect">
            <a:avLst/>
          </a:prstGeom>
          <a:noFill/>
          <a:ln w="0">
            <a:noFill/>
          </a:ln>
        </p:spPr>
        <p:txBody>
          <a:bodyPr lIns="0" rIns="0" tIns="0" bIns="0" anchor="t">
            <a:noAutofit/>
          </a:bodyPr>
          <a:p>
            <a:pPr indent="0">
              <a:buNone/>
            </a:pPr>
            <a:r>
              <a:rPr b="0" lang="en-AU" sz="1400" strike="noStrike" u="none">
                <a:solidFill>
                  <a:srgbClr val="000000"/>
                </a:solidFill>
                <a:effectLst/>
                <a:uFillTx/>
                <a:latin typeface="Times New Roman"/>
              </a:rPr>
              <a:t> </a:t>
            </a:r>
            <a:endParaRPr b="0" lang="en-AU" sz="1400" strike="noStrike" u="none">
              <a:solidFill>
                <a:srgbClr val="000000"/>
              </a:solidFill>
              <a:effectLst/>
              <a:uFillTx/>
              <a:latin typeface="Times New Roman"/>
            </a:endParaRPr>
          </a:p>
        </p:txBody>
      </p:sp>
      <p:sp>
        <p:nvSpPr>
          <p:cNvPr id="12" name="PlaceHolder 4"/>
          <p:cNvSpPr>
            <a:spLocks noGrp="1"/>
          </p:cNvSpPr>
          <p:nvPr>
            <p:ph type="dt" idx="4"/>
          </p:nvPr>
        </p:nvSpPr>
        <p:spPr>
          <a:xfrm>
            <a:off x="4278960" y="0"/>
            <a:ext cx="3280680" cy="534240"/>
          </a:xfrm>
          <a:prstGeom prst="rect">
            <a:avLst/>
          </a:prstGeom>
          <a:noFill/>
          <a:ln w="0">
            <a:noFill/>
          </a:ln>
        </p:spPr>
        <p:txBody>
          <a:bodyPr lIns="0" rIns="0" tIns="0" bIns="0" anchor="t">
            <a:noAutofit/>
          </a:bodyPr>
          <a:lstStyle>
            <a:lvl1pPr indent="0" algn="r">
              <a:buNone/>
              <a:defRPr b="0" lang="en-AU" sz="1400" strike="noStrike" u="none">
                <a:solidFill>
                  <a:srgbClr val="000000"/>
                </a:solidFill>
                <a:effectLst/>
                <a:uFillTx/>
                <a:latin typeface="Times New Roman"/>
              </a:defRPr>
            </a:lvl1pPr>
          </a:lstStyle>
          <a:p>
            <a:pPr indent="0" algn="r">
              <a:buNone/>
            </a:pPr>
            <a:r>
              <a:rPr b="0" lang="en-AU" sz="1400" strike="noStrike" u="none">
                <a:solidFill>
                  <a:srgbClr val="000000"/>
                </a:solidFill>
                <a:effectLst/>
                <a:uFillTx/>
                <a:latin typeface="Times New Roman"/>
              </a:rPr>
              <a:t> </a:t>
            </a:r>
            <a:endParaRPr b="0" lang="en-AU" sz="1400" strike="noStrike" u="none">
              <a:solidFill>
                <a:srgbClr val="000000"/>
              </a:solidFill>
              <a:effectLst/>
              <a:uFillTx/>
              <a:latin typeface="Times New Roman"/>
            </a:endParaRPr>
          </a:p>
        </p:txBody>
      </p:sp>
      <p:sp>
        <p:nvSpPr>
          <p:cNvPr id="13" name="PlaceHolder 5"/>
          <p:cNvSpPr>
            <a:spLocks noGrp="1"/>
          </p:cNvSpPr>
          <p:nvPr>
            <p:ph type="ftr" idx="5"/>
          </p:nvPr>
        </p:nvSpPr>
        <p:spPr>
          <a:xfrm>
            <a:off x="0" y="10157400"/>
            <a:ext cx="3280680" cy="534240"/>
          </a:xfrm>
          <a:prstGeom prst="rect">
            <a:avLst/>
          </a:prstGeom>
          <a:noFill/>
          <a:ln w="0">
            <a:noFill/>
          </a:ln>
        </p:spPr>
        <p:txBody>
          <a:bodyPr lIns="0" rIns="0" tIns="0" bIns="0" anchor="b">
            <a:noAutofit/>
          </a:bodyPr>
          <a:lstStyle>
            <a:lvl1pPr indent="0">
              <a:buNone/>
              <a:defRPr b="0" lang="en-AU" sz="1400" strike="noStrike" u="none">
                <a:solidFill>
                  <a:srgbClr val="000000"/>
                </a:solidFill>
                <a:effectLst/>
                <a:uFillTx/>
                <a:latin typeface="Times New Roman"/>
              </a:defRPr>
            </a:lvl1pPr>
          </a:lstStyle>
          <a:p>
            <a:pPr indent="0">
              <a:buNone/>
            </a:pPr>
            <a:r>
              <a:rPr b="0" lang="en-AU" sz="1400" strike="noStrike" u="none">
                <a:solidFill>
                  <a:srgbClr val="000000"/>
                </a:solidFill>
                <a:effectLst/>
                <a:uFillTx/>
                <a:latin typeface="Times New Roman"/>
              </a:rPr>
              <a:t> </a:t>
            </a:r>
            <a:endParaRPr b="0" lang="en-AU" sz="1400" strike="noStrike" u="none">
              <a:solidFill>
                <a:srgbClr val="000000"/>
              </a:solidFill>
              <a:effectLst/>
              <a:uFillTx/>
              <a:latin typeface="Times New Roman"/>
            </a:endParaRPr>
          </a:p>
        </p:txBody>
      </p:sp>
      <p:sp>
        <p:nvSpPr>
          <p:cNvPr id="14" name="PlaceHolder 6"/>
          <p:cNvSpPr>
            <a:spLocks noGrp="1"/>
          </p:cNvSpPr>
          <p:nvPr>
            <p:ph type="sldNum" idx="6"/>
          </p:nvPr>
        </p:nvSpPr>
        <p:spPr>
          <a:xfrm>
            <a:off x="4278960" y="10157400"/>
            <a:ext cx="3280680" cy="534240"/>
          </a:xfrm>
          <a:prstGeom prst="rect">
            <a:avLst/>
          </a:prstGeom>
          <a:noFill/>
          <a:ln w="0">
            <a:noFill/>
          </a:ln>
        </p:spPr>
        <p:txBody>
          <a:bodyPr lIns="0" rIns="0" tIns="0" bIns="0" anchor="b">
            <a:noAutofit/>
          </a:bodyPr>
          <a:lstStyle>
            <a:lvl1pPr indent="0" algn="r">
              <a:buNone/>
              <a:defRPr b="0" lang="en-AU" sz="1400" strike="noStrike" u="none">
                <a:solidFill>
                  <a:srgbClr val="000000"/>
                </a:solidFill>
                <a:effectLst/>
                <a:uFillTx/>
                <a:latin typeface="Times New Roman"/>
              </a:defRPr>
            </a:lvl1pPr>
          </a:lstStyle>
          <a:p>
            <a:pPr indent="0" algn="r">
              <a:buNone/>
            </a:pPr>
            <a:fld id="{D21FB214-B102-42BF-A730-D7AF7ADD649F}" type="slidenum">
              <a:rPr b="0" lang="en-AU" sz="1400" strike="noStrike" u="none">
                <a:solidFill>
                  <a:srgbClr val="000000"/>
                </a:solidFill>
                <a:effectLst/>
                <a:uFillTx/>
                <a:latin typeface="Times New Roman"/>
              </a:rPr>
              <a:t>1</a:t>
            </a:fld>
            <a:endParaRPr b="0" lang="en-AU" sz="1400" strike="noStrike" u="non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19.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
</Relationships>
</file>

<file path=ppt/notesSlides/_rels/notesSlide20.xml.rels><?xml version="1.0" encoding="UTF-8"?>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
</Relationships>
</file>

<file path=ppt/notesSlides/_rels/notesSlide32.xml.rels><?xml version="1.0" encoding="UTF-8"?>
<Relationships xmlns="http://schemas.openxmlformats.org/package/2006/relationships"><Relationship Id="rId1" Type="http://schemas.openxmlformats.org/officeDocument/2006/relationships/slide" Target="../slides/slide32.xml"/><Relationship Id="rId2" Type="http://schemas.openxmlformats.org/officeDocument/2006/relationships/notesMaster" Target="../notesMasters/notesMaster1.xml"/>
</Relationship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9" name="PlaceHolder 1"/>
          <p:cNvSpPr>
            <a:spLocks noGrp="1"/>
          </p:cNvSpPr>
          <p:nvPr>
            <p:ph type="sldImg"/>
          </p:nvPr>
        </p:nvSpPr>
        <p:spPr>
          <a:xfrm>
            <a:off x="216000" y="812520"/>
            <a:ext cx="7124760" cy="4006440"/>
          </a:xfrm>
          <a:prstGeom prst="rect">
            <a:avLst/>
          </a:prstGeom>
          <a:ln w="0">
            <a:noFill/>
          </a:ln>
        </p:spPr>
      </p:sp>
      <p:sp>
        <p:nvSpPr>
          <p:cNvPr id="130" name="PlaceHolder 2"/>
          <p:cNvSpPr>
            <a:spLocks noGrp="1"/>
          </p:cNvSpPr>
          <p:nvPr>
            <p:ph type="body"/>
          </p:nvPr>
        </p:nvSpPr>
        <p:spPr>
          <a:xfrm>
            <a:off x="756000" y="5078520"/>
            <a:ext cx="6045120" cy="4808520"/>
          </a:xfrm>
          <a:prstGeom prst="rect">
            <a:avLst/>
          </a:prstGeom>
          <a:noFill/>
          <a:ln w="0">
            <a:noFill/>
          </a:ln>
        </p:spPr>
        <p:txBody>
          <a:bodyPr lIns="0" rIns="0" tIns="0" bIns="0" anchor="t">
            <a:noAutofit/>
          </a:bodyPr>
          <a:p>
            <a:pPr indent="0">
              <a:lnSpc>
                <a:spcPct val="100000"/>
              </a:lnSpc>
              <a:buNone/>
              <a:tabLst>
                <a:tab algn="l" pos="0"/>
              </a:tabLst>
            </a:pPr>
            <a:r>
              <a:rPr b="0" lang="en-US" sz="2000" strike="noStrike" u="none">
                <a:solidFill>
                  <a:srgbClr val="000000"/>
                </a:solidFill>
                <a:effectLst/>
                <a:uFillTx/>
                <a:latin typeface="Arial"/>
              </a:rPr>
              <a:t>Why should we bother KC? Imagine you are a teacher. You usually care about how well you have mastered the knowledge that the question tries to test. Not the question itself.</a:t>
            </a:r>
            <a:endParaRPr b="0" lang="en-AU" sz="2000" strike="noStrike" u="none">
              <a:solidFill>
                <a:srgbClr val="000000"/>
              </a:solidFill>
              <a:effectLst/>
              <a:uFillTx/>
              <a:latin typeface="Arial"/>
            </a:endParaRPr>
          </a:p>
          <a:p>
            <a:pPr indent="0">
              <a:lnSpc>
                <a:spcPct val="100000"/>
              </a:lnSpc>
              <a:buNone/>
              <a:tabLst>
                <a:tab algn="l" pos="0"/>
              </a:tabLst>
            </a:pPr>
            <a:endParaRPr b="0" lang="en-AU" sz="2000" strike="noStrike" u="none">
              <a:solidFill>
                <a:srgbClr val="000000"/>
              </a:solidFill>
              <a:effectLst/>
              <a:uFillTx/>
              <a:latin typeface="Arial"/>
            </a:endParaRPr>
          </a:p>
          <a:p>
            <a:pPr indent="0">
              <a:lnSpc>
                <a:spcPct val="100000"/>
              </a:lnSpc>
              <a:buNone/>
              <a:tabLst>
                <a:tab algn="l" pos="0"/>
              </a:tabLst>
            </a:pPr>
            <a:r>
              <a:rPr b="0" lang="en-US" sz="2000" strike="noStrike" u="none">
                <a:solidFill>
                  <a:srgbClr val="000000"/>
                </a:solidFill>
                <a:effectLst/>
                <a:uFillTx/>
                <a:latin typeface="Arial"/>
              </a:rPr>
              <a:t>Back to the previous slide. If KCs are provided in the dataset, that is ideal. However, it is usually the job of the model to figure what are the KCs hidden in the question. </a:t>
            </a:r>
            <a:endParaRPr b="0" lang="en-AU" sz="2000" strike="noStrike" u="none">
              <a:solidFill>
                <a:srgbClr val="000000"/>
              </a:solidFill>
              <a:effectLst/>
              <a:uFillTx/>
              <a:latin typeface="Arial"/>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1" name="PlaceHolder 1"/>
          <p:cNvSpPr>
            <a:spLocks noGrp="1"/>
          </p:cNvSpPr>
          <p:nvPr>
            <p:ph type="sldImg"/>
          </p:nvPr>
        </p:nvSpPr>
        <p:spPr>
          <a:xfrm>
            <a:off x="216000" y="812520"/>
            <a:ext cx="7124760" cy="4006440"/>
          </a:xfrm>
          <a:prstGeom prst="rect">
            <a:avLst/>
          </a:prstGeom>
          <a:ln w="0">
            <a:noFill/>
          </a:ln>
        </p:spPr>
      </p:sp>
      <p:sp>
        <p:nvSpPr>
          <p:cNvPr id="132" name="PlaceHolder 2"/>
          <p:cNvSpPr>
            <a:spLocks noGrp="1"/>
          </p:cNvSpPr>
          <p:nvPr>
            <p:ph type="body"/>
          </p:nvPr>
        </p:nvSpPr>
        <p:spPr>
          <a:xfrm>
            <a:off x="756000" y="5078520"/>
            <a:ext cx="6045120" cy="4808520"/>
          </a:xfrm>
          <a:prstGeom prst="rect">
            <a:avLst/>
          </a:prstGeom>
          <a:noFill/>
          <a:ln w="0">
            <a:noFill/>
          </a:ln>
        </p:spPr>
        <p:txBody>
          <a:bodyPr lIns="0" rIns="0" tIns="0" bIns="0" anchor="t">
            <a:noAutofit/>
          </a:bodyPr>
          <a:p>
            <a:pPr indent="0">
              <a:lnSpc>
                <a:spcPct val="100000"/>
              </a:lnSpc>
              <a:buNone/>
              <a:tabLst>
                <a:tab algn="l" pos="0"/>
              </a:tabLst>
            </a:pPr>
            <a:r>
              <a:rPr b="0" lang="en-US" sz="2000" strike="noStrike" u="none">
                <a:solidFill>
                  <a:srgbClr val="000000"/>
                </a:solidFill>
                <a:effectLst/>
                <a:uFillTx/>
                <a:latin typeface="Arial"/>
              </a:rPr>
              <a:t>Up-de-ra-ha-men</a:t>
            </a:r>
            <a:endParaRPr b="0" lang="en-AU" sz="2000" strike="noStrike" u="none">
              <a:solidFill>
                <a:srgbClr val="000000"/>
              </a:solidFill>
              <a:effectLst/>
              <a:uFillTx/>
              <a:latin typeface="Arial"/>
            </a:endParaRPr>
          </a:p>
          <a:p>
            <a:pPr indent="0">
              <a:lnSpc>
                <a:spcPct val="100000"/>
              </a:lnSpc>
              <a:buNone/>
              <a:tabLst>
                <a:tab algn="l" pos="0"/>
              </a:tabLst>
            </a:pPr>
            <a:endParaRPr b="0" lang="en-AU" sz="2000" strike="noStrike" u="none">
              <a:solidFill>
                <a:srgbClr val="000000"/>
              </a:solidFill>
              <a:effectLst/>
              <a:uFillTx/>
              <a:latin typeface="Arial"/>
            </a:endParaRPr>
          </a:p>
          <a:p>
            <a:pPr indent="0">
              <a:lnSpc>
                <a:spcPct val="100000"/>
              </a:lnSpc>
              <a:buNone/>
              <a:tabLst>
                <a:tab algn="l" pos="0"/>
              </a:tabLst>
            </a:pPr>
            <a:r>
              <a:rPr b="0" lang="en-US" sz="2000" strike="noStrike" u="none">
                <a:solidFill>
                  <a:srgbClr val="000000"/>
                </a:solidFill>
                <a:effectLst/>
                <a:uFillTx/>
                <a:latin typeface="Arial"/>
              </a:rPr>
              <a:t>Talk about how to train as well</a:t>
            </a:r>
            <a:endParaRPr b="0" lang="en-AU" sz="2000" strike="noStrike" u="none">
              <a:solidFill>
                <a:srgbClr val="000000"/>
              </a:solidFill>
              <a:effectLst/>
              <a:uFillTx/>
              <a:latin typeface="Arial"/>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3" name="PlaceHolder 1"/>
          <p:cNvSpPr>
            <a:spLocks noGrp="1"/>
          </p:cNvSpPr>
          <p:nvPr>
            <p:ph type="sldImg"/>
          </p:nvPr>
        </p:nvSpPr>
        <p:spPr>
          <a:xfrm>
            <a:off x="216000" y="812520"/>
            <a:ext cx="7124760" cy="4006440"/>
          </a:xfrm>
          <a:prstGeom prst="rect">
            <a:avLst/>
          </a:prstGeom>
          <a:ln w="0">
            <a:noFill/>
          </a:ln>
        </p:spPr>
      </p:sp>
      <p:sp>
        <p:nvSpPr>
          <p:cNvPr id="134" name="PlaceHolder 2"/>
          <p:cNvSpPr>
            <a:spLocks noGrp="1"/>
          </p:cNvSpPr>
          <p:nvPr>
            <p:ph type="body"/>
          </p:nvPr>
        </p:nvSpPr>
        <p:spPr>
          <a:xfrm>
            <a:off x="756000" y="5078520"/>
            <a:ext cx="6045120" cy="4808520"/>
          </a:xfrm>
          <a:prstGeom prst="rect">
            <a:avLst/>
          </a:prstGeom>
          <a:noFill/>
          <a:ln w="0">
            <a:noFill/>
          </a:ln>
        </p:spPr>
        <p:txBody>
          <a:bodyPr lIns="0" rIns="0" tIns="0" bIns="0" anchor="t">
            <a:noAutofit/>
          </a:bodyPr>
          <a:p>
            <a:pPr indent="0">
              <a:lnSpc>
                <a:spcPct val="100000"/>
              </a:lnSpc>
              <a:buNone/>
              <a:tabLst>
                <a:tab algn="l" pos="0"/>
              </a:tabLst>
            </a:pPr>
            <a:r>
              <a:rPr b="0" lang="en-US" sz="2000" strike="noStrike" u="none">
                <a:solidFill>
                  <a:srgbClr val="000000"/>
                </a:solidFill>
                <a:effectLst/>
                <a:uFillTx/>
                <a:latin typeface="Arial"/>
              </a:rPr>
              <a:t>Note that explicit is to some extent. The KC nodes itself may not be interpretable</a:t>
            </a:r>
            <a:endParaRPr b="0" lang="en-AU" sz="2000" strike="noStrike" u="none">
              <a:solidFill>
                <a:srgbClr val="000000"/>
              </a:solidFill>
              <a:effectLst/>
              <a:uFillTx/>
              <a:latin typeface="Arial"/>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5" name="PlaceHolder 1"/>
          <p:cNvSpPr>
            <a:spLocks noGrp="1"/>
          </p:cNvSpPr>
          <p:nvPr>
            <p:ph type="sldImg"/>
          </p:nvPr>
        </p:nvSpPr>
        <p:spPr>
          <a:xfrm>
            <a:off x="216000" y="812520"/>
            <a:ext cx="7124760" cy="4006440"/>
          </a:xfrm>
          <a:prstGeom prst="rect">
            <a:avLst/>
          </a:prstGeom>
          <a:ln w="0">
            <a:noFill/>
          </a:ln>
        </p:spPr>
      </p:sp>
      <p:sp>
        <p:nvSpPr>
          <p:cNvPr id="136" name="PlaceHolder 2"/>
          <p:cNvSpPr>
            <a:spLocks noGrp="1"/>
          </p:cNvSpPr>
          <p:nvPr>
            <p:ph type="body"/>
          </p:nvPr>
        </p:nvSpPr>
        <p:spPr>
          <a:xfrm>
            <a:off x="756000" y="5078520"/>
            <a:ext cx="6045120" cy="4808520"/>
          </a:xfrm>
          <a:prstGeom prst="rect">
            <a:avLst/>
          </a:prstGeom>
          <a:noFill/>
          <a:ln w="0">
            <a:noFill/>
          </a:ln>
        </p:spPr>
        <p:txBody>
          <a:bodyPr lIns="0" rIns="0" tIns="0" bIns="0" anchor="t">
            <a:noAutofit/>
          </a:bodyPr>
          <a:p>
            <a:pPr indent="0">
              <a:lnSpc>
                <a:spcPct val="100000"/>
              </a:lnSpc>
              <a:buNone/>
              <a:tabLst>
                <a:tab algn="l" pos="0"/>
              </a:tabLst>
            </a:pPr>
            <a:r>
              <a:rPr b="0" lang="en-US" sz="2000" strike="noStrike" u="none">
                <a:solidFill>
                  <a:srgbClr val="000000"/>
                </a:solidFill>
                <a:effectLst/>
                <a:uFillTx/>
                <a:latin typeface="Arial"/>
              </a:rPr>
              <a:t>Note that explicit is to some extent. The KC nodes itself may not be interpretable</a:t>
            </a:r>
            <a:endParaRPr b="0" lang="en-AU" sz="2000" strike="noStrike" u="none">
              <a:solidFill>
                <a:srgbClr val="000000"/>
              </a:solidFill>
              <a:effectLst/>
              <a:uFillTx/>
              <a:latin typeface="Arial"/>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7" name="PlaceHolder 1"/>
          <p:cNvSpPr>
            <a:spLocks noGrp="1"/>
          </p:cNvSpPr>
          <p:nvPr>
            <p:ph type="sldImg"/>
          </p:nvPr>
        </p:nvSpPr>
        <p:spPr>
          <a:xfrm>
            <a:off x="216000" y="812520"/>
            <a:ext cx="7124760" cy="4006440"/>
          </a:xfrm>
          <a:prstGeom prst="rect">
            <a:avLst/>
          </a:prstGeom>
          <a:ln w="0">
            <a:noFill/>
          </a:ln>
        </p:spPr>
      </p:sp>
      <p:sp>
        <p:nvSpPr>
          <p:cNvPr id="138" name="PlaceHolder 2"/>
          <p:cNvSpPr>
            <a:spLocks noGrp="1"/>
          </p:cNvSpPr>
          <p:nvPr>
            <p:ph type="body"/>
          </p:nvPr>
        </p:nvSpPr>
        <p:spPr>
          <a:xfrm>
            <a:off x="756000" y="5078520"/>
            <a:ext cx="6045120" cy="4808520"/>
          </a:xfrm>
          <a:prstGeom prst="rect">
            <a:avLst/>
          </a:prstGeom>
          <a:noFill/>
          <a:ln w="0">
            <a:noFill/>
          </a:ln>
        </p:spPr>
        <p:txBody>
          <a:bodyPr lIns="0" rIns="0" tIns="0" bIns="0" anchor="t">
            <a:noAutofit/>
          </a:bodyPr>
          <a:p>
            <a:pPr indent="0">
              <a:lnSpc>
                <a:spcPct val="100000"/>
              </a:lnSpc>
              <a:buNone/>
              <a:tabLst>
                <a:tab algn="l" pos="0"/>
              </a:tabLst>
            </a:pPr>
            <a:r>
              <a:rPr b="0" lang="en-US" sz="2000" strike="noStrike" u="none">
                <a:solidFill>
                  <a:srgbClr val="000000"/>
                </a:solidFill>
                <a:effectLst/>
                <a:uFillTx/>
                <a:latin typeface="Arial"/>
              </a:rPr>
              <a:t>Up-de-ra-ha-men</a:t>
            </a:r>
            <a:endParaRPr b="0" lang="en-AU" sz="2000" strike="noStrike" u="none">
              <a:solidFill>
                <a:srgbClr val="000000"/>
              </a:solidFill>
              <a:effectLst/>
              <a:uFillTx/>
              <a:latin typeface="Arial"/>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9" name="PlaceHolder 1"/>
          <p:cNvSpPr>
            <a:spLocks noGrp="1"/>
          </p:cNvSpPr>
          <p:nvPr>
            <p:ph type="sldImg"/>
          </p:nvPr>
        </p:nvSpPr>
        <p:spPr>
          <a:xfrm>
            <a:off x="216000" y="812520"/>
            <a:ext cx="7124760" cy="4006440"/>
          </a:xfrm>
          <a:prstGeom prst="rect">
            <a:avLst/>
          </a:prstGeom>
          <a:ln w="0">
            <a:noFill/>
          </a:ln>
        </p:spPr>
      </p:sp>
      <p:sp>
        <p:nvSpPr>
          <p:cNvPr id="140" name="PlaceHolder 2"/>
          <p:cNvSpPr>
            <a:spLocks noGrp="1"/>
          </p:cNvSpPr>
          <p:nvPr>
            <p:ph type="body"/>
          </p:nvPr>
        </p:nvSpPr>
        <p:spPr>
          <a:xfrm>
            <a:off x="756000" y="5078520"/>
            <a:ext cx="6045120" cy="4808520"/>
          </a:xfrm>
          <a:prstGeom prst="rect">
            <a:avLst/>
          </a:prstGeom>
          <a:noFill/>
          <a:ln w="0">
            <a:noFill/>
          </a:ln>
        </p:spPr>
        <p:txBody>
          <a:bodyPr lIns="0" rIns="0" tIns="0" bIns="0" anchor="t">
            <a:noAutofit/>
          </a:bodyPr>
          <a:p>
            <a:pPr indent="0">
              <a:lnSpc>
                <a:spcPct val="100000"/>
              </a:lnSpc>
              <a:spcBef>
                <a:spcPts val="1417"/>
              </a:spcBef>
              <a:buNone/>
              <a:tabLst>
                <a:tab algn="l" pos="0"/>
              </a:tabLst>
            </a:pPr>
            <a:r>
              <a:rPr b="0" lang="en-US" sz="1200" strike="noStrike" u="none">
                <a:solidFill>
                  <a:srgbClr val="000000"/>
                </a:solidFill>
                <a:effectLst/>
                <a:uFillTx/>
                <a:latin typeface="Arial"/>
              </a:rPr>
              <a:t>🤔 How does it model KC-KC relations?</a:t>
            </a:r>
            <a:endParaRPr b="0" lang="en-AU" sz="1200" strike="noStrike" u="none">
              <a:solidFill>
                <a:srgbClr val="000000"/>
              </a:solidFill>
              <a:effectLst/>
              <a:uFillTx/>
              <a:latin typeface="Arial"/>
            </a:endParaRPr>
          </a:p>
          <a:p>
            <a:pPr marL="432000" indent="-324000">
              <a:lnSpc>
                <a:spcPct val="100000"/>
              </a:lnSpc>
              <a:spcBef>
                <a:spcPts val="1417"/>
              </a:spcBef>
              <a:buClr>
                <a:srgbClr val="000000"/>
              </a:buClr>
              <a:buSzPct val="45000"/>
              <a:buFont typeface="Wingdings" charset="2"/>
              <a:buChar char=""/>
              <a:tabLst>
                <a:tab algn="l" pos="0"/>
              </a:tabLst>
            </a:pPr>
            <a:r>
              <a:rPr b="1" lang="en-US" sz="1200" strike="noStrike" u="none">
                <a:solidFill>
                  <a:srgbClr val="000000"/>
                </a:solidFill>
                <a:effectLst/>
                <a:uFillTx/>
                <a:latin typeface="Arial"/>
              </a:rPr>
              <a:t>Implicitly</a:t>
            </a:r>
            <a:r>
              <a:rPr b="0" lang="en-US" sz="1200" strike="noStrike" u="none">
                <a:solidFill>
                  <a:srgbClr val="000000"/>
                </a:solidFill>
                <a:effectLst/>
                <a:uFillTx/>
                <a:latin typeface="Arial"/>
              </a:rPr>
              <a:t> through Recurrent Weights</a:t>
            </a:r>
            <a:endParaRPr b="0" lang="en-AU" sz="1200" strike="noStrike" u="none">
              <a:solidFill>
                <a:srgbClr val="000000"/>
              </a:solidFill>
              <a:effectLst/>
              <a:uFillTx/>
              <a:latin typeface="Arial"/>
            </a:endParaRPr>
          </a:p>
          <a:p>
            <a:pPr marL="432000" indent="-324000">
              <a:lnSpc>
                <a:spcPct val="100000"/>
              </a:lnSpc>
              <a:spcBef>
                <a:spcPts val="1191"/>
              </a:spcBef>
              <a:spcAft>
                <a:spcPts val="992"/>
              </a:spcAft>
              <a:buClr>
                <a:srgbClr val="000000"/>
              </a:buClr>
              <a:buSzPct val="45000"/>
              <a:buFont typeface="Wingdings" charset="2"/>
              <a:buChar char=""/>
              <a:tabLst>
                <a:tab algn="l" pos="0"/>
              </a:tabLst>
            </a:pPr>
            <a:r>
              <a:rPr b="0" lang="en-US" sz="1200" strike="noStrike" u="none">
                <a:solidFill>
                  <a:srgbClr val="000000"/>
                </a:solidFill>
                <a:effectLst/>
                <a:uFillTx/>
                <a:latin typeface="Arial"/>
                <a:ea typeface="Noto Sans CJK SC"/>
              </a:rPr>
              <a:t>Why implicit? There’s no explicit graph or adjacency matrix connecting skills.</a:t>
            </a:r>
            <a:endParaRPr b="0" lang="en-AU" sz="1200" strike="noStrike" u="none">
              <a:solidFill>
                <a:srgbClr val="000000"/>
              </a:solidFill>
              <a:effectLst/>
              <a:uFillTx/>
              <a:latin typeface="Arial"/>
            </a:endParaRPr>
          </a:p>
          <a:p>
            <a:pPr marL="432000" indent="-324000">
              <a:lnSpc>
                <a:spcPct val="100000"/>
              </a:lnSpc>
              <a:spcBef>
                <a:spcPts val="1191"/>
              </a:spcBef>
              <a:spcAft>
                <a:spcPts val="992"/>
              </a:spcAft>
              <a:buClr>
                <a:srgbClr val="000000"/>
              </a:buClr>
              <a:buSzPct val="45000"/>
              <a:buFont typeface="Wingdings" charset="2"/>
              <a:buChar char=""/>
              <a:tabLst>
                <a:tab algn="l" pos="0"/>
              </a:tabLst>
            </a:pPr>
            <a:r>
              <a:rPr b="0" lang="en-US" sz="1200" strike="noStrike" u="none">
                <a:solidFill>
                  <a:srgbClr val="000000"/>
                </a:solidFill>
                <a:effectLst/>
                <a:uFillTx/>
                <a:latin typeface="Arial"/>
                <a:ea typeface="Noto Sans CJK SC"/>
              </a:rPr>
              <a:t>Why modelled? The recurrent update ht = f(Wh ht − 1 + Wx xt t), allows every dimension in h t-1 to influence every other dimension in ht. As a result, if learning one skill helps or hinders another, the RNN can learn these cross-dependencies through its shared recurrent weights.</a:t>
            </a:r>
            <a:endParaRPr b="0" lang="en-AU" sz="1200" strike="noStrike" u="none">
              <a:solidFill>
                <a:srgbClr val="000000"/>
              </a:solidFill>
              <a:effectLst/>
              <a:uFillTx/>
              <a:latin typeface="Arial"/>
            </a:endParaRPr>
          </a:p>
          <a:p>
            <a:pPr indent="0">
              <a:lnSpc>
                <a:spcPct val="100000"/>
              </a:lnSpc>
              <a:spcBef>
                <a:spcPts val="1417"/>
              </a:spcBef>
              <a:buNone/>
              <a:tabLst>
                <a:tab algn="l" pos="0"/>
              </a:tabLst>
            </a:pPr>
            <a:r>
              <a:rPr b="0" lang="en-US" sz="1200" strike="noStrike" u="none">
                <a:solidFill>
                  <a:srgbClr val="000000"/>
                </a:solidFill>
                <a:effectLst/>
                <a:uFillTx/>
                <a:latin typeface="Arial"/>
                <a:ea typeface="Noto Sans CJK SC"/>
              </a:rPr>
              <a:t>🤔 How does it model the learning of KCs?</a:t>
            </a:r>
            <a:endParaRPr b="0" lang="en-AU" sz="1200" strike="noStrike" u="none">
              <a:solidFill>
                <a:srgbClr val="000000"/>
              </a:solidFill>
              <a:effectLst/>
              <a:uFillTx/>
              <a:latin typeface="Arial"/>
            </a:endParaRPr>
          </a:p>
          <a:p>
            <a:pPr marL="432000" indent="-324000">
              <a:lnSpc>
                <a:spcPct val="100000"/>
              </a:lnSpc>
              <a:spcBef>
                <a:spcPts val="1191"/>
              </a:spcBef>
              <a:spcAft>
                <a:spcPts val="992"/>
              </a:spcAft>
              <a:buClr>
                <a:srgbClr val="000000"/>
              </a:buClr>
              <a:buSzPct val="45000"/>
              <a:buFont typeface="Wingdings" charset="2"/>
              <a:buChar char=""/>
              <a:tabLst>
                <a:tab algn="l" pos="0"/>
              </a:tabLst>
            </a:pPr>
            <a:r>
              <a:rPr b="1" lang="en-US" sz="1200" strike="noStrike" u="none">
                <a:solidFill>
                  <a:srgbClr val="000000"/>
                </a:solidFill>
                <a:effectLst/>
                <a:uFillTx/>
                <a:latin typeface="Arial"/>
                <a:ea typeface="Noto Sans CJK SC"/>
              </a:rPr>
              <a:t>Implicitly</a:t>
            </a:r>
            <a:r>
              <a:rPr b="0" lang="en-US" sz="1200" strike="noStrike" u="none">
                <a:solidFill>
                  <a:srgbClr val="000000"/>
                </a:solidFill>
                <a:effectLst/>
                <a:uFillTx/>
                <a:latin typeface="Arial"/>
                <a:ea typeface="Noto Sans CJK SC"/>
              </a:rPr>
              <a:t> through the Input &amp; Update Gates in RNN</a:t>
            </a:r>
            <a:endParaRPr b="0" lang="en-AU" sz="1200" strike="noStrike" u="none">
              <a:solidFill>
                <a:srgbClr val="000000"/>
              </a:solidFill>
              <a:effectLst/>
              <a:uFillTx/>
              <a:latin typeface="Arial"/>
            </a:endParaRPr>
          </a:p>
          <a:p>
            <a:pPr marL="432000" indent="-324000">
              <a:lnSpc>
                <a:spcPct val="100000"/>
              </a:lnSpc>
              <a:spcBef>
                <a:spcPts val="1191"/>
              </a:spcBef>
              <a:spcAft>
                <a:spcPts val="992"/>
              </a:spcAft>
              <a:buClr>
                <a:srgbClr val="000000"/>
              </a:buClr>
              <a:buSzPct val="45000"/>
              <a:buFont typeface="Wingdings" charset="2"/>
              <a:buChar char=""/>
              <a:tabLst>
                <a:tab algn="l" pos="0"/>
              </a:tabLst>
            </a:pPr>
            <a:r>
              <a:rPr b="0" lang="en-US" sz="1200" strike="noStrike" u="none">
                <a:solidFill>
                  <a:srgbClr val="000000"/>
                </a:solidFill>
                <a:effectLst/>
                <a:uFillTx/>
                <a:latin typeface="Arial"/>
                <a:ea typeface="Noto Sans CJK SC"/>
              </a:rPr>
              <a:t>Why implicit? No explicit learning function.</a:t>
            </a:r>
            <a:endParaRPr b="0" lang="en-AU" sz="1200" strike="noStrike" u="none">
              <a:solidFill>
                <a:srgbClr val="000000"/>
              </a:solidFill>
              <a:effectLst/>
              <a:uFillTx/>
              <a:latin typeface="Arial"/>
            </a:endParaRPr>
          </a:p>
          <a:p>
            <a:pPr marL="432000" indent="-324000">
              <a:lnSpc>
                <a:spcPct val="100000"/>
              </a:lnSpc>
              <a:spcBef>
                <a:spcPts val="1191"/>
              </a:spcBef>
              <a:spcAft>
                <a:spcPts val="992"/>
              </a:spcAft>
              <a:buClr>
                <a:srgbClr val="000000"/>
              </a:buClr>
              <a:buSzPct val="45000"/>
              <a:buFont typeface="Wingdings" charset="2"/>
              <a:buChar char=""/>
              <a:tabLst>
                <a:tab algn="l" pos="0"/>
              </a:tabLst>
            </a:pPr>
            <a:r>
              <a:rPr b="0" lang="en-US" sz="1200" strike="noStrike" u="none">
                <a:solidFill>
                  <a:srgbClr val="000000"/>
                </a:solidFill>
                <a:effectLst/>
                <a:uFillTx/>
                <a:latin typeface="Arial"/>
                <a:ea typeface="Noto Sans CJK SC"/>
              </a:rPr>
              <a:t>Why modelled? When a new interaction (qt,rt) arrives, the input gate and update operation of the RNN decide how much new information to add to the hidden state</a:t>
            </a:r>
            <a:endParaRPr b="0" lang="en-AU" sz="1200" strike="noStrike" u="none">
              <a:solidFill>
                <a:srgbClr val="000000"/>
              </a:solidFill>
              <a:effectLst/>
              <a:uFillTx/>
              <a:latin typeface="Arial"/>
            </a:endParaRPr>
          </a:p>
          <a:p>
            <a:pPr indent="0">
              <a:lnSpc>
                <a:spcPct val="100000"/>
              </a:lnSpc>
              <a:spcBef>
                <a:spcPts val="1417"/>
              </a:spcBef>
              <a:buNone/>
              <a:tabLst>
                <a:tab algn="l" pos="0"/>
              </a:tabLst>
            </a:pPr>
            <a:r>
              <a:rPr b="0" lang="en-US" sz="1200" strike="noStrike" u="none">
                <a:solidFill>
                  <a:srgbClr val="000000"/>
                </a:solidFill>
                <a:effectLst/>
                <a:uFillTx/>
                <a:latin typeface="Arial"/>
                <a:ea typeface="Noto Sans CJK SC"/>
              </a:rPr>
              <a:t>🤔 How does it model the forgetting of KCs?</a:t>
            </a:r>
            <a:endParaRPr b="0" lang="en-AU" sz="1200" strike="noStrike" u="none">
              <a:solidFill>
                <a:srgbClr val="000000"/>
              </a:solidFill>
              <a:effectLst/>
              <a:uFillTx/>
              <a:latin typeface="Arial"/>
            </a:endParaRPr>
          </a:p>
          <a:p>
            <a:pPr marL="432000" indent="-324000">
              <a:lnSpc>
                <a:spcPct val="100000"/>
              </a:lnSpc>
              <a:spcBef>
                <a:spcPts val="1191"/>
              </a:spcBef>
              <a:spcAft>
                <a:spcPts val="992"/>
              </a:spcAft>
              <a:buClr>
                <a:srgbClr val="000000"/>
              </a:buClr>
              <a:buSzPct val="45000"/>
              <a:buFont typeface="Wingdings" charset="2"/>
              <a:buChar char=""/>
              <a:tabLst>
                <a:tab algn="l" pos="0"/>
              </a:tabLst>
            </a:pPr>
            <a:r>
              <a:rPr b="1" lang="en-US" sz="1200" strike="noStrike" u="none">
                <a:solidFill>
                  <a:srgbClr val="000000"/>
                </a:solidFill>
                <a:effectLst/>
                <a:uFillTx/>
                <a:latin typeface="Arial"/>
                <a:ea typeface="Noto Sans CJK SC"/>
              </a:rPr>
              <a:t>Implicitly</a:t>
            </a:r>
            <a:r>
              <a:rPr b="0" lang="en-US" sz="1200" strike="noStrike" u="none">
                <a:solidFill>
                  <a:srgbClr val="000000"/>
                </a:solidFill>
                <a:effectLst/>
                <a:uFillTx/>
                <a:latin typeface="Arial"/>
                <a:ea typeface="Noto Sans CJK SC"/>
              </a:rPr>
              <a:t> through the Forget Gate in RNN</a:t>
            </a:r>
            <a:endParaRPr b="0" lang="en-AU" sz="1200" strike="noStrike" u="none">
              <a:solidFill>
                <a:srgbClr val="000000"/>
              </a:solidFill>
              <a:effectLst/>
              <a:uFillTx/>
              <a:latin typeface="Arial"/>
            </a:endParaRPr>
          </a:p>
          <a:p>
            <a:pPr marL="432000" indent="-324000">
              <a:lnSpc>
                <a:spcPct val="100000"/>
              </a:lnSpc>
              <a:spcBef>
                <a:spcPts val="1191"/>
              </a:spcBef>
              <a:spcAft>
                <a:spcPts val="992"/>
              </a:spcAft>
              <a:buClr>
                <a:srgbClr val="000000"/>
              </a:buClr>
              <a:buSzPct val="45000"/>
              <a:buFont typeface="Wingdings" charset="2"/>
              <a:buChar char=""/>
              <a:tabLst>
                <a:tab algn="l" pos="0"/>
              </a:tabLst>
            </a:pPr>
            <a:r>
              <a:rPr b="0" lang="en-US" sz="1200" strike="noStrike" u="none">
                <a:solidFill>
                  <a:srgbClr val="000000"/>
                </a:solidFill>
                <a:effectLst/>
                <a:uFillTx/>
                <a:latin typeface="Arial"/>
                <a:ea typeface="Noto Sans CJK SC"/>
              </a:rPr>
              <a:t>Why implicit? No dedicated forgetting functions</a:t>
            </a:r>
            <a:endParaRPr b="0" lang="en-AU" sz="1200" strike="noStrike" u="none">
              <a:solidFill>
                <a:srgbClr val="000000"/>
              </a:solidFill>
              <a:effectLst/>
              <a:uFillTx/>
              <a:latin typeface="Arial"/>
            </a:endParaRPr>
          </a:p>
          <a:p>
            <a:pPr marL="432000" indent="-324000">
              <a:lnSpc>
                <a:spcPct val="100000"/>
              </a:lnSpc>
              <a:spcBef>
                <a:spcPts val="1191"/>
              </a:spcBef>
              <a:spcAft>
                <a:spcPts val="992"/>
              </a:spcAft>
              <a:buClr>
                <a:srgbClr val="000000"/>
              </a:buClr>
              <a:buSzPct val="45000"/>
              <a:buFont typeface="Wingdings" charset="2"/>
              <a:buChar char=""/>
              <a:tabLst>
                <a:tab algn="l" pos="0"/>
              </a:tabLst>
            </a:pPr>
            <a:r>
              <a:rPr b="0" lang="en-US" sz="1200" strike="noStrike" u="none">
                <a:solidFill>
                  <a:srgbClr val="000000"/>
                </a:solidFill>
                <a:effectLst/>
                <a:uFillTx/>
                <a:latin typeface="Arial"/>
                <a:ea typeface="Noto Sans CJK SC"/>
              </a:rPr>
              <a:t>Why modelled? The forget gate ft=σ(Wfxt+Ufht−1+bf) controls how much of the previous memory ct−1 to retain</a:t>
            </a:r>
            <a:endParaRPr b="0" lang="en-AU" sz="1200" strike="noStrike" u="none">
              <a:solidFill>
                <a:srgbClr val="000000"/>
              </a:solidFill>
              <a:effectLst/>
              <a:uFillTx/>
              <a:latin typeface="Arial"/>
            </a:endParaRPr>
          </a:p>
          <a:p>
            <a:pPr indent="0">
              <a:lnSpc>
                <a:spcPct val="100000"/>
              </a:lnSpc>
              <a:spcBef>
                <a:spcPts val="1417"/>
              </a:spcBef>
              <a:buNone/>
              <a:tabLst>
                <a:tab algn="l" pos="0"/>
              </a:tabLst>
            </a:pPr>
            <a:r>
              <a:rPr b="0" lang="en-US" sz="1200" strike="noStrike" u="none">
                <a:solidFill>
                  <a:srgbClr val="000000"/>
                </a:solidFill>
                <a:effectLst/>
                <a:uFillTx/>
                <a:latin typeface="Arial"/>
                <a:ea typeface="Noto Sans CJK SC"/>
              </a:rPr>
              <a:t>🤔 How does it model the student’s knowledge state?</a:t>
            </a:r>
            <a:endParaRPr b="0" lang="en-AU" sz="1200" strike="noStrike" u="none">
              <a:solidFill>
                <a:srgbClr val="000000"/>
              </a:solidFill>
              <a:effectLst/>
              <a:uFillTx/>
              <a:latin typeface="Arial"/>
            </a:endParaRPr>
          </a:p>
          <a:p>
            <a:pPr marL="432000" indent="-324000">
              <a:lnSpc>
                <a:spcPct val="100000"/>
              </a:lnSpc>
              <a:spcBef>
                <a:spcPts val="1417"/>
              </a:spcBef>
              <a:buClr>
                <a:srgbClr val="000000"/>
              </a:buClr>
              <a:buSzPct val="45000"/>
              <a:buFont typeface="Wingdings" charset="2"/>
              <a:buChar char=""/>
              <a:tabLst>
                <a:tab algn="l" pos="0"/>
              </a:tabLst>
            </a:pPr>
            <a:r>
              <a:rPr b="1" lang="en-US" sz="1200" strike="noStrike" u="none">
                <a:solidFill>
                  <a:srgbClr val="000000"/>
                </a:solidFill>
                <a:effectLst/>
                <a:uFillTx/>
                <a:latin typeface="Arial"/>
                <a:ea typeface="Noto Sans CJK SC"/>
              </a:rPr>
              <a:t>Explicitly</a:t>
            </a:r>
            <a:r>
              <a:rPr b="0" lang="en-US" sz="1200" strike="noStrike" u="none">
                <a:solidFill>
                  <a:srgbClr val="000000"/>
                </a:solidFill>
                <a:effectLst/>
                <a:uFillTx/>
                <a:latin typeface="Arial"/>
                <a:ea typeface="Noto Sans CJK SC"/>
              </a:rPr>
              <a:t> through a hidden state vector(s)</a:t>
            </a:r>
            <a:endParaRPr b="0" lang="en-AU" sz="1200" strike="noStrike" u="none">
              <a:solidFill>
                <a:srgbClr val="000000"/>
              </a:solidFill>
              <a:effectLst/>
              <a:uFillTx/>
              <a:latin typeface="Arial"/>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1" name="PlaceHolder 1"/>
          <p:cNvSpPr>
            <a:spLocks noGrp="1"/>
          </p:cNvSpPr>
          <p:nvPr>
            <p:ph type="sldImg"/>
          </p:nvPr>
        </p:nvSpPr>
        <p:spPr>
          <a:xfrm>
            <a:off x="216000" y="812520"/>
            <a:ext cx="7124760" cy="4006440"/>
          </a:xfrm>
          <a:prstGeom prst="rect">
            <a:avLst/>
          </a:prstGeom>
          <a:ln w="0">
            <a:noFill/>
          </a:ln>
        </p:spPr>
      </p:sp>
      <p:sp>
        <p:nvSpPr>
          <p:cNvPr id="142" name="PlaceHolder 2"/>
          <p:cNvSpPr>
            <a:spLocks noGrp="1"/>
          </p:cNvSpPr>
          <p:nvPr>
            <p:ph type="body"/>
          </p:nvPr>
        </p:nvSpPr>
        <p:spPr>
          <a:xfrm>
            <a:off x="756000" y="5078520"/>
            <a:ext cx="6045120" cy="4808520"/>
          </a:xfrm>
          <a:prstGeom prst="rect">
            <a:avLst/>
          </a:prstGeom>
          <a:noFill/>
          <a:ln w="0">
            <a:noFill/>
          </a:ln>
        </p:spPr>
        <p:txBody>
          <a:bodyPr lIns="0" rIns="0" tIns="0" bIns="0" anchor="t">
            <a:noAutofit/>
          </a:bodyPr>
          <a:p>
            <a:pPr indent="0">
              <a:lnSpc>
                <a:spcPct val="100000"/>
              </a:lnSpc>
              <a:buNone/>
              <a:tabLst>
                <a:tab algn="l" pos="0"/>
              </a:tabLst>
            </a:pPr>
            <a:r>
              <a:rPr b="0" lang="en-US" sz="2000" strike="noStrike" u="none">
                <a:solidFill>
                  <a:srgbClr val="000000"/>
                </a:solidFill>
                <a:effectLst/>
                <a:uFillTx/>
                <a:latin typeface="Arial"/>
              </a:rPr>
              <a:t>Note that explicit is to some extent. The KC nodes itself may not be interpretable</a:t>
            </a:r>
            <a:endParaRPr b="0" lang="en-AU" sz="2000" strike="noStrike" u="none">
              <a:solidFill>
                <a:srgbClr val="000000"/>
              </a:solidFill>
              <a:effectLst/>
              <a:uFillTx/>
              <a:latin typeface="Arial"/>
            </a:endParaRPr>
          </a:p>
        </p:txBody>
      </p:sp>
    </p:spTree>
  </p:cSld>
</p:notes>
</file>

<file path=ppt/notesSlides/notesSlide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3" name="PlaceHolder 1"/>
          <p:cNvSpPr>
            <a:spLocks noGrp="1"/>
          </p:cNvSpPr>
          <p:nvPr>
            <p:ph type="sldImg"/>
          </p:nvPr>
        </p:nvSpPr>
        <p:spPr>
          <a:xfrm>
            <a:off x="216000" y="812520"/>
            <a:ext cx="7124760" cy="4006440"/>
          </a:xfrm>
          <a:prstGeom prst="rect">
            <a:avLst/>
          </a:prstGeom>
          <a:ln w="0">
            <a:noFill/>
          </a:ln>
        </p:spPr>
      </p:sp>
      <p:sp>
        <p:nvSpPr>
          <p:cNvPr id="144" name="PlaceHolder 2"/>
          <p:cNvSpPr>
            <a:spLocks noGrp="1"/>
          </p:cNvSpPr>
          <p:nvPr>
            <p:ph type="body"/>
          </p:nvPr>
        </p:nvSpPr>
        <p:spPr>
          <a:xfrm>
            <a:off x="756000" y="5078520"/>
            <a:ext cx="6045120" cy="4808520"/>
          </a:xfrm>
          <a:prstGeom prst="rect">
            <a:avLst/>
          </a:prstGeom>
          <a:noFill/>
          <a:ln w="0">
            <a:noFill/>
          </a:ln>
        </p:spPr>
        <p:txBody>
          <a:bodyPr lIns="0" rIns="0" tIns="0" bIns="0" anchor="t">
            <a:noAutofit/>
          </a:bodyPr>
          <a:p>
            <a:pPr indent="0">
              <a:lnSpc>
                <a:spcPct val="100000"/>
              </a:lnSpc>
              <a:buNone/>
              <a:tabLst>
                <a:tab algn="l" pos="0"/>
              </a:tabLst>
            </a:pPr>
            <a:r>
              <a:rPr b="0" lang="en-US" sz="2000" strike="noStrike" u="none">
                <a:solidFill>
                  <a:srgbClr val="000000"/>
                </a:solidFill>
                <a:effectLst/>
                <a:uFillTx/>
                <a:latin typeface="Arial"/>
              </a:rPr>
              <a:t>Note that explicit is to some extent. The KC nodes itself may not be interpretable</a:t>
            </a:r>
            <a:endParaRPr b="0" lang="en-AU" sz="2000" strike="noStrike" u="none">
              <a:solidFill>
                <a:srgbClr val="000000"/>
              </a:solidFill>
              <a:effectLst/>
              <a:uFillTx/>
              <a:latin typeface="Arial"/>
            </a:endParaRPr>
          </a:p>
        </p:txBody>
      </p:sp>
    </p:spTree>
  </p:cSld>
</p:notes>
</file>

<file path=ppt/notesSlides/notesSlide2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5" name="PlaceHolder 1"/>
          <p:cNvSpPr>
            <a:spLocks noGrp="1"/>
          </p:cNvSpPr>
          <p:nvPr>
            <p:ph type="sldImg"/>
          </p:nvPr>
        </p:nvSpPr>
        <p:spPr>
          <a:xfrm>
            <a:off x="216000" y="812520"/>
            <a:ext cx="7124760" cy="4006440"/>
          </a:xfrm>
          <a:prstGeom prst="rect">
            <a:avLst/>
          </a:prstGeom>
          <a:ln w="0">
            <a:noFill/>
          </a:ln>
        </p:spPr>
      </p:sp>
      <p:sp>
        <p:nvSpPr>
          <p:cNvPr id="146" name="PlaceHolder 2"/>
          <p:cNvSpPr>
            <a:spLocks noGrp="1"/>
          </p:cNvSpPr>
          <p:nvPr>
            <p:ph type="body"/>
          </p:nvPr>
        </p:nvSpPr>
        <p:spPr>
          <a:xfrm>
            <a:off x="756000" y="5078520"/>
            <a:ext cx="6045120" cy="4808520"/>
          </a:xfrm>
          <a:prstGeom prst="rect">
            <a:avLst/>
          </a:prstGeom>
          <a:noFill/>
          <a:ln w="0">
            <a:noFill/>
          </a:ln>
        </p:spPr>
        <p:txBody>
          <a:bodyPr lIns="0" rIns="0" tIns="0" bIns="0" anchor="t">
            <a:noAutofit/>
          </a:bodyPr>
          <a:p>
            <a:pPr indent="0">
              <a:lnSpc>
                <a:spcPct val="100000"/>
              </a:lnSpc>
              <a:buNone/>
              <a:tabLst>
                <a:tab algn="l" pos="0"/>
              </a:tabLst>
            </a:pPr>
            <a:r>
              <a:rPr b="0" lang="en-US" sz="2000" strike="noStrike" u="none">
                <a:solidFill>
                  <a:srgbClr val="000000"/>
                </a:solidFill>
                <a:effectLst/>
                <a:uFillTx/>
                <a:latin typeface="Arial"/>
              </a:rPr>
              <a:t>Now we got to the most interesting part</a:t>
            </a:r>
            <a:endParaRPr b="0" lang="en-AU" sz="2000" strike="noStrike" u="none">
              <a:solidFill>
                <a:srgbClr val="000000"/>
              </a:solidFill>
              <a:effectLst/>
              <a:uFillTx/>
              <a:latin typeface="Arial"/>
            </a:endParaRPr>
          </a:p>
          <a:p>
            <a:pPr indent="0">
              <a:lnSpc>
                <a:spcPct val="100000"/>
              </a:lnSpc>
              <a:buNone/>
              <a:tabLst>
                <a:tab algn="l" pos="0"/>
              </a:tabLst>
            </a:pPr>
            <a:endParaRPr b="0" lang="en-AU" sz="2000" strike="noStrike" u="none">
              <a:solidFill>
                <a:srgbClr val="000000"/>
              </a:solidFill>
              <a:effectLst/>
              <a:uFillTx/>
              <a:latin typeface="Arial"/>
            </a:endParaRPr>
          </a:p>
          <a:p>
            <a:pPr indent="0">
              <a:lnSpc>
                <a:spcPct val="100000"/>
              </a:lnSpc>
              <a:buNone/>
              <a:tabLst>
                <a:tab algn="l" pos="0"/>
              </a:tabLst>
            </a:pPr>
            <a:r>
              <a:rPr b="0" lang="en-US" sz="2000" strike="noStrike" u="none">
                <a:solidFill>
                  <a:srgbClr val="000000"/>
                </a:solidFill>
                <a:effectLst/>
                <a:uFillTx/>
                <a:latin typeface="Arial"/>
              </a:rPr>
              <a:t>I think it is GNN</a:t>
            </a:r>
            <a:endParaRPr b="0" lang="en-AU" sz="2000" strike="noStrike" u="none">
              <a:solidFill>
                <a:srgbClr val="000000"/>
              </a:solidFill>
              <a:effectLst/>
              <a:uFillTx/>
              <a:latin typeface="Arial"/>
            </a:endParaRPr>
          </a:p>
        </p:txBody>
      </p:sp>
    </p:spTree>
  </p:cSld>
</p:notes>
</file>

<file path=ppt/notesSlides/notesSlide3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7" name="PlaceHolder 1"/>
          <p:cNvSpPr>
            <a:spLocks noGrp="1"/>
          </p:cNvSpPr>
          <p:nvPr>
            <p:ph type="sldImg"/>
          </p:nvPr>
        </p:nvSpPr>
        <p:spPr>
          <a:xfrm>
            <a:off x="216000" y="812520"/>
            <a:ext cx="7124760" cy="4006440"/>
          </a:xfrm>
          <a:prstGeom prst="rect">
            <a:avLst/>
          </a:prstGeom>
          <a:ln w="0">
            <a:noFill/>
          </a:ln>
        </p:spPr>
      </p:sp>
      <p:sp>
        <p:nvSpPr>
          <p:cNvPr id="148" name="PlaceHolder 2"/>
          <p:cNvSpPr>
            <a:spLocks noGrp="1"/>
          </p:cNvSpPr>
          <p:nvPr>
            <p:ph type="body"/>
          </p:nvPr>
        </p:nvSpPr>
        <p:spPr>
          <a:xfrm>
            <a:off x="756000" y="5078520"/>
            <a:ext cx="6045120" cy="4808520"/>
          </a:xfrm>
          <a:prstGeom prst="rect">
            <a:avLst/>
          </a:prstGeom>
          <a:noFill/>
          <a:ln w="0">
            <a:noFill/>
          </a:ln>
        </p:spPr>
        <p:txBody>
          <a:bodyPr lIns="0" rIns="0" tIns="0" bIns="0" anchor="t">
            <a:noAutofit/>
          </a:bodyPr>
          <a:p>
            <a:pPr indent="0">
              <a:lnSpc>
                <a:spcPct val="100000"/>
              </a:lnSpc>
              <a:buNone/>
              <a:tabLst>
                <a:tab algn="l" pos="0"/>
              </a:tabLst>
            </a:pPr>
            <a:r>
              <a:rPr b="0" lang="en-US" sz="2000" strike="noStrike" u="none">
                <a:solidFill>
                  <a:srgbClr val="000000"/>
                </a:solidFill>
                <a:effectLst/>
                <a:uFillTx/>
                <a:latin typeface="Arial"/>
              </a:rPr>
              <a:t>Note that explicit is to some extent. The KC nodes itself may not be interpretable</a:t>
            </a:r>
            <a:endParaRPr b="0" lang="en-AU" sz="2000" strike="noStrike" u="none">
              <a:solidFill>
                <a:srgbClr val="000000"/>
              </a:solidFill>
              <a:effectLst/>
              <a:uFillTx/>
              <a:latin typeface="Arial"/>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Default">
    <p:spTree>
      <p:nvGrpSpPr>
        <p:cNvPr id="1" name=""/>
        <p:cNvGrpSpPr/>
        <p:nvPr/>
      </p:nvGrpSpPr>
      <p:grpSpPr>
        <a:xfrm>
          <a:off x="0" y="0"/>
          <a:ext cx="0" cy="0"/>
          <a:chOff x="0" y="0"/>
          <a:chExt cx="0" cy="0"/>
        </a:xfrm>
      </p:grpSpPr>
      <p:sp>
        <p:nvSpPr>
          <p:cNvPr id="7" name="PlaceHolder 1"/>
          <p:cNvSpPr>
            <a:spLocks noGrp="1"/>
          </p:cNvSpPr>
          <p:nvPr>
            <p:ph type="title"/>
          </p:nvPr>
        </p:nvSpPr>
        <p:spPr>
          <a:xfrm>
            <a:off x="504000" y="384120"/>
            <a:ext cx="9069120" cy="625320"/>
          </a:xfrm>
          <a:prstGeom prst="rect">
            <a:avLst/>
          </a:prstGeom>
          <a:noFill/>
          <a:ln w="0">
            <a:noFill/>
          </a:ln>
        </p:spPr>
        <p:txBody>
          <a:bodyPr lIns="0" rIns="0" tIns="0" bIns="0" anchor="ctr">
            <a:spAutoFit/>
          </a:bodyPr>
          <a:p>
            <a:pPr indent="0" algn="ctr">
              <a:buNone/>
            </a:pPr>
            <a:endParaRPr b="0" lang="en-AU" sz="4400" strike="noStrike" u="none">
              <a:solidFill>
                <a:srgbClr val="000000"/>
              </a:solidFill>
              <a:effectLst/>
              <a:uFillTx/>
              <a:latin typeface="Arial"/>
            </a:endParaRPr>
          </a:p>
        </p:txBody>
      </p:sp>
      <p:sp>
        <p:nvSpPr>
          <p:cNvPr id="8" name="PlaceHolder 2"/>
          <p:cNvSpPr>
            <a:spLocks noGrp="1"/>
          </p:cNvSpPr>
          <p:nvPr>
            <p:ph/>
          </p:nvPr>
        </p:nvSpPr>
        <p:spPr>
          <a:xfrm>
            <a:off x="504000" y="1326600"/>
            <a:ext cx="9069120" cy="3285720"/>
          </a:xfrm>
          <a:prstGeom prst="rect">
            <a:avLst/>
          </a:prstGeom>
          <a:noFill/>
          <a:ln w="0">
            <a:noFill/>
          </a:ln>
        </p:spPr>
        <p:txBody>
          <a:bodyPr lIns="0" rIns="0" tIns="0" bIns="0" anchor="t">
            <a:normAutofit/>
          </a:bodyPr>
          <a:p>
            <a:pPr indent="0">
              <a:spcBef>
                <a:spcPts val="1417"/>
              </a:spcBef>
              <a:buNone/>
            </a:pPr>
            <a:endParaRPr b="0" lang="en-AU" sz="3200" strike="noStrike" u="none">
              <a:solidFill>
                <a:srgbClr val="000000"/>
              </a:solidFill>
              <a:effectLst/>
              <a:uFillTx/>
              <a:latin typeface="Arial"/>
            </a:endParaRPr>
          </a:p>
        </p:txBody>
      </p:sp>
      <p:sp>
        <p:nvSpPr>
          <p:cNvPr id="4" name="PlaceHolder 3"/>
          <p:cNvSpPr>
            <a:spLocks noGrp="1"/>
          </p:cNvSpPr>
          <p:nvPr>
            <p:ph type="ftr" idx="1"/>
          </p:nvPr>
        </p:nvSpPr>
        <p:spPr/>
        <p:txBody>
          <a:bodyPr/>
          <a:p>
            <a:r>
              <a:t>Footer</a:t>
            </a:r>
          </a:p>
        </p:txBody>
      </p:sp>
      <p:sp>
        <p:nvSpPr>
          <p:cNvPr id="5" name="PlaceHolder 4"/>
          <p:cNvSpPr>
            <a:spLocks noGrp="1"/>
          </p:cNvSpPr>
          <p:nvPr>
            <p:ph type="sldNum" idx="2"/>
          </p:nvPr>
        </p:nvSpPr>
        <p:spPr/>
        <p:txBody>
          <a:bodyPr/>
          <a:p>
            <a:fld id="{722A589B-0D37-47EB-94C9-A5E0F31BDFFA}" type="slidenum">
              <a:t>&lt;#&gt;</a:t>
            </a:fld>
          </a:p>
        </p:txBody>
      </p:sp>
      <p:sp>
        <p:nvSpPr>
          <p:cNvPr id="6" name="PlaceHolder 5"/>
          <p:cNvSpPr>
            <a:spLocks noGrp="1"/>
          </p:cNvSpPr>
          <p:nvPr>
            <p:ph type="dt" idx="3"/>
          </p:nvPr>
        </p:nvSpPr>
        <p:spPr/>
        <p:txBody>
          <a:bodyPr/>
          <a:p>
            <a:r>
              <a:rPr lang="en-AU"/>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 name="PlaceHolder 1"/>
          <p:cNvSpPr>
            <a:spLocks noGrp="1"/>
          </p:cNvSpPr>
          <p:nvPr>
            <p:ph type="title"/>
          </p:nvPr>
        </p:nvSpPr>
        <p:spPr>
          <a:xfrm>
            <a:off x="504000" y="559440"/>
            <a:ext cx="9069120" cy="274680"/>
          </a:xfrm>
          <a:prstGeom prst="rect">
            <a:avLst/>
          </a:prstGeom>
          <a:noFill/>
          <a:ln w="0">
            <a:noFill/>
          </a:ln>
        </p:spPr>
        <p:txBody>
          <a:bodyPr lIns="0" rIns="0" tIns="0" bIns="0" anchor="ctr">
            <a:spAutoFit/>
          </a:bodyPr>
          <a:p>
            <a:pPr indent="0">
              <a:buNone/>
            </a:pPr>
            <a:r>
              <a:rPr b="0" lang="en-AU" sz="1800" strike="noStrike" u="none">
                <a:solidFill>
                  <a:srgbClr val="000000"/>
                </a:solidFill>
                <a:effectLst/>
                <a:uFillTx/>
                <a:latin typeface="Arial"/>
              </a:rPr>
              <a:t>Click to edit the title text format</a:t>
            </a:r>
            <a:endParaRPr b="0" lang="en-AU" sz="1800" strike="noStrike" u="none">
              <a:solidFill>
                <a:srgbClr val="000000"/>
              </a:solidFill>
              <a:effectLst/>
              <a:uFillTx/>
              <a:latin typeface="Arial"/>
            </a:endParaRPr>
          </a:p>
        </p:txBody>
      </p:sp>
      <p:sp>
        <p:nvSpPr>
          <p:cNvPr id="3" name="PlaceHolder 2"/>
          <p:cNvSpPr>
            <a:spLocks noGrp="1"/>
          </p:cNvSpPr>
          <p:nvPr>
            <p:ph type="body"/>
          </p:nvPr>
        </p:nvSpPr>
        <p:spPr>
          <a:xfrm>
            <a:off x="504000" y="1326600"/>
            <a:ext cx="9069120" cy="32857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AU" sz="1800" strike="noStrike" u="none">
                <a:solidFill>
                  <a:srgbClr val="000000"/>
                </a:solidFill>
                <a:effectLst/>
                <a:uFillTx/>
                <a:latin typeface="Arial"/>
              </a:rPr>
              <a:t>Click to edit the outline text format</a:t>
            </a:r>
            <a:endParaRPr b="0" lang="en-AU"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AU" sz="1800" strike="noStrike" u="none">
                <a:solidFill>
                  <a:srgbClr val="000000"/>
                </a:solidFill>
                <a:effectLst/>
                <a:uFillTx/>
                <a:latin typeface="Arial"/>
              </a:rPr>
              <a:t>Second Outline Level</a:t>
            </a:r>
            <a:endParaRPr b="0" lang="en-AU"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AU" sz="1800" strike="noStrike" u="none">
                <a:solidFill>
                  <a:srgbClr val="000000"/>
                </a:solidFill>
                <a:effectLst/>
                <a:uFillTx/>
                <a:latin typeface="Arial"/>
              </a:rPr>
              <a:t>Third Outline Level</a:t>
            </a:r>
            <a:endParaRPr b="0" lang="en-AU"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AU" sz="1800" strike="noStrike" u="none">
                <a:solidFill>
                  <a:srgbClr val="000000"/>
                </a:solidFill>
                <a:effectLst/>
                <a:uFillTx/>
                <a:latin typeface="Arial"/>
              </a:rPr>
              <a:t>Fourth Outline Level</a:t>
            </a:r>
            <a:endParaRPr b="0" lang="en-AU"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AU" sz="1800" strike="noStrike" u="none">
                <a:solidFill>
                  <a:srgbClr val="000000"/>
                </a:solidFill>
                <a:effectLst/>
                <a:uFillTx/>
                <a:latin typeface="Arial"/>
              </a:rPr>
              <a:t>Fifth Outline Level</a:t>
            </a:r>
            <a:endParaRPr b="0" lang="en-AU"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AU" sz="1800" strike="noStrike" u="none">
                <a:solidFill>
                  <a:srgbClr val="000000"/>
                </a:solidFill>
                <a:effectLst/>
                <a:uFillTx/>
                <a:latin typeface="Arial"/>
              </a:rPr>
              <a:t>Sixth Outline Level</a:t>
            </a:r>
            <a:endParaRPr b="0" lang="en-AU"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AU" sz="1800" strike="noStrike" u="none">
                <a:solidFill>
                  <a:srgbClr val="000000"/>
                </a:solidFill>
                <a:effectLst/>
                <a:uFillTx/>
                <a:latin typeface="Arial"/>
              </a:rPr>
              <a:t>Seventh Outline Level</a:t>
            </a:r>
            <a:endParaRPr b="0" lang="en-AU" sz="1800" strike="noStrike" u="none">
              <a:solidFill>
                <a:srgbClr val="000000"/>
              </a:solidFill>
              <a:effectLst/>
              <a:uFillTx/>
              <a:latin typeface="Arial"/>
            </a:endParaRPr>
          </a:p>
        </p:txBody>
      </p:sp>
      <p:sp>
        <p:nvSpPr>
          <p:cNvPr id="4" name="PlaceHolder 3"/>
          <p:cNvSpPr>
            <a:spLocks noGrp="1"/>
          </p:cNvSpPr>
          <p:nvPr>
            <p:ph type="ftr" idx="1"/>
          </p:nvPr>
        </p:nvSpPr>
        <p:spPr>
          <a:xfrm>
            <a:off x="3447360" y="5165280"/>
            <a:ext cx="3192480" cy="388080"/>
          </a:xfrm>
          <a:prstGeom prst="rect">
            <a:avLst/>
          </a:prstGeom>
          <a:noFill/>
          <a:ln w="0">
            <a:noFill/>
          </a:ln>
        </p:spPr>
        <p:txBody>
          <a:bodyPr lIns="0" rIns="0" tIns="0" bIns="0" anchor="t">
            <a:noAutofit/>
          </a:bodyPr>
          <a:lstStyle>
            <a:lvl1pPr indent="0" algn="ctr">
              <a:lnSpc>
                <a:spcPct val="100000"/>
              </a:lnSpc>
              <a:buNone/>
              <a:tabLst>
                <a:tab algn="l" pos="0"/>
              </a:tabLst>
              <a:defRPr b="0" lang="en-US" sz="1400" strike="noStrike" u="none">
                <a:solidFill>
                  <a:srgbClr val="000000"/>
                </a:solidFill>
                <a:effectLst/>
                <a:uFillTx/>
                <a:latin typeface="Times New Roman"/>
              </a:defRPr>
            </a:lvl1pPr>
          </a:lstStyle>
          <a:p>
            <a:pPr indent="0" algn="ctr">
              <a:lnSpc>
                <a:spcPct val="100000"/>
              </a:lnSpc>
              <a:buNone/>
              <a:tabLst>
                <a:tab algn="l" pos="0"/>
              </a:tabLst>
            </a:pPr>
            <a:r>
              <a:rPr b="0" lang="en-US" sz="1400" strike="noStrike" u="none">
                <a:solidFill>
                  <a:srgbClr val="000000"/>
                </a:solidFill>
                <a:effectLst/>
                <a:uFillTx/>
                <a:latin typeface="Times New Roman"/>
              </a:rPr>
              <a:t>&lt;footer&gt;</a:t>
            </a:r>
            <a:endParaRPr b="0" lang="en-AU" sz="1400" strike="noStrike" u="none">
              <a:solidFill>
                <a:srgbClr val="000000"/>
              </a:solidFill>
              <a:effectLst/>
              <a:uFillTx/>
              <a:latin typeface="Times New Roman"/>
            </a:endParaRPr>
          </a:p>
        </p:txBody>
      </p:sp>
      <p:sp>
        <p:nvSpPr>
          <p:cNvPr id="5" name="PlaceHolder 4"/>
          <p:cNvSpPr>
            <a:spLocks noGrp="1"/>
          </p:cNvSpPr>
          <p:nvPr>
            <p:ph type="sldNum" idx="2"/>
          </p:nvPr>
        </p:nvSpPr>
        <p:spPr>
          <a:xfrm>
            <a:off x="7227360" y="5165280"/>
            <a:ext cx="2345760" cy="388080"/>
          </a:xfrm>
          <a:prstGeom prst="rect">
            <a:avLst/>
          </a:prstGeom>
          <a:noFill/>
          <a:ln w="0">
            <a:noFill/>
          </a:ln>
        </p:spPr>
        <p:txBody>
          <a:bodyPr lIns="0" rIns="0" tIns="0" bIns="0" anchor="t">
            <a:noAutofit/>
          </a:bodyPr>
          <a:lstStyle>
            <a:lvl1pPr indent="0" algn="r">
              <a:lnSpc>
                <a:spcPct val="100000"/>
              </a:lnSpc>
              <a:buNone/>
              <a:tabLst>
                <a:tab algn="l" pos="0"/>
              </a:tabLst>
              <a:defRPr b="0" lang="en-US" sz="1400" strike="noStrike" u="none">
                <a:solidFill>
                  <a:srgbClr val="000000"/>
                </a:solidFill>
                <a:effectLst/>
                <a:uFillTx/>
                <a:latin typeface="Times New Roman"/>
              </a:defRPr>
            </a:lvl1pPr>
          </a:lstStyle>
          <a:p>
            <a:pPr indent="0" algn="r">
              <a:lnSpc>
                <a:spcPct val="100000"/>
              </a:lnSpc>
              <a:buNone/>
              <a:tabLst>
                <a:tab algn="l" pos="0"/>
              </a:tabLst>
            </a:pPr>
            <a:fld id="{2AE08A11-AF3C-4614-9D7B-D78BBEFBE562}" type="slidenum">
              <a:rPr b="0" lang="en-US" sz="1400" strike="noStrike" u="none">
                <a:solidFill>
                  <a:srgbClr val="000000"/>
                </a:solidFill>
                <a:effectLst/>
                <a:uFillTx/>
                <a:latin typeface="Times New Roman"/>
              </a:rPr>
              <a:t>&lt;number&gt;</a:t>
            </a:fld>
            <a:endParaRPr b="0" lang="en-AU" sz="1400" strike="noStrike" u="none">
              <a:solidFill>
                <a:srgbClr val="000000"/>
              </a:solidFill>
              <a:effectLst/>
              <a:uFillTx/>
              <a:latin typeface="Times New Roman"/>
            </a:endParaRPr>
          </a:p>
        </p:txBody>
      </p:sp>
      <p:sp>
        <p:nvSpPr>
          <p:cNvPr id="6" name="PlaceHolder 5"/>
          <p:cNvSpPr>
            <a:spLocks noGrp="1"/>
          </p:cNvSpPr>
          <p:nvPr>
            <p:ph type="dt" idx="3"/>
          </p:nvPr>
        </p:nvSpPr>
        <p:spPr>
          <a:xfrm>
            <a:off x="504000" y="5165280"/>
            <a:ext cx="2345760" cy="388080"/>
          </a:xfrm>
          <a:prstGeom prst="rect">
            <a:avLst/>
          </a:prstGeom>
          <a:noFill/>
          <a:ln w="0">
            <a:noFill/>
          </a:ln>
        </p:spPr>
        <p:txBody>
          <a:bodyPr lIns="0" rIns="0" tIns="0" bIns="0" anchor="t">
            <a:noAutofit/>
          </a:bodyPr>
          <a:lstStyle>
            <a:lvl1pPr indent="0">
              <a:buNone/>
              <a:defRPr b="0" lang="en-AU" sz="1400" strike="noStrike" u="none">
                <a:solidFill>
                  <a:srgbClr val="000000"/>
                </a:solidFill>
                <a:effectLst/>
                <a:uFillTx/>
                <a:latin typeface="Times New Roman"/>
              </a:defRPr>
            </a:lvl1pPr>
          </a:lstStyle>
          <a:p>
            <a:pPr indent="0">
              <a:buNone/>
            </a:pPr>
            <a:r>
              <a:rPr b="0" lang="en-AU" sz="1400" strike="noStrike" u="none">
                <a:solidFill>
                  <a:srgbClr val="000000"/>
                </a:solidFill>
                <a:effectLst/>
                <a:uFillTx/>
                <a:latin typeface="Times New Roman"/>
              </a:rPr>
              <a:t>&lt;date/time&gt;</a:t>
            </a:r>
            <a:endParaRPr b="0" lang="en-AU" sz="1400" strike="noStrike" u="non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649" r:id="rId2"/>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
</Relationships>
</file>

<file path=ppt/slides/_rels/slide8.xml.rels><?xml version="1.0" encoding="UTF-8"?>
<Relationships xmlns="http://schemas.openxmlformats.org/package/2006/relationships"><Relationship Id="rId1" Type="http://schemas.openxmlformats.org/officeDocument/2006/relationships/image" Target="../media/image3.gif"/><Relationship Id="rId2" Type="http://schemas.openxmlformats.org/officeDocument/2006/relationships/image" Target="../media/image4.png"/><Relationship Id="rId3" Type="http://schemas.openxmlformats.org/officeDocument/2006/relationships/slideLayout" Target="../slideLayouts/slideLayout1.xml"/><Relationship Id="rId4"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1.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image" Target="../media/image6.gif"/><Relationship Id="rId3" Type="http://schemas.openxmlformats.org/officeDocument/2006/relationships/slideLayout" Target="../slideLayouts/slideLayout1.xml"/>
</Relationships>
</file>

<file path=ppt/slides/_rels/slide12.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1.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image" Target="../media/image8.gif"/><Relationship Id="rId3" Type="http://schemas.openxmlformats.org/officeDocument/2006/relationships/slideLayout" Target="../slideLayouts/slideLayout1.xml"/><Relationship Id="rId4"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1.xml"/><Relationship Id="rId3"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image" Target="../media/image10.gif"/><Relationship Id="rId3" Type="http://schemas.openxmlformats.org/officeDocument/2006/relationships/slideLayout" Target="../slideLayouts/slideLayout1.xml"/>
</Relationships>
</file>

<file path=ppt/slides/_rels/slide18.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slideLayout" Target="../slideLayouts/slideLayout1.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
</Relationships>
</file>

<file path=ppt/slides/_rels/slide20.xml.rels><?xml version="1.0" encoding="UTF-8"?>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20.xml"/>
</Relationships>
</file>

<file path=ppt/slides/_rels/slide21.xml.rels><?xml version="1.0" encoding="UTF-8"?>
<Relationships xmlns="http://schemas.openxmlformats.org/package/2006/relationships"><Relationship Id="rId1" Type="http://schemas.openxmlformats.org/officeDocument/2006/relationships/image" Target="../media/image12.png"/><Relationship Id="rId2" Type="http://schemas.openxmlformats.org/officeDocument/2006/relationships/slideLayout" Target="../slideLayouts/slideLayout1.xml"/>
</Relationships>
</file>

<file path=ppt/slides/_rels/slide22.xml.rels><?xml version="1.0" encoding="UTF-8"?>
<Relationships xmlns="http://schemas.openxmlformats.org/package/2006/relationships"><Relationship Id="rId1" Type="http://schemas.openxmlformats.org/officeDocument/2006/relationships/image" Target="../media/image13.png"/><Relationship Id="rId2" Type="http://schemas.openxmlformats.org/officeDocument/2006/relationships/slideLayout" Target="../slideLayouts/slideLayout1.xml"/>
</Relationships>
</file>

<file path=ppt/slides/_rels/slide23.xml.rels><?xml version="1.0" encoding="UTF-8"?>
<Relationships xmlns="http://schemas.openxmlformats.org/package/2006/relationships"><Relationship Id="rId1" Type="http://schemas.openxmlformats.org/officeDocument/2006/relationships/image" Target="../media/image14.png"/><Relationship Id="rId2" Type="http://schemas.openxmlformats.org/officeDocument/2006/relationships/slideLayout" Target="../slideLayouts/slideLayout1.xml"/>
</Relationships>
</file>

<file path=ppt/slides/_rels/slide24.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5.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6.xml.rels><?xml version="1.0" encoding="UTF-8"?>
<Relationships xmlns="http://schemas.openxmlformats.org/package/2006/relationships"><Relationship Id="rId1" Type="http://schemas.openxmlformats.org/officeDocument/2006/relationships/image" Target="../media/image15.png"/><Relationship Id="rId2" Type="http://schemas.openxmlformats.org/officeDocument/2006/relationships/slideLayout" Target="../slideLayouts/slideLayout1.xml"/>
</Relationships>
</file>

<file path=ppt/slides/_rels/slide27.xml.rels><?xml version="1.0" encoding="UTF-8"?>
<Relationships xmlns="http://schemas.openxmlformats.org/package/2006/relationships"><Relationship Id="rId1" Type="http://schemas.openxmlformats.org/officeDocument/2006/relationships/image" Target="../media/image16.png"/><Relationship Id="rId2" Type="http://schemas.openxmlformats.org/officeDocument/2006/relationships/slideLayout" Target="../slideLayouts/slideLayout1.xml"/>
</Relationships>
</file>

<file path=ppt/slides/_rels/slide28.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1.png"/><Relationship Id="rId3" Type="http://schemas.openxmlformats.org/officeDocument/2006/relationships/slideLayout" Target="../slideLayouts/slideLayout1.xml"/>
</Relationships>
</file>

<file path=ppt/slides/_rels/slide29.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30.xml.rels><?xml version="1.0" encoding="UTF-8"?>
<Relationships xmlns="http://schemas.openxmlformats.org/package/2006/relationships"><Relationship Id="rId1" Type="http://schemas.openxmlformats.org/officeDocument/2006/relationships/image" Target="../media/image17.png"/><Relationship Id="rId2" Type="http://schemas.openxmlformats.org/officeDocument/2006/relationships/image" Target="../media/image18.gif"/><Relationship Id="rId3" Type="http://schemas.openxmlformats.org/officeDocument/2006/relationships/slideLayout" Target="../slideLayouts/slideLayout1.xml"/>
</Relationships>
</file>

<file path=ppt/slides/_rels/slide31.xml.rels><?xml version="1.0" encoding="UTF-8"?>
<Relationships xmlns="http://schemas.openxmlformats.org/package/2006/relationships"><Relationship Id="rId1" Type="http://schemas.openxmlformats.org/officeDocument/2006/relationships/image" Target="../media/image17.png"/><Relationship Id="rId2" Type="http://schemas.openxmlformats.org/officeDocument/2006/relationships/slideLayout" Target="../slideLayouts/slideLayout1.xml"/>
</Relationships>
</file>

<file path=ppt/slides/_rels/slide3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
</Relationships>
</file>

<file path=ppt/slides/_rels/slide33.xml.rels><?xml version="1.0" encoding="UTF-8"?>
<Relationships xmlns="http://schemas.openxmlformats.org/package/2006/relationships"><Relationship Id="rId1" Type="http://schemas.openxmlformats.org/officeDocument/2006/relationships/slideLayout" Target="../slideLayouts/slideLayout1.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 name="PlaceHolder 1"/>
          <p:cNvSpPr>
            <a:spLocks noGrp="1"/>
          </p:cNvSpPr>
          <p:nvPr>
            <p:ph type="title"/>
          </p:nvPr>
        </p:nvSpPr>
        <p:spPr>
          <a:xfrm>
            <a:off x="468360" y="225000"/>
            <a:ext cx="9069120" cy="1877760"/>
          </a:xfrm>
          <a:prstGeom prst="rect">
            <a:avLst/>
          </a:prstGeom>
          <a:noFill/>
          <a:ln w="0">
            <a:noFill/>
          </a:ln>
        </p:spPr>
        <p:txBody>
          <a:bodyPr lIns="0" rIns="0" tIns="0" bIns="0" anchor="ctr">
            <a:spAutoFit/>
          </a:bodyPr>
          <a:p>
            <a:pPr indent="0" algn="ctr">
              <a:lnSpc>
                <a:spcPct val="100000"/>
              </a:lnSpc>
              <a:buNone/>
              <a:tabLst>
                <a:tab algn="l" pos="0"/>
              </a:tabLst>
            </a:pPr>
            <a:r>
              <a:rPr b="0" lang="en-AU" sz="4400" strike="noStrike" u="none">
                <a:solidFill>
                  <a:srgbClr val="000000"/>
                </a:solidFill>
                <a:effectLst/>
                <a:uFillTx/>
                <a:latin typeface="Arial"/>
              </a:rPr>
              <a:t>Toward an Interpretable Knowledge Tracing Model</a:t>
            </a:r>
            <a:endParaRPr b="0" lang="en-AU" sz="4400" strike="noStrike" u="none">
              <a:solidFill>
                <a:srgbClr val="000000"/>
              </a:solidFill>
              <a:effectLst/>
              <a:uFillTx/>
              <a:latin typeface="Arial"/>
            </a:endParaRPr>
          </a:p>
        </p:txBody>
      </p:sp>
      <p:pic>
        <p:nvPicPr>
          <p:cNvPr id="16" name="" descr=""/>
          <p:cNvPicPr/>
          <p:nvPr/>
        </p:nvPicPr>
        <p:blipFill>
          <a:blip r:embed="rId1"/>
          <a:stretch/>
        </p:blipFill>
        <p:spPr>
          <a:xfrm>
            <a:off x="3416400" y="2237040"/>
            <a:ext cx="3241080" cy="2800440"/>
          </a:xfrm>
          <a:prstGeom prst="rect">
            <a:avLst/>
          </a:prstGeom>
          <a:noFill/>
          <a:ln w="0">
            <a:noFill/>
          </a:ln>
        </p:spPr>
      </p:pic>
      <p:sp>
        <p:nvSpPr>
          <p:cNvPr id="17" name=""/>
          <p:cNvSpPr/>
          <p:nvPr/>
        </p:nvSpPr>
        <p:spPr>
          <a:xfrm>
            <a:off x="2700000" y="3060000"/>
            <a:ext cx="2517480" cy="427680"/>
          </a:xfrm>
          <a:prstGeom prst="rect">
            <a:avLst/>
          </a:prstGeom>
          <a:noFill/>
          <a:ln w="0">
            <a:noFill/>
          </a:ln>
        </p:spPr>
        <p:style>
          <a:lnRef idx="0"/>
          <a:fillRef idx="0"/>
          <a:effectRef idx="0"/>
          <a:fontRef idx="minor"/>
        </p:style>
        <p:txBody>
          <a:bodyPr lIns="90000" rIns="90000" tIns="45000" bIns="45000" anchor="t" anchorCtr="1">
            <a:spAutoFit/>
          </a:bodyPr>
          <a:p>
            <a:pPr algn="ctr">
              <a:lnSpc>
                <a:spcPct val="100000"/>
              </a:lnSpc>
            </a:pPr>
            <a:r>
              <a:rPr b="0" lang="en-AU" sz="2400" strike="noStrike" u="none">
                <a:solidFill>
                  <a:srgbClr val="000000"/>
                </a:solidFill>
                <a:effectLst/>
                <a:highlight>
                  <a:srgbClr val="ffffff"/>
                </a:highlight>
                <a:uFillTx/>
                <a:latin typeface="Arial"/>
                <a:ea typeface="DejaVu Sans"/>
              </a:rPr>
              <a:t>Interpretability</a:t>
            </a:r>
            <a:endParaRPr b="0" lang="en-AU" sz="2400" strike="noStrike" u="none">
              <a:solidFill>
                <a:srgbClr val="000000"/>
              </a:solidFill>
              <a:effectLst/>
              <a:uFillTx/>
              <a:latin typeface="Arial"/>
            </a:endParaRPr>
          </a:p>
        </p:txBody>
      </p:sp>
      <p:sp>
        <p:nvSpPr>
          <p:cNvPr id="18" name=""/>
          <p:cNvSpPr/>
          <p:nvPr/>
        </p:nvSpPr>
        <p:spPr>
          <a:xfrm>
            <a:off x="5220000" y="3240000"/>
            <a:ext cx="1977480" cy="767520"/>
          </a:xfrm>
          <a:prstGeom prst="rect">
            <a:avLst/>
          </a:prstGeom>
          <a:noFill/>
          <a:ln w="0">
            <a:noFill/>
          </a:ln>
        </p:spPr>
        <p:style>
          <a:lnRef idx="0"/>
          <a:fillRef idx="0"/>
          <a:effectRef idx="0"/>
          <a:fontRef idx="minor"/>
        </p:style>
        <p:txBody>
          <a:bodyPr lIns="90000" rIns="90000" tIns="45000" bIns="45000" anchor="t" anchorCtr="1">
            <a:spAutoFit/>
          </a:bodyPr>
          <a:p>
            <a:pPr algn="ctr">
              <a:lnSpc>
                <a:spcPct val="100000"/>
              </a:lnSpc>
            </a:pPr>
            <a:r>
              <a:rPr b="0" lang="en-AU" sz="2400" strike="noStrike" u="none">
                <a:solidFill>
                  <a:srgbClr val="000000"/>
                </a:solidFill>
                <a:effectLst/>
                <a:highlight>
                  <a:srgbClr val="ffffff"/>
                </a:highlight>
                <a:uFillTx/>
                <a:latin typeface="Arial"/>
                <a:ea typeface="DejaVu Sans"/>
              </a:rPr>
              <a:t>Performance</a:t>
            </a:r>
            <a:endParaRPr b="0" lang="en-AU" sz="2400" strike="noStrike" u="none">
              <a:solidFill>
                <a:srgbClr val="000000"/>
              </a:solidFill>
              <a:effectLst/>
              <a:uFillTx/>
              <a:latin typeface="Arial"/>
            </a:endParaRPr>
          </a:p>
          <a:p>
            <a:pPr algn="ctr">
              <a:lnSpc>
                <a:spcPct val="100000"/>
              </a:lnSpc>
            </a:pPr>
            <a:r>
              <a:rPr b="0" lang="en-AU" sz="2400" strike="noStrike" u="none">
                <a:solidFill>
                  <a:srgbClr val="000000"/>
                </a:solidFill>
                <a:effectLst/>
                <a:highlight>
                  <a:srgbClr val="ffffff"/>
                </a:highlight>
                <a:uFillTx/>
                <a:latin typeface="Arial"/>
                <a:ea typeface="DejaVu Sans"/>
              </a:rPr>
              <a:t>Flexibility</a:t>
            </a:r>
            <a:endParaRPr b="0" lang="en-AU" sz="2400" strike="noStrike" u="none">
              <a:solidFill>
                <a:srgbClr val="000000"/>
              </a:solidFill>
              <a:effectLst/>
              <a:uFillTx/>
              <a:latin typeface="Arial"/>
            </a:endParaRPr>
          </a:p>
        </p:txBody>
      </p:sp>
      <p:sp>
        <p:nvSpPr>
          <p:cNvPr id="19" name=""/>
          <p:cNvSpPr/>
          <p:nvPr/>
        </p:nvSpPr>
        <p:spPr>
          <a:xfrm>
            <a:off x="7740000" y="4680000"/>
            <a:ext cx="1977480" cy="717480"/>
          </a:xfrm>
          <a:prstGeom prst="rect">
            <a:avLst/>
          </a:prstGeom>
          <a:noFill/>
          <a:ln w="0">
            <a:noFill/>
          </a:ln>
        </p:spPr>
        <p:style>
          <a:lnRef idx="0"/>
          <a:fillRef idx="0"/>
          <a:effectRef idx="0"/>
          <a:fontRef idx="minor"/>
        </p:style>
        <p:txBody>
          <a:bodyPr lIns="90000" rIns="90000" tIns="45000" bIns="45000" anchor="t" anchorCtr="1">
            <a:spAutoFit/>
          </a:bodyPr>
          <a:p>
            <a:pPr algn="ctr">
              <a:lnSpc>
                <a:spcPct val="100000"/>
              </a:lnSpc>
            </a:pPr>
            <a:r>
              <a:rPr b="0" lang="en-US" sz="1200" strike="noStrike" u="none">
                <a:solidFill>
                  <a:srgbClr val="000000"/>
                </a:solidFill>
                <a:effectLst/>
                <a:uFillTx/>
                <a:latin typeface="Arial"/>
                <a:ea typeface="DejaVu Sans"/>
              </a:rPr>
              <a:t>Haoting Chen</a:t>
            </a:r>
            <a:endParaRPr b="0" lang="en-AU" sz="1200" strike="noStrike" u="none">
              <a:solidFill>
                <a:srgbClr val="000000"/>
              </a:solidFill>
              <a:effectLst/>
              <a:uFillTx/>
              <a:latin typeface="Arial"/>
            </a:endParaRPr>
          </a:p>
          <a:p>
            <a:pPr algn="ctr">
              <a:lnSpc>
                <a:spcPct val="100000"/>
              </a:lnSpc>
            </a:pPr>
            <a:r>
              <a:rPr b="0" lang="en-US" sz="1200" strike="noStrike" u="none">
                <a:solidFill>
                  <a:srgbClr val="000000"/>
                </a:solidFill>
                <a:effectLst/>
                <a:uFillTx/>
                <a:latin typeface="Arial"/>
                <a:ea typeface="DejaVu Sans"/>
              </a:rPr>
              <a:t>u7227871@anu.edu.au</a:t>
            </a:r>
            <a:endParaRPr b="0" lang="en-AU" sz="1200" strike="noStrike" u="none">
              <a:solidFill>
                <a:srgbClr val="000000"/>
              </a:solidFill>
              <a:effectLst/>
              <a:uFillTx/>
              <a:latin typeface="Arial"/>
            </a:endParaRPr>
          </a:p>
        </p:txBody>
      </p:sp>
      <p:sp>
        <p:nvSpPr>
          <p:cNvPr id="20" name=""/>
          <p:cNvSpPr/>
          <p:nvPr/>
        </p:nvSpPr>
        <p:spPr>
          <a:xfrm>
            <a:off x="360000" y="4500000"/>
            <a:ext cx="2697480" cy="79776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r>
              <a:rPr b="0" lang="en-AU" sz="3600" strike="noStrike" u="none">
                <a:solidFill>
                  <a:srgbClr val="000000"/>
                </a:solidFill>
                <a:effectLst/>
                <a:uFillTx/>
                <a:latin typeface="Arial"/>
                <a:ea typeface="DejaVu Sans"/>
              </a:rPr>
              <a:t>(Proposal)</a:t>
            </a:r>
            <a:endParaRPr b="0" lang="en-AU" sz="3600" strike="noStrike" u="none">
              <a:solidFill>
                <a:srgbClr val="000000"/>
              </a:solidFill>
              <a:effectLst/>
              <a:uFillTx/>
              <a:latin typeface="Arial"/>
            </a:endParaRPr>
          </a:p>
        </p:txBody>
      </p:sp>
      <p:sp>
        <p:nvSpPr>
          <p:cNvPr id="3" name="PlaceHolder 2"/>
          <p:cNvSpPr>
            <a:spLocks noGrp="1"/>
          </p:cNvSpPr>
          <p:nvPr>
            <p:ph type="sldNum" idx="2"/>
          </p:nvPr>
        </p:nvSpPr>
        <p:spPr/>
        <p:txBody>
          <a:bodyPr/>
          <a:p>
            <a:fld id="{8D6395BF-F865-4E43-B1B4-D530CBEDE533}" type="slidenum">
              <a:t>1</a:t>
            </a:fld>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 name="PlaceHolder 1"/>
          <p:cNvSpPr>
            <a:spLocks noGrp="1"/>
          </p:cNvSpPr>
          <p:nvPr>
            <p:ph type="title"/>
          </p:nvPr>
        </p:nvSpPr>
        <p:spPr>
          <a:xfrm>
            <a:off x="504000" y="131040"/>
            <a:ext cx="9069120" cy="948960"/>
          </a:xfrm>
          <a:prstGeom prst="rect">
            <a:avLst/>
          </a:prstGeom>
          <a:noFill/>
          <a:ln w="0">
            <a:noFill/>
          </a:ln>
        </p:spPr>
        <p:txBody>
          <a:bodyPr lIns="0" rIns="0" tIns="0" bIns="0" anchor="ctr">
            <a:spAutoFit/>
          </a:bodyPr>
          <a:p>
            <a:pPr indent="0" algn="ctr">
              <a:lnSpc>
                <a:spcPct val="100000"/>
              </a:lnSpc>
              <a:buNone/>
              <a:tabLst>
                <a:tab algn="l" pos="0"/>
              </a:tabLst>
            </a:pPr>
            <a:r>
              <a:rPr b="0" lang="en-US" sz="4400" strike="noStrike" u="none">
                <a:solidFill>
                  <a:srgbClr val="000000"/>
                </a:solidFill>
                <a:effectLst/>
                <a:uFillTx/>
                <a:latin typeface="Arial"/>
              </a:rPr>
              <a:t>Contents</a:t>
            </a:r>
            <a:endParaRPr b="0" lang="en-AU" sz="4400" strike="noStrike" u="none">
              <a:solidFill>
                <a:srgbClr val="000000"/>
              </a:solidFill>
              <a:effectLst/>
              <a:uFillTx/>
              <a:latin typeface="Arial"/>
            </a:endParaRPr>
          </a:p>
        </p:txBody>
      </p:sp>
      <p:sp>
        <p:nvSpPr>
          <p:cNvPr id="22" name="PlaceHolder 2"/>
          <p:cNvSpPr>
            <a:spLocks noGrp="1"/>
          </p:cNvSpPr>
          <p:nvPr>
            <p:ph/>
          </p:nvPr>
        </p:nvSpPr>
        <p:spPr>
          <a:xfrm>
            <a:off x="540000" y="1260000"/>
            <a:ext cx="6333480" cy="4070880"/>
          </a:xfrm>
          <a:prstGeom prst="rect">
            <a:avLst/>
          </a:prstGeom>
          <a:noFill/>
          <a:ln w="0">
            <a:noFill/>
          </a:ln>
        </p:spPr>
        <p:txBody>
          <a:bodyPr lIns="0" rIns="0" tIns="0" bIns="0" anchor="t">
            <a:normAutofit lnSpcReduction="9999"/>
          </a:bodyPr>
          <a:p>
            <a:pPr marL="432000" indent="-324000">
              <a:lnSpc>
                <a:spcPct val="100000"/>
              </a:lnSpc>
              <a:spcBef>
                <a:spcPts val="1417"/>
              </a:spcBef>
              <a:buClr>
                <a:srgbClr val="000000"/>
              </a:buClr>
              <a:buSzPct val="45000"/>
              <a:buFont typeface="Wingdings" charset="2"/>
              <a:buChar char=""/>
            </a:pPr>
            <a:r>
              <a:rPr b="0" lang="en-US" sz="1500" strike="noStrike" u="none">
                <a:solidFill>
                  <a:srgbClr val="000000"/>
                </a:solidFill>
                <a:effectLst/>
                <a:uFillTx/>
                <a:latin typeface="Arial"/>
              </a:rPr>
              <a:t>Knowledge Tracing: Problem Definition</a:t>
            </a:r>
            <a:endParaRPr b="0" lang="en-AU" sz="1500" strike="noStrike" u="none">
              <a:solidFill>
                <a:srgbClr val="000000"/>
              </a:solidFill>
              <a:effectLst/>
              <a:uFillTx/>
              <a:latin typeface="Arial"/>
            </a:endParaRPr>
          </a:p>
          <a:p>
            <a:pPr marL="432000" indent="-324000">
              <a:lnSpc>
                <a:spcPct val="100000"/>
              </a:lnSpc>
              <a:spcBef>
                <a:spcPts val="1417"/>
              </a:spcBef>
              <a:buClr>
                <a:srgbClr val="000000"/>
              </a:buClr>
              <a:buSzPct val="45000"/>
              <a:buFont typeface="Wingdings" charset="2"/>
              <a:buChar char=""/>
            </a:pPr>
            <a:r>
              <a:rPr b="0" lang="en-US" sz="1500" strike="noStrike" u="none">
                <a:solidFill>
                  <a:srgbClr val="000000"/>
                </a:solidFill>
                <a:effectLst/>
                <a:uFillTx/>
                <a:latin typeface="Arial"/>
              </a:rPr>
              <a:t>Knowledge Tracing Process: A High Level View</a:t>
            </a:r>
            <a:endParaRPr b="0" lang="en-AU" sz="1500" strike="noStrike" u="none">
              <a:solidFill>
                <a:srgbClr val="000000"/>
              </a:solidFill>
              <a:effectLst/>
              <a:uFillTx/>
              <a:latin typeface="Arial"/>
            </a:endParaRPr>
          </a:p>
          <a:p>
            <a:pPr marL="432000" indent="-324000">
              <a:lnSpc>
                <a:spcPct val="100000"/>
              </a:lnSpc>
              <a:spcBef>
                <a:spcPts val="1417"/>
              </a:spcBef>
              <a:buClr>
                <a:srgbClr val="000000"/>
              </a:buClr>
              <a:buSzPct val="45000"/>
              <a:buFont typeface="Wingdings" charset="2"/>
              <a:buChar char=""/>
            </a:pPr>
            <a:r>
              <a:rPr b="0" lang="en-US" sz="1500" strike="noStrike" u="none">
                <a:solidFill>
                  <a:srgbClr val="000000"/>
                </a:solidFill>
                <a:effectLst/>
                <a:uFillTx/>
                <a:latin typeface="Arial"/>
              </a:rPr>
              <a:t>Typical Types of Knowledge Tracing Models</a:t>
            </a:r>
            <a:endParaRPr b="0" lang="en-AU" sz="1500" strike="noStrike" u="none">
              <a:solidFill>
                <a:srgbClr val="000000"/>
              </a:solidFill>
              <a:effectLst/>
              <a:uFillTx/>
              <a:latin typeface="Arial"/>
            </a:endParaRPr>
          </a:p>
          <a:p>
            <a:pPr lvl="1" marL="864000" indent="-324000">
              <a:lnSpc>
                <a:spcPct val="100000"/>
              </a:lnSpc>
              <a:spcBef>
                <a:spcPts val="1134"/>
              </a:spcBef>
              <a:buClr>
                <a:srgbClr val="000000"/>
              </a:buClr>
              <a:buSzPct val="75000"/>
              <a:buFont typeface="Symbol" charset="2"/>
              <a:buChar char=""/>
            </a:pPr>
            <a:r>
              <a:rPr b="0" lang="en-US" sz="1500" strike="noStrike" u="none">
                <a:solidFill>
                  <a:srgbClr val="000000"/>
                </a:solidFill>
                <a:effectLst/>
                <a:uFillTx/>
                <a:latin typeface="Arial"/>
              </a:rPr>
              <a:t>Graph Neural Network (GNN)</a:t>
            </a:r>
            <a:endParaRPr b="0" lang="en-AU" sz="1500" strike="noStrike" u="none">
              <a:solidFill>
                <a:srgbClr val="000000"/>
              </a:solidFill>
              <a:effectLst/>
              <a:uFillTx/>
              <a:latin typeface="Arial"/>
            </a:endParaRPr>
          </a:p>
          <a:p>
            <a:pPr lvl="1" marL="864000" indent="-324000">
              <a:lnSpc>
                <a:spcPct val="100000"/>
              </a:lnSpc>
              <a:spcBef>
                <a:spcPts val="1134"/>
              </a:spcBef>
              <a:buClr>
                <a:srgbClr val="000000"/>
              </a:buClr>
              <a:buSzPct val="75000"/>
              <a:buFont typeface="Symbol" charset="2"/>
              <a:buChar char=""/>
            </a:pPr>
            <a:r>
              <a:rPr b="0" lang="en-US" sz="1500" strike="noStrike" u="none">
                <a:solidFill>
                  <a:srgbClr val="000000"/>
                </a:solidFill>
                <a:effectLst/>
                <a:uFillTx/>
                <a:latin typeface="Arial"/>
              </a:rPr>
              <a:t>Key-Value Memory Network (KVMN)    </a:t>
            </a:r>
            <a:endParaRPr b="0" lang="en-AU" sz="1500" strike="noStrike" u="none">
              <a:solidFill>
                <a:srgbClr val="000000"/>
              </a:solidFill>
              <a:effectLst/>
              <a:uFillTx/>
              <a:latin typeface="Arial"/>
            </a:endParaRPr>
          </a:p>
          <a:p>
            <a:pPr lvl="1" marL="864000" indent="-324000">
              <a:lnSpc>
                <a:spcPct val="100000"/>
              </a:lnSpc>
              <a:spcBef>
                <a:spcPts val="1134"/>
              </a:spcBef>
              <a:buClr>
                <a:srgbClr val="000000"/>
              </a:buClr>
              <a:buSzPct val="75000"/>
              <a:buFont typeface="Symbol" charset="2"/>
              <a:buChar char=""/>
            </a:pPr>
            <a:r>
              <a:rPr b="0" lang="en-US" sz="1500" strike="noStrike" u="none">
                <a:solidFill>
                  <a:srgbClr val="000000"/>
                </a:solidFill>
                <a:effectLst/>
                <a:uFillTx/>
                <a:latin typeface="Arial"/>
              </a:rPr>
              <a:t>Recurrent Neural Network (RNN)</a:t>
            </a:r>
            <a:endParaRPr b="0" lang="en-AU" sz="1500" strike="noStrike" u="none">
              <a:solidFill>
                <a:srgbClr val="000000"/>
              </a:solidFill>
              <a:effectLst/>
              <a:uFillTx/>
              <a:latin typeface="Arial"/>
            </a:endParaRPr>
          </a:p>
          <a:p>
            <a:pPr lvl="1" marL="864000" indent="-324000">
              <a:lnSpc>
                <a:spcPct val="100000"/>
              </a:lnSpc>
              <a:spcBef>
                <a:spcPts val="1134"/>
              </a:spcBef>
              <a:buClr>
                <a:srgbClr val="000000"/>
              </a:buClr>
              <a:buSzPct val="75000"/>
              <a:buFont typeface="Symbol" charset="2"/>
              <a:buChar char=""/>
            </a:pPr>
            <a:r>
              <a:rPr b="0" lang="en-US" sz="1500" strike="noStrike" u="none">
                <a:solidFill>
                  <a:srgbClr val="000000"/>
                </a:solidFill>
                <a:effectLst/>
                <a:uFillTx/>
                <a:latin typeface="Arial"/>
              </a:rPr>
              <a:t>Transformers</a:t>
            </a:r>
            <a:endParaRPr b="0" lang="en-AU" sz="1500" strike="noStrike" u="none">
              <a:solidFill>
                <a:srgbClr val="000000"/>
              </a:solidFill>
              <a:effectLst/>
              <a:uFillTx/>
              <a:latin typeface="Arial"/>
            </a:endParaRPr>
          </a:p>
          <a:p>
            <a:pPr marL="432000" indent="-324000">
              <a:lnSpc>
                <a:spcPct val="100000"/>
              </a:lnSpc>
              <a:spcBef>
                <a:spcPts val="1417"/>
              </a:spcBef>
              <a:buClr>
                <a:srgbClr val="000000"/>
              </a:buClr>
              <a:buSzPct val="45000"/>
              <a:buFont typeface="Wingdings" charset="2"/>
              <a:buChar char=""/>
            </a:pPr>
            <a:r>
              <a:rPr b="0" lang="en-US" sz="1500" strike="noStrike" u="none">
                <a:solidFill>
                  <a:srgbClr val="000000"/>
                </a:solidFill>
                <a:effectLst/>
                <a:uFillTx/>
                <a:latin typeface="Arial"/>
              </a:rPr>
              <a:t>Research Gaps</a:t>
            </a:r>
            <a:endParaRPr b="0" lang="en-AU" sz="1500" strike="noStrike" u="none">
              <a:solidFill>
                <a:srgbClr val="000000"/>
              </a:solidFill>
              <a:effectLst/>
              <a:uFillTx/>
              <a:latin typeface="Arial"/>
            </a:endParaRPr>
          </a:p>
          <a:p>
            <a:pPr marL="432000" indent="-324000">
              <a:lnSpc>
                <a:spcPct val="100000"/>
              </a:lnSpc>
              <a:spcBef>
                <a:spcPts val="1417"/>
              </a:spcBef>
              <a:buClr>
                <a:srgbClr val="000000"/>
              </a:buClr>
              <a:buSzPct val="45000"/>
              <a:buFont typeface="Wingdings" charset="2"/>
              <a:buChar char=""/>
            </a:pPr>
            <a:r>
              <a:rPr b="0" lang="en-US" sz="1500" strike="noStrike" u="none">
                <a:solidFill>
                  <a:srgbClr val="000000"/>
                </a:solidFill>
                <a:effectLst/>
                <a:uFillTx/>
                <a:latin typeface="Arial"/>
              </a:rPr>
              <a:t>Research Question</a:t>
            </a:r>
            <a:endParaRPr b="0" lang="en-AU" sz="1500" strike="noStrike" u="none">
              <a:solidFill>
                <a:srgbClr val="000000"/>
              </a:solidFill>
              <a:effectLst/>
              <a:uFillTx/>
              <a:latin typeface="Arial"/>
            </a:endParaRPr>
          </a:p>
          <a:p>
            <a:pPr marL="432000" indent="-324000">
              <a:lnSpc>
                <a:spcPct val="100000"/>
              </a:lnSpc>
              <a:spcBef>
                <a:spcPts val="1417"/>
              </a:spcBef>
              <a:buClr>
                <a:srgbClr val="000000"/>
              </a:buClr>
              <a:buSzPct val="45000"/>
              <a:buFont typeface="Wingdings" charset="2"/>
              <a:buChar char=""/>
            </a:pPr>
            <a:r>
              <a:rPr b="0" lang="en-US" sz="1500" strike="noStrike" u="none">
                <a:solidFill>
                  <a:srgbClr val="000000"/>
                </a:solidFill>
                <a:effectLst/>
                <a:uFillTx/>
                <a:latin typeface="Arial"/>
              </a:rPr>
              <a:t>Research Plan</a:t>
            </a:r>
            <a:endParaRPr b="0" lang="en-AU" sz="1500" strike="noStrike" u="none">
              <a:solidFill>
                <a:srgbClr val="000000"/>
              </a:solidFill>
              <a:effectLst/>
              <a:uFillTx/>
              <a:latin typeface="Arial"/>
            </a:endParaRPr>
          </a:p>
          <a:p>
            <a:pPr marL="432000" indent="-324000">
              <a:lnSpc>
                <a:spcPct val="100000"/>
              </a:lnSpc>
              <a:spcBef>
                <a:spcPts val="1417"/>
              </a:spcBef>
              <a:buClr>
                <a:srgbClr val="000000"/>
              </a:buClr>
              <a:buSzPct val="45000"/>
              <a:buFont typeface="Wingdings" charset="2"/>
              <a:buChar char=""/>
            </a:pPr>
            <a:r>
              <a:rPr b="0" lang="en-US" sz="1500" strike="noStrike" u="none">
                <a:solidFill>
                  <a:srgbClr val="000000"/>
                </a:solidFill>
                <a:effectLst/>
                <a:uFillTx/>
                <a:latin typeface="Arial"/>
              </a:rPr>
              <a:t>Bonus Slides</a:t>
            </a:r>
            <a:endParaRPr b="0" lang="en-AU" sz="1500" strike="noStrike" u="none">
              <a:solidFill>
                <a:srgbClr val="000000"/>
              </a:solidFill>
              <a:effectLst/>
              <a:uFillTx/>
              <a:latin typeface="Arial"/>
            </a:endParaRPr>
          </a:p>
        </p:txBody>
      </p:sp>
      <p:sp>
        <p:nvSpPr>
          <p:cNvPr id="23" name="PlaceHolder 3"/>
          <p:cNvSpPr>
            <a:spLocks noGrp="1"/>
          </p:cNvSpPr>
          <p:nvPr>
            <p:ph/>
          </p:nvPr>
        </p:nvSpPr>
        <p:spPr>
          <a:xfrm>
            <a:off x="7200000" y="1260000"/>
            <a:ext cx="1437480" cy="4070880"/>
          </a:xfrm>
          <a:prstGeom prst="rect">
            <a:avLst/>
          </a:prstGeom>
          <a:noFill/>
          <a:ln w="0">
            <a:noFill/>
          </a:ln>
        </p:spPr>
        <p:txBody>
          <a:bodyPr lIns="0" rIns="0" tIns="0" bIns="0" anchor="t">
            <a:normAutofit lnSpcReduction="9999"/>
          </a:bodyPr>
          <a:p>
            <a:pPr marL="432000" indent="0">
              <a:lnSpc>
                <a:spcPct val="100000"/>
              </a:lnSpc>
              <a:spcBef>
                <a:spcPts val="1417"/>
              </a:spcBef>
              <a:buNone/>
              <a:tabLst>
                <a:tab algn="l" pos="0"/>
              </a:tabLst>
            </a:pPr>
            <a:r>
              <a:rPr b="0" lang="en-US" sz="1600" strike="noStrike" u="none">
                <a:solidFill>
                  <a:srgbClr val="000000"/>
                </a:solidFill>
                <a:effectLst/>
                <a:uFillTx/>
                <a:latin typeface="Arial"/>
              </a:rPr>
              <a:t>(pg. 4 )</a:t>
            </a:r>
            <a:endParaRPr b="0" lang="en-AU" sz="1600" strike="noStrike" u="none">
              <a:solidFill>
                <a:srgbClr val="000000"/>
              </a:solidFill>
              <a:effectLst/>
              <a:uFillTx/>
              <a:latin typeface="Arial"/>
            </a:endParaRPr>
          </a:p>
          <a:p>
            <a:pPr marL="432000" indent="0">
              <a:lnSpc>
                <a:spcPct val="100000"/>
              </a:lnSpc>
              <a:spcBef>
                <a:spcPts val="1417"/>
              </a:spcBef>
              <a:buNone/>
              <a:tabLst>
                <a:tab algn="l" pos="0"/>
              </a:tabLst>
            </a:pPr>
            <a:r>
              <a:rPr b="0" lang="en-US" sz="1600" strike="noStrike" u="none">
                <a:solidFill>
                  <a:srgbClr val="000000"/>
                </a:solidFill>
                <a:effectLst/>
                <a:uFillTx/>
                <a:latin typeface="Arial"/>
              </a:rPr>
              <a:t>(pg. 5 )</a:t>
            </a:r>
            <a:endParaRPr b="0" lang="en-AU" sz="1600" strike="noStrike" u="none">
              <a:solidFill>
                <a:srgbClr val="000000"/>
              </a:solidFill>
              <a:effectLst/>
              <a:uFillTx/>
              <a:latin typeface="Arial"/>
            </a:endParaRPr>
          </a:p>
          <a:p>
            <a:pPr marL="432000" indent="0">
              <a:lnSpc>
                <a:spcPct val="100000"/>
              </a:lnSpc>
              <a:spcBef>
                <a:spcPts val="1417"/>
              </a:spcBef>
              <a:buNone/>
              <a:tabLst>
                <a:tab algn="l" pos="0"/>
              </a:tabLst>
            </a:pPr>
            <a:endParaRPr b="0" lang="en-AU" sz="1600" strike="noStrike" u="none">
              <a:solidFill>
                <a:srgbClr val="000000"/>
              </a:solidFill>
              <a:effectLst/>
              <a:uFillTx/>
              <a:latin typeface="Arial"/>
            </a:endParaRPr>
          </a:p>
          <a:p>
            <a:pPr marL="432000" indent="0">
              <a:lnSpc>
                <a:spcPct val="100000"/>
              </a:lnSpc>
              <a:spcBef>
                <a:spcPts val="1417"/>
              </a:spcBef>
              <a:buNone/>
              <a:tabLst>
                <a:tab algn="l" pos="0"/>
              </a:tabLst>
            </a:pPr>
            <a:r>
              <a:rPr b="0" lang="en-US" sz="1600" strike="noStrike" u="none">
                <a:solidFill>
                  <a:srgbClr val="000000"/>
                </a:solidFill>
                <a:effectLst/>
                <a:uFillTx/>
                <a:latin typeface="Arial"/>
              </a:rPr>
              <a:t>(pg. 8 )</a:t>
            </a:r>
            <a:endParaRPr b="0" lang="en-AU" sz="1600" strike="noStrike" u="none">
              <a:solidFill>
                <a:srgbClr val="000000"/>
              </a:solidFill>
              <a:effectLst/>
              <a:uFillTx/>
              <a:latin typeface="Arial"/>
            </a:endParaRPr>
          </a:p>
          <a:p>
            <a:pPr marL="432000" indent="0">
              <a:lnSpc>
                <a:spcPct val="100000"/>
              </a:lnSpc>
              <a:spcBef>
                <a:spcPts val="1417"/>
              </a:spcBef>
              <a:buNone/>
              <a:tabLst>
                <a:tab algn="l" pos="0"/>
              </a:tabLst>
            </a:pPr>
            <a:r>
              <a:rPr b="0" lang="en-US" sz="1600" strike="noStrike" u="none">
                <a:solidFill>
                  <a:srgbClr val="000000"/>
                </a:solidFill>
                <a:effectLst/>
                <a:uFillTx/>
                <a:latin typeface="Arial"/>
              </a:rPr>
              <a:t>(pg.11)</a:t>
            </a:r>
            <a:endParaRPr b="0" lang="en-AU" sz="1600" strike="noStrike" u="none">
              <a:solidFill>
                <a:srgbClr val="000000"/>
              </a:solidFill>
              <a:effectLst/>
              <a:uFillTx/>
              <a:latin typeface="Arial"/>
            </a:endParaRPr>
          </a:p>
          <a:p>
            <a:pPr marL="432000" indent="0">
              <a:lnSpc>
                <a:spcPct val="100000"/>
              </a:lnSpc>
              <a:spcBef>
                <a:spcPts val="1417"/>
              </a:spcBef>
              <a:buNone/>
              <a:tabLst>
                <a:tab algn="l" pos="0"/>
              </a:tabLst>
            </a:pPr>
            <a:r>
              <a:rPr b="0" lang="en-US" sz="1600" strike="noStrike" u="none">
                <a:solidFill>
                  <a:srgbClr val="000000"/>
                </a:solidFill>
                <a:effectLst/>
                <a:uFillTx/>
                <a:latin typeface="Arial"/>
              </a:rPr>
              <a:t>(pg.14)</a:t>
            </a:r>
            <a:endParaRPr b="0" lang="en-AU" sz="1600" strike="noStrike" u="none">
              <a:solidFill>
                <a:srgbClr val="000000"/>
              </a:solidFill>
              <a:effectLst/>
              <a:uFillTx/>
              <a:latin typeface="Arial"/>
            </a:endParaRPr>
          </a:p>
          <a:p>
            <a:pPr marL="432000" indent="0">
              <a:lnSpc>
                <a:spcPct val="100000"/>
              </a:lnSpc>
              <a:spcBef>
                <a:spcPts val="1417"/>
              </a:spcBef>
              <a:buNone/>
              <a:tabLst>
                <a:tab algn="l" pos="0"/>
              </a:tabLst>
            </a:pPr>
            <a:r>
              <a:rPr b="0" lang="en-US" sz="1600" strike="noStrike" u="none">
                <a:solidFill>
                  <a:srgbClr val="000000"/>
                </a:solidFill>
                <a:effectLst/>
                <a:uFillTx/>
                <a:latin typeface="Arial"/>
              </a:rPr>
              <a:t>(pg.17)</a:t>
            </a:r>
            <a:endParaRPr b="0" lang="en-AU" sz="1600" strike="noStrike" u="none">
              <a:solidFill>
                <a:srgbClr val="000000"/>
              </a:solidFill>
              <a:effectLst/>
              <a:uFillTx/>
              <a:latin typeface="Arial"/>
            </a:endParaRPr>
          </a:p>
          <a:p>
            <a:pPr marL="432000" indent="0">
              <a:lnSpc>
                <a:spcPct val="100000"/>
              </a:lnSpc>
              <a:spcBef>
                <a:spcPts val="1417"/>
              </a:spcBef>
              <a:buNone/>
              <a:tabLst>
                <a:tab algn="l" pos="0"/>
              </a:tabLst>
            </a:pPr>
            <a:r>
              <a:rPr b="0" lang="en-US" sz="1600" strike="noStrike" u="none">
                <a:solidFill>
                  <a:srgbClr val="000000"/>
                </a:solidFill>
                <a:effectLst/>
                <a:uFillTx/>
                <a:latin typeface="Arial"/>
              </a:rPr>
              <a:t>(pg.20)</a:t>
            </a:r>
            <a:endParaRPr b="0" lang="en-AU" sz="1600" strike="noStrike" u="none">
              <a:solidFill>
                <a:srgbClr val="000000"/>
              </a:solidFill>
              <a:effectLst/>
              <a:uFillTx/>
              <a:latin typeface="Arial"/>
            </a:endParaRPr>
          </a:p>
          <a:p>
            <a:pPr marL="432000" indent="0">
              <a:lnSpc>
                <a:spcPct val="100000"/>
              </a:lnSpc>
              <a:spcBef>
                <a:spcPts val="1417"/>
              </a:spcBef>
              <a:buNone/>
              <a:tabLst>
                <a:tab algn="l" pos="0"/>
              </a:tabLst>
            </a:pPr>
            <a:r>
              <a:rPr b="0" lang="en-US" sz="1600" strike="noStrike" u="none">
                <a:solidFill>
                  <a:srgbClr val="000000"/>
                </a:solidFill>
                <a:effectLst/>
                <a:uFillTx/>
                <a:latin typeface="Arial"/>
              </a:rPr>
              <a:t>(pg.24)</a:t>
            </a:r>
            <a:endParaRPr b="0" lang="en-AU" sz="1600" strike="noStrike" u="none">
              <a:solidFill>
                <a:srgbClr val="000000"/>
              </a:solidFill>
              <a:effectLst/>
              <a:uFillTx/>
              <a:latin typeface="Arial"/>
            </a:endParaRPr>
          </a:p>
          <a:p>
            <a:pPr marL="432000" indent="0">
              <a:lnSpc>
                <a:spcPct val="100000"/>
              </a:lnSpc>
              <a:spcBef>
                <a:spcPts val="1417"/>
              </a:spcBef>
              <a:buNone/>
              <a:tabLst>
                <a:tab algn="l" pos="0"/>
              </a:tabLst>
            </a:pPr>
            <a:r>
              <a:rPr b="0" lang="en-US" sz="1600" strike="noStrike" u="none">
                <a:solidFill>
                  <a:srgbClr val="000000"/>
                </a:solidFill>
                <a:effectLst/>
                <a:uFillTx/>
                <a:latin typeface="Arial"/>
              </a:rPr>
              <a:t>(pg.25)</a:t>
            </a:r>
            <a:endParaRPr b="0" lang="en-AU" sz="1600" strike="noStrike" u="none">
              <a:solidFill>
                <a:srgbClr val="000000"/>
              </a:solidFill>
              <a:effectLst/>
              <a:uFillTx/>
              <a:latin typeface="Arial"/>
            </a:endParaRPr>
          </a:p>
          <a:p>
            <a:pPr marL="432000" indent="0">
              <a:lnSpc>
                <a:spcPct val="100000"/>
              </a:lnSpc>
              <a:spcBef>
                <a:spcPts val="1417"/>
              </a:spcBef>
              <a:buNone/>
              <a:tabLst>
                <a:tab algn="l" pos="0"/>
              </a:tabLst>
            </a:pPr>
            <a:r>
              <a:rPr b="0" lang="en-US" sz="1600" strike="noStrike" u="none">
                <a:solidFill>
                  <a:srgbClr val="000000"/>
                </a:solidFill>
                <a:effectLst/>
                <a:uFillTx/>
                <a:latin typeface="Arial"/>
              </a:rPr>
              <a:t>(pg.30)</a:t>
            </a:r>
            <a:endParaRPr b="0" lang="en-AU" sz="1600" strike="noStrike" u="none">
              <a:solidFill>
                <a:srgbClr val="000000"/>
              </a:solidFill>
              <a:effectLst/>
              <a:uFillTx/>
              <a:latin typeface="Arial"/>
            </a:endParaRPr>
          </a:p>
        </p:txBody>
      </p:sp>
      <p:sp>
        <p:nvSpPr>
          <p:cNvPr id="5" name="PlaceHolder 4"/>
          <p:cNvSpPr>
            <a:spLocks noGrp="1"/>
          </p:cNvSpPr>
          <p:nvPr>
            <p:ph type="sldNum" idx="2"/>
          </p:nvPr>
        </p:nvSpPr>
        <p:spPr/>
        <p:txBody>
          <a:bodyPr/>
          <a:p>
            <a:fld id="{E94F5BD1-9239-438C-BAC0-7FEF92B53652}" type="slidenum">
              <a:t>2</a:t>
            </a:fld>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 name="PlaceHolder 1"/>
          <p:cNvSpPr>
            <a:spLocks noGrp="1"/>
          </p:cNvSpPr>
          <p:nvPr>
            <p:ph type="title"/>
          </p:nvPr>
        </p:nvSpPr>
        <p:spPr>
          <a:xfrm>
            <a:off x="504000" y="223560"/>
            <a:ext cx="9069120" cy="948960"/>
          </a:xfrm>
          <a:prstGeom prst="rect">
            <a:avLst/>
          </a:prstGeom>
          <a:noFill/>
          <a:ln w="0">
            <a:noFill/>
          </a:ln>
        </p:spPr>
        <p:txBody>
          <a:bodyPr lIns="0" rIns="0" tIns="0" bIns="0" anchor="ctr">
            <a:spAutoFit/>
          </a:bodyPr>
          <a:p>
            <a:pPr indent="0" algn="ctr">
              <a:lnSpc>
                <a:spcPct val="100000"/>
              </a:lnSpc>
              <a:buNone/>
              <a:tabLst>
                <a:tab algn="l" pos="0"/>
              </a:tabLst>
            </a:pPr>
            <a:r>
              <a:rPr b="0" lang="en-US" sz="4400" strike="noStrike" u="none">
                <a:solidFill>
                  <a:srgbClr val="000000"/>
                </a:solidFill>
                <a:effectLst/>
                <a:uFillTx/>
                <a:latin typeface="Arial"/>
              </a:rPr>
              <a:t>Knowledge Tracing (KT)</a:t>
            </a:r>
            <a:endParaRPr b="0" lang="en-AU" sz="4400" strike="noStrike" u="none">
              <a:solidFill>
                <a:srgbClr val="000000"/>
              </a:solidFill>
              <a:effectLst/>
              <a:uFillTx/>
              <a:latin typeface="Arial"/>
            </a:endParaRPr>
          </a:p>
        </p:txBody>
      </p:sp>
      <p:sp>
        <p:nvSpPr>
          <p:cNvPr id="25" name="PlaceHolder 2"/>
          <p:cNvSpPr>
            <a:spLocks noGrp="1"/>
          </p:cNvSpPr>
          <p:nvPr>
            <p:ph/>
          </p:nvPr>
        </p:nvSpPr>
        <p:spPr>
          <a:xfrm>
            <a:off x="540000" y="2340000"/>
            <a:ext cx="9069120" cy="1257480"/>
          </a:xfrm>
          <a:prstGeom prst="rect">
            <a:avLst/>
          </a:prstGeom>
          <a:noFill/>
          <a:ln w="0">
            <a:noFill/>
          </a:ln>
        </p:spPr>
        <p:txBody>
          <a:bodyPr lIns="0" rIns="0" tIns="0" bIns="0" anchor="t" anchorCtr="1">
            <a:normAutofit/>
          </a:bodyPr>
          <a:p>
            <a:pPr indent="0" algn="ctr">
              <a:lnSpc>
                <a:spcPct val="100000"/>
              </a:lnSpc>
              <a:spcBef>
                <a:spcPts val="1417"/>
              </a:spcBef>
              <a:buNone/>
              <a:tabLst>
                <a:tab algn="l" pos="0"/>
              </a:tabLst>
            </a:pPr>
            <a:r>
              <a:rPr b="0" i="1" lang="en-US" sz="2000" strike="noStrike" u="none">
                <a:solidFill>
                  <a:srgbClr val="000000"/>
                </a:solidFill>
                <a:effectLst/>
                <a:uFillTx/>
                <a:latin typeface="Arial"/>
              </a:rPr>
              <a:t>“[Using] machines to track the knowledge of students and tailor their learning experience”</a:t>
            </a:r>
            <a:endParaRPr b="0" lang="en-AU" sz="2000" strike="noStrike" u="none">
              <a:solidFill>
                <a:srgbClr val="000000"/>
              </a:solidFill>
              <a:effectLst/>
              <a:uFillTx/>
              <a:latin typeface="Arial"/>
            </a:endParaRPr>
          </a:p>
          <a:p>
            <a:pPr indent="0" algn="r">
              <a:lnSpc>
                <a:spcPct val="100000"/>
              </a:lnSpc>
              <a:spcBef>
                <a:spcPts val="1417"/>
              </a:spcBef>
              <a:buNone/>
              <a:tabLst>
                <a:tab algn="l" pos="0"/>
              </a:tabLst>
            </a:pPr>
            <a:r>
              <a:rPr b="0" lang="en-US" sz="2000" strike="noStrike" u="none">
                <a:solidFill>
                  <a:srgbClr val="000000"/>
                </a:solidFill>
                <a:effectLst/>
                <a:uFillTx/>
                <a:latin typeface="Arial"/>
              </a:rPr>
              <a:t>---- (Abdelrahman 2022)</a:t>
            </a:r>
            <a:endParaRPr b="0" lang="en-AU" sz="2000" strike="noStrike" u="none">
              <a:solidFill>
                <a:srgbClr val="000000"/>
              </a:solidFill>
              <a:effectLst/>
              <a:uFillTx/>
              <a:latin typeface="Arial"/>
            </a:endParaRPr>
          </a:p>
        </p:txBody>
      </p:sp>
      <p:sp>
        <p:nvSpPr>
          <p:cNvPr id="4" name="PlaceHolder 3"/>
          <p:cNvSpPr>
            <a:spLocks noGrp="1"/>
          </p:cNvSpPr>
          <p:nvPr>
            <p:ph type="sldNum" idx="2"/>
          </p:nvPr>
        </p:nvSpPr>
        <p:spPr/>
        <p:txBody>
          <a:bodyPr/>
          <a:p>
            <a:fld id="{2E6B805B-5823-4FF2-A8EF-DB51A1F63433}" type="slidenum">
              <a:t>3</a:t>
            </a:fld>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 name="PlaceHolder 1"/>
          <p:cNvSpPr>
            <a:spLocks noGrp="1"/>
          </p:cNvSpPr>
          <p:nvPr>
            <p:ph type="title"/>
          </p:nvPr>
        </p:nvSpPr>
        <p:spPr>
          <a:xfrm>
            <a:off x="468360" y="177480"/>
            <a:ext cx="9069120" cy="948960"/>
          </a:xfrm>
          <a:prstGeom prst="rect">
            <a:avLst/>
          </a:prstGeom>
          <a:noFill/>
          <a:ln w="0">
            <a:noFill/>
          </a:ln>
        </p:spPr>
        <p:txBody>
          <a:bodyPr lIns="0" rIns="0" tIns="0" bIns="0" anchor="ctr">
            <a:spAutoFit/>
          </a:bodyPr>
          <a:p>
            <a:pPr indent="0" algn="ctr">
              <a:lnSpc>
                <a:spcPct val="100000"/>
              </a:lnSpc>
              <a:buNone/>
              <a:tabLst>
                <a:tab algn="l" pos="0"/>
              </a:tabLst>
            </a:pPr>
            <a:r>
              <a:rPr b="0" lang="en-US" sz="4400" strike="noStrike" u="none">
                <a:solidFill>
                  <a:srgbClr val="000000"/>
                </a:solidFill>
                <a:effectLst/>
                <a:uFillTx/>
                <a:latin typeface="Arial"/>
              </a:rPr>
              <a:t>Problem Definition </a:t>
            </a:r>
            <a:endParaRPr b="0" lang="en-AU" sz="4400" strike="noStrike" u="none">
              <a:solidFill>
                <a:srgbClr val="000000"/>
              </a:solidFill>
              <a:effectLst/>
              <a:uFillTx/>
              <a:latin typeface="Arial"/>
            </a:endParaRPr>
          </a:p>
        </p:txBody>
      </p:sp>
      <p:sp>
        <p:nvSpPr>
          <p:cNvPr id="27" name="PlaceHolder 2"/>
          <p:cNvSpPr>
            <a:spLocks noGrp="1"/>
          </p:cNvSpPr>
          <p:nvPr>
            <p:ph/>
          </p:nvPr>
        </p:nvSpPr>
        <p:spPr>
          <a:xfrm>
            <a:off x="540000" y="1260000"/>
            <a:ext cx="9069120" cy="2205720"/>
          </a:xfrm>
          <a:prstGeom prst="rect">
            <a:avLst/>
          </a:prstGeom>
          <a:noFill/>
          <a:ln w="0">
            <a:noFill/>
          </a:ln>
        </p:spPr>
        <p:txBody>
          <a:bodyPr lIns="0" rIns="0" tIns="0" bIns="0" anchor="t">
            <a:normAutofit fontScale="92500" lnSpcReduction="9999"/>
          </a:bodyPr>
          <a:p>
            <a:pPr marL="432000" indent="-324000">
              <a:lnSpc>
                <a:spcPct val="100000"/>
              </a:lnSpc>
              <a:spcBef>
                <a:spcPts val="1417"/>
              </a:spcBef>
              <a:buClr>
                <a:srgbClr val="000000"/>
              </a:buClr>
              <a:buSzPct val="45000"/>
              <a:buFont typeface="Wingdings" charset="2"/>
              <a:buChar char=""/>
            </a:pPr>
            <a:r>
              <a:rPr b="0" lang="en-US" sz="2600" strike="noStrike" u="none">
                <a:solidFill>
                  <a:srgbClr val="000000"/>
                </a:solidFill>
                <a:effectLst/>
                <a:uFillTx/>
                <a:latin typeface="Arial"/>
              </a:rPr>
              <a:t>Given: </a:t>
            </a:r>
            <a:endParaRPr b="0" lang="en-AU" sz="2600" strike="noStrike" u="none">
              <a:solidFill>
                <a:srgbClr val="000000"/>
              </a:solidFill>
              <a:effectLst/>
              <a:uFillTx/>
              <a:latin typeface="Arial"/>
            </a:endParaRPr>
          </a:p>
          <a:p>
            <a:pPr lvl="1" marL="864000" indent="-324000">
              <a:lnSpc>
                <a:spcPct val="100000"/>
              </a:lnSpc>
              <a:spcBef>
                <a:spcPts val="1134"/>
              </a:spcBef>
              <a:buClr>
                <a:srgbClr val="000000"/>
              </a:buClr>
              <a:buSzPct val="75000"/>
              <a:buFont typeface="Symbol" charset="2"/>
              <a:buChar char=""/>
            </a:pPr>
            <a:r>
              <a:rPr b="0" lang="en-US" sz="2600" strike="noStrike" u="none">
                <a:solidFill>
                  <a:srgbClr val="000000"/>
                </a:solidFill>
                <a:effectLst/>
                <a:uFillTx/>
                <a:latin typeface="Arial"/>
              </a:rPr>
              <a:t>[(q1, right), (q8, wrong), (q6, right), (q1, wrong)…]</a:t>
            </a:r>
            <a:endParaRPr b="0" lang="en-AU" sz="2600" strike="noStrike" u="none">
              <a:solidFill>
                <a:srgbClr val="000000"/>
              </a:solidFill>
              <a:effectLst/>
              <a:uFillTx/>
              <a:latin typeface="Arial"/>
            </a:endParaRPr>
          </a:p>
          <a:p>
            <a:pPr lvl="1" marL="864000" indent="-324000">
              <a:lnSpc>
                <a:spcPct val="100000"/>
              </a:lnSpc>
              <a:spcBef>
                <a:spcPts val="1134"/>
              </a:spcBef>
              <a:buClr>
                <a:srgbClr val="000000"/>
              </a:buClr>
              <a:buSzPct val="75000"/>
              <a:buFont typeface="Symbol" charset="2"/>
              <a:buChar char=""/>
            </a:pPr>
            <a:r>
              <a:rPr b="0" lang="en-US" sz="2600" strike="noStrike" u="none">
                <a:solidFill>
                  <a:srgbClr val="000000"/>
                </a:solidFill>
                <a:effectLst/>
                <a:uFillTx/>
                <a:latin typeface="Arial"/>
              </a:rPr>
              <a:t>(q6, ?)</a:t>
            </a:r>
            <a:endParaRPr b="0" lang="en-AU" sz="2600" strike="noStrike" u="none">
              <a:solidFill>
                <a:srgbClr val="000000"/>
              </a:solidFill>
              <a:effectLst/>
              <a:uFillTx/>
              <a:latin typeface="Arial"/>
            </a:endParaRPr>
          </a:p>
          <a:p>
            <a:pPr marL="432000" indent="-324000">
              <a:lnSpc>
                <a:spcPct val="100000"/>
              </a:lnSpc>
              <a:spcBef>
                <a:spcPts val="1417"/>
              </a:spcBef>
              <a:buClr>
                <a:srgbClr val="000000"/>
              </a:buClr>
              <a:buSzPct val="45000"/>
              <a:buFont typeface="Wingdings" charset="2"/>
              <a:buChar char=""/>
            </a:pPr>
            <a:r>
              <a:rPr b="0" lang="en-US" sz="2600" strike="noStrike" u="none">
                <a:solidFill>
                  <a:srgbClr val="000000"/>
                </a:solidFill>
                <a:effectLst/>
                <a:uFillTx/>
                <a:latin typeface="Arial"/>
              </a:rPr>
              <a:t>Output</a:t>
            </a:r>
            <a:endParaRPr b="0" lang="en-AU" sz="2600" strike="noStrike" u="none">
              <a:solidFill>
                <a:srgbClr val="000000"/>
              </a:solidFill>
              <a:effectLst/>
              <a:uFillTx/>
              <a:latin typeface="Arial"/>
            </a:endParaRPr>
          </a:p>
          <a:p>
            <a:pPr lvl="1" marL="864000" indent="-324000">
              <a:lnSpc>
                <a:spcPct val="100000"/>
              </a:lnSpc>
              <a:spcBef>
                <a:spcPts val="1134"/>
              </a:spcBef>
              <a:buClr>
                <a:srgbClr val="000000"/>
              </a:buClr>
              <a:buSzPct val="75000"/>
              <a:buFont typeface="Symbol" charset="2"/>
              <a:buChar char=""/>
            </a:pPr>
            <a:r>
              <a:rPr b="0" lang="en-US" sz="2600" strike="noStrike" u="none">
                <a:solidFill>
                  <a:srgbClr val="000000"/>
                </a:solidFill>
                <a:effectLst/>
                <a:uFillTx/>
                <a:latin typeface="Arial"/>
              </a:rPr>
              <a:t>right/wrong</a:t>
            </a:r>
            <a:endParaRPr b="0" lang="en-AU" sz="2600" strike="noStrike" u="none">
              <a:solidFill>
                <a:srgbClr val="000000"/>
              </a:solidFill>
              <a:effectLst/>
              <a:uFillTx/>
              <a:latin typeface="Arial"/>
            </a:endParaRPr>
          </a:p>
        </p:txBody>
      </p:sp>
      <p:sp>
        <p:nvSpPr>
          <p:cNvPr id="28" name=""/>
          <p:cNvSpPr/>
          <p:nvPr/>
        </p:nvSpPr>
        <p:spPr>
          <a:xfrm>
            <a:off x="540000" y="3780000"/>
            <a:ext cx="9177480" cy="1703880"/>
          </a:xfrm>
          <a:prstGeom prst="rect">
            <a:avLst/>
          </a:prstGeom>
          <a:noFill/>
          <a:ln w="36000">
            <a:solidFill>
              <a:srgbClr val="3465a4"/>
            </a:solidFill>
            <a:prstDash val="sysDot"/>
            <a:round/>
          </a:ln>
        </p:spPr>
        <p:style>
          <a:lnRef idx="0"/>
          <a:fillRef idx="0"/>
          <a:effectRef idx="0"/>
          <a:fontRef idx="minor"/>
        </p:style>
        <p:txBody>
          <a:bodyPr lIns="108000" rIns="108000" tIns="63000" bIns="63000" anchor="t">
            <a:spAutoFit/>
          </a:bodyPr>
          <a:p>
            <a:pPr>
              <a:lnSpc>
                <a:spcPct val="100000"/>
              </a:lnSpc>
            </a:pPr>
            <a:r>
              <a:rPr b="0" lang="en-US" sz="1600" strike="noStrike" u="none">
                <a:solidFill>
                  <a:srgbClr val="000000"/>
                </a:solidFill>
                <a:effectLst/>
                <a:uFillTx/>
                <a:latin typeface="Arial"/>
                <a:ea typeface="DejaVu Sans"/>
              </a:rPr>
              <a:t>Given the student historical performance, predict the student’s performance on a query question.</a:t>
            </a:r>
            <a:endParaRPr b="0" lang="en-AU" sz="1600" strike="noStrike" u="none">
              <a:solidFill>
                <a:srgbClr val="000000"/>
              </a:solidFill>
              <a:effectLst/>
              <a:uFillTx/>
              <a:latin typeface="Arial"/>
            </a:endParaRPr>
          </a:p>
          <a:p>
            <a:pPr>
              <a:lnSpc>
                <a:spcPct val="100000"/>
              </a:lnSpc>
            </a:pPr>
            <a:endParaRPr b="0" lang="en-AU" sz="1600" strike="noStrike" u="none">
              <a:solidFill>
                <a:srgbClr val="000000"/>
              </a:solidFill>
              <a:effectLst/>
              <a:uFillTx/>
              <a:latin typeface="Arial"/>
            </a:endParaRPr>
          </a:p>
          <a:p>
            <a:pPr marL="216000" indent="-216000">
              <a:lnSpc>
                <a:spcPct val="100000"/>
              </a:lnSpc>
              <a:buClr>
                <a:srgbClr val="000000"/>
              </a:buClr>
              <a:buSzPct val="45000"/>
              <a:buFont typeface="Wingdings" charset="2"/>
              <a:buChar char=""/>
            </a:pPr>
            <a:r>
              <a:rPr b="0" lang="en-US" sz="1600" strike="noStrike" u="none">
                <a:solidFill>
                  <a:srgbClr val="000000"/>
                </a:solidFill>
                <a:effectLst/>
                <a:uFillTx/>
                <a:latin typeface="Arial"/>
                <a:ea typeface="Noto Sans CJK SC"/>
              </a:rPr>
              <a:t>The historical performance can be represented as a list of </a:t>
            </a:r>
            <a:r>
              <a:rPr b="1" lang="en-US" sz="1600" strike="noStrike" u="none">
                <a:solidFill>
                  <a:srgbClr val="000000"/>
                </a:solidFill>
                <a:effectLst/>
                <a:uFillTx/>
                <a:latin typeface="Arial"/>
                <a:ea typeface="Noto Sans CJK SC"/>
              </a:rPr>
              <a:t>(Question ID, Result)</a:t>
            </a:r>
            <a:r>
              <a:rPr b="0" lang="en-US" sz="1600" strike="noStrike" u="none">
                <a:solidFill>
                  <a:srgbClr val="000000"/>
                </a:solidFill>
                <a:effectLst/>
                <a:uFillTx/>
                <a:latin typeface="Arial"/>
                <a:ea typeface="Noto Sans CJK SC"/>
              </a:rPr>
              <a:t> </a:t>
            </a:r>
            <a:r>
              <a:rPr b="1" lang="en-US" sz="1600" strike="noStrike" u="none">
                <a:solidFill>
                  <a:srgbClr val="000000"/>
                </a:solidFill>
                <a:effectLst/>
                <a:uFillTx/>
                <a:latin typeface="Arial"/>
                <a:ea typeface="Noto Sans CJK SC"/>
              </a:rPr>
              <a:t>Interactions</a:t>
            </a:r>
            <a:r>
              <a:rPr b="0" lang="en-US" sz="1600" strike="noStrike" u="none">
                <a:solidFill>
                  <a:srgbClr val="000000"/>
                </a:solidFill>
                <a:effectLst/>
                <a:uFillTx/>
                <a:latin typeface="Arial"/>
                <a:ea typeface="Noto Sans CJK SC"/>
              </a:rPr>
              <a:t>, sorted by time.</a:t>
            </a:r>
            <a:endParaRPr b="0" lang="en-AU" sz="1600" strike="noStrike" u="none">
              <a:solidFill>
                <a:srgbClr val="000000"/>
              </a:solidFill>
              <a:effectLst/>
              <a:uFillTx/>
              <a:latin typeface="Arial"/>
            </a:endParaRPr>
          </a:p>
          <a:p>
            <a:pPr marL="216000" indent="-216000">
              <a:lnSpc>
                <a:spcPct val="100000"/>
              </a:lnSpc>
              <a:buClr>
                <a:srgbClr val="000000"/>
              </a:buClr>
              <a:buSzPct val="45000"/>
              <a:buFont typeface="Wingdings" charset="2"/>
              <a:buChar char=""/>
            </a:pPr>
            <a:r>
              <a:rPr b="0" lang="en-US" sz="1600" strike="noStrike" u="none">
                <a:solidFill>
                  <a:srgbClr val="000000"/>
                </a:solidFill>
                <a:effectLst/>
                <a:uFillTx/>
                <a:latin typeface="Arial"/>
                <a:ea typeface="Noto Sans CJK SC"/>
              </a:rPr>
              <a:t>Usually, the query question have been done by the student before, i.e., appearing in the historical performance list.</a:t>
            </a:r>
            <a:endParaRPr b="0" lang="en-AU" sz="1600" strike="noStrike" u="none">
              <a:solidFill>
                <a:srgbClr val="000000"/>
              </a:solidFill>
              <a:effectLst/>
              <a:uFillTx/>
              <a:latin typeface="Arial"/>
            </a:endParaRPr>
          </a:p>
        </p:txBody>
      </p:sp>
      <p:sp>
        <p:nvSpPr>
          <p:cNvPr id="4" name="PlaceHolder 3"/>
          <p:cNvSpPr>
            <a:spLocks noGrp="1"/>
          </p:cNvSpPr>
          <p:nvPr>
            <p:ph type="sldNum" idx="2"/>
          </p:nvPr>
        </p:nvSpPr>
        <p:spPr/>
        <p:txBody>
          <a:bodyPr/>
          <a:p>
            <a:fld id="{56DC9A50-AF8B-4947-9FAD-B6D489DA02DF}" type="slidenum">
              <a:t>4</a:t>
            </a:fld>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 name="PlaceHolder 1"/>
          <p:cNvSpPr>
            <a:spLocks noGrp="1"/>
          </p:cNvSpPr>
          <p:nvPr>
            <p:ph type="title"/>
          </p:nvPr>
        </p:nvSpPr>
        <p:spPr>
          <a:xfrm>
            <a:off x="504000" y="131040"/>
            <a:ext cx="9069120" cy="948960"/>
          </a:xfrm>
          <a:prstGeom prst="rect">
            <a:avLst/>
          </a:prstGeom>
          <a:noFill/>
          <a:ln w="0">
            <a:noFill/>
          </a:ln>
        </p:spPr>
        <p:txBody>
          <a:bodyPr lIns="0" rIns="0" tIns="0" bIns="0" anchor="ctr">
            <a:spAutoFit/>
          </a:bodyPr>
          <a:p>
            <a:pPr indent="0" algn="ctr">
              <a:lnSpc>
                <a:spcPct val="100000"/>
              </a:lnSpc>
              <a:buNone/>
              <a:tabLst>
                <a:tab algn="l" pos="0"/>
              </a:tabLst>
            </a:pPr>
            <a:r>
              <a:rPr b="0" lang="en-US" sz="4400" strike="noStrike" u="none">
                <a:solidFill>
                  <a:srgbClr val="000000"/>
                </a:solidFill>
                <a:effectLst/>
                <a:uFillTx/>
                <a:latin typeface="Arial"/>
              </a:rPr>
              <a:t>Problem Definition (More Formal)</a:t>
            </a:r>
            <a:endParaRPr b="0" lang="en-AU" sz="4400" strike="noStrike" u="none">
              <a:solidFill>
                <a:srgbClr val="000000"/>
              </a:solidFill>
              <a:effectLst/>
              <a:uFillTx/>
              <a:latin typeface="Arial"/>
            </a:endParaRPr>
          </a:p>
        </p:txBody>
      </p:sp>
      <p:sp>
        <p:nvSpPr>
          <p:cNvPr id="30" name="PlaceHolder 2"/>
          <p:cNvSpPr>
            <a:spLocks noGrp="1"/>
          </p:cNvSpPr>
          <p:nvPr>
            <p:ph/>
          </p:nvPr>
        </p:nvSpPr>
        <p:spPr>
          <a:xfrm>
            <a:off x="360000" y="4680000"/>
            <a:ext cx="9357480" cy="717480"/>
          </a:xfrm>
          <a:prstGeom prst="rect">
            <a:avLst/>
          </a:prstGeom>
          <a:noFill/>
          <a:ln w="36000">
            <a:solidFill>
              <a:srgbClr val="3465a4"/>
            </a:solidFill>
            <a:prstDash val="sysDot"/>
            <a:round/>
          </a:ln>
        </p:spPr>
        <p:txBody>
          <a:bodyPr lIns="18000" rIns="18000" tIns="18000" bIns="18000" anchor="t">
            <a:normAutofit lnSpcReduction="9999"/>
          </a:bodyPr>
          <a:p>
            <a:pPr marL="432000" indent="0">
              <a:lnSpc>
                <a:spcPct val="100000"/>
              </a:lnSpc>
              <a:spcBef>
                <a:spcPts val="1417"/>
              </a:spcBef>
              <a:buNone/>
              <a:tabLst>
                <a:tab algn="l" pos="0"/>
              </a:tabLst>
            </a:pPr>
            <a:r>
              <a:rPr b="0" lang="en-US" sz="1600" strike="noStrike" u="none">
                <a:solidFill>
                  <a:srgbClr val="000000"/>
                </a:solidFill>
                <a:effectLst/>
                <a:uFillTx/>
                <a:latin typeface="Arial"/>
                <a:ea typeface="Noto Sans CJK SC"/>
              </a:rPr>
              <a:t>Datasets usually provides more than just (Question ID, Result) pairs. However, having ordered (Question, Result) pairs is </a:t>
            </a:r>
            <a:r>
              <a:rPr b="1" lang="en-US" sz="1600" strike="noStrike" u="none">
                <a:solidFill>
                  <a:srgbClr val="000000"/>
                </a:solidFill>
                <a:effectLst/>
                <a:uFillTx/>
                <a:latin typeface="Arial"/>
                <a:ea typeface="Noto Sans CJK SC"/>
              </a:rPr>
              <a:t>sufficient</a:t>
            </a:r>
            <a:r>
              <a:rPr b="0" lang="en-US" sz="1600" strike="noStrike" u="none">
                <a:solidFill>
                  <a:srgbClr val="000000"/>
                </a:solidFill>
                <a:effectLst/>
                <a:uFillTx/>
                <a:latin typeface="Arial"/>
                <a:ea typeface="Noto Sans CJK SC"/>
              </a:rPr>
              <a:t> to do knowledge tracing. We will mainly discuss the case when only the (Question, Result) pairs are available.</a:t>
            </a:r>
            <a:endParaRPr b="0" lang="en-AU" sz="1600" strike="noStrike" u="none">
              <a:solidFill>
                <a:srgbClr val="000000"/>
              </a:solidFill>
              <a:effectLst/>
              <a:uFillTx/>
              <a:latin typeface="Arial"/>
            </a:endParaRPr>
          </a:p>
        </p:txBody>
      </p:sp>
      <p:sp>
        <p:nvSpPr>
          <p:cNvPr id="31" name="PlaceHolder 3"/>
          <p:cNvSpPr>
            <a:spLocks noGrp="1"/>
          </p:cNvSpPr>
          <p:nvPr>
            <p:ph/>
          </p:nvPr>
        </p:nvSpPr>
        <p:spPr>
          <a:xfrm>
            <a:off x="180000" y="1172520"/>
            <a:ext cx="4497480" cy="58572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b="0" lang="en-US" sz="2400" strike="noStrike" u="none">
                <a:solidFill>
                  <a:srgbClr val="000000"/>
                </a:solidFill>
                <a:effectLst/>
                <a:uFillTx/>
                <a:latin typeface="Arial"/>
              </a:rPr>
              <a:t>Given</a:t>
            </a:r>
            <a:endParaRPr b="0" lang="en-AU" sz="2400" strike="noStrike" u="none">
              <a:solidFill>
                <a:srgbClr val="000000"/>
              </a:solidFill>
              <a:effectLst/>
              <a:uFillTx/>
              <a:latin typeface="Arial"/>
            </a:endParaRPr>
          </a:p>
          <a:p>
            <a:pPr marL="432000" indent="0">
              <a:lnSpc>
                <a:spcPct val="100000"/>
              </a:lnSpc>
              <a:spcBef>
                <a:spcPts val="1417"/>
              </a:spcBef>
              <a:buNone/>
              <a:tabLst>
                <a:tab algn="l" pos="0"/>
              </a:tabLst>
            </a:pPr>
            <a:endParaRPr b="0" lang="en-AU" sz="2600" strike="noStrike" u="none">
              <a:solidFill>
                <a:srgbClr val="000000"/>
              </a:solidFill>
              <a:effectLst/>
              <a:uFillTx/>
              <a:latin typeface="Arial"/>
            </a:endParaRPr>
          </a:p>
        </p:txBody>
      </p:sp>
      <p:graphicFrame>
        <p:nvGraphicFramePr>
          <p:cNvPr id="32" name=""/>
          <p:cNvGraphicFramePr/>
          <p:nvPr/>
        </p:nvGraphicFramePr>
        <p:xfrm>
          <a:off x="454320" y="1605600"/>
          <a:ext cx="9165960" cy="2007720"/>
        </p:xfrm>
        <a:graphic>
          <a:graphicData uri="http://schemas.openxmlformats.org/drawingml/2006/table">
            <a:tbl>
              <a:tblPr/>
              <a:tblGrid>
                <a:gridCol w="1013040"/>
                <a:gridCol w="1238400"/>
                <a:gridCol w="1933560"/>
                <a:gridCol w="1218960"/>
                <a:gridCol w="2000160"/>
                <a:gridCol w="800280"/>
                <a:gridCol w="961920"/>
              </a:tblGrid>
              <a:tr h="346320">
                <a:tc>
                  <a:txBody>
                    <a:bodyPr lIns="36000" rIns="36000" tIns="36000" bIns="36000" anchor="t">
                      <a:noAutofit/>
                    </a:bodyPr>
                    <a:p>
                      <a:pPr algn="ctr">
                        <a:lnSpc>
                          <a:spcPct val="100000"/>
                        </a:lnSpc>
                      </a:pPr>
                      <a:r>
                        <a:rPr b="0" lang="en-US" sz="1800" strike="noStrike" u="none">
                          <a:solidFill>
                            <a:srgbClr val="000000"/>
                          </a:solidFill>
                          <a:effectLst/>
                          <a:uFillTx/>
                          <a:latin typeface="Arial"/>
                        </a:rPr>
                        <a:t>Question ID</a:t>
                      </a:r>
                      <a:endParaRPr b="0" lang="en-AU" sz="1800" strike="noStrike" u="non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pPr>
                      <a:r>
                        <a:rPr b="0" lang="en-US" sz="1800" strike="noStrike" u="none">
                          <a:solidFill>
                            <a:srgbClr val="666666"/>
                          </a:solidFill>
                          <a:effectLst/>
                          <a:uFillTx/>
                          <a:latin typeface="Arial"/>
                        </a:rPr>
                        <a:t>Timestamp</a:t>
                      </a:r>
                      <a:endParaRPr b="0" lang="en-AU" sz="1800" strike="noStrike" u="non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pPr>
                      <a:r>
                        <a:rPr b="0" lang="en-US" sz="1800" strike="noStrike" u="none">
                          <a:solidFill>
                            <a:srgbClr val="666666"/>
                          </a:solidFill>
                          <a:effectLst/>
                          <a:uFillTx/>
                          <a:latin typeface="Arial"/>
                        </a:rPr>
                        <a:t>Question Text</a:t>
                      </a:r>
                      <a:endParaRPr b="0" lang="en-AU" sz="1800" strike="noStrike" u="non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pPr>
                      <a:r>
                        <a:rPr b="0" lang="en-US" sz="1800" strike="noStrike" u="none">
                          <a:solidFill>
                            <a:srgbClr val="666666"/>
                          </a:solidFill>
                          <a:effectLst/>
                          <a:uFillTx/>
                          <a:latin typeface="Arial"/>
                        </a:rPr>
                        <a:t>Duration</a:t>
                      </a:r>
                      <a:endParaRPr b="0" lang="en-AU" sz="1800" strike="noStrike" u="non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pPr>
                      <a:r>
                        <a:rPr b="0" lang="en-US" sz="1800" strike="noStrike" u="none">
                          <a:solidFill>
                            <a:srgbClr val="666666"/>
                          </a:solidFill>
                          <a:effectLst/>
                          <a:uFillTx/>
                          <a:latin typeface="Arial"/>
                        </a:rPr>
                        <a:t>Knowledge Components</a:t>
                      </a:r>
                      <a:endParaRPr b="0" lang="en-AU" sz="1800" strike="noStrike" u="non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pPr>
                      <a:r>
                        <a:rPr b="0" lang="en-US" sz="1800" strike="noStrike" u="none">
                          <a:solidFill>
                            <a:srgbClr val="666666"/>
                          </a:solidFill>
                          <a:effectLst/>
                          <a:uFillTx/>
                          <a:latin typeface="Arial"/>
                        </a:rPr>
                        <a:t>...</a:t>
                      </a:r>
                      <a:endParaRPr b="0" lang="en-AU" sz="1800" strike="noStrike" u="non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pPr>
                      <a:r>
                        <a:rPr b="0" lang="en-US" sz="1800" strike="noStrike" u="none">
                          <a:solidFill>
                            <a:srgbClr val="000000"/>
                          </a:solidFill>
                          <a:effectLst/>
                          <a:uFillTx/>
                          <a:latin typeface="Arial"/>
                        </a:rPr>
                        <a:t>Result</a:t>
                      </a:r>
                      <a:endParaRPr b="0" lang="en-AU" sz="1800" strike="noStrike" u="non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r h="346320">
                <a:tc>
                  <a:txBody>
                    <a:bodyPr lIns="36000" rIns="36000" tIns="36000" bIns="36000" anchor="t">
                      <a:noAutofit/>
                    </a:bodyPr>
                    <a:p>
                      <a:pPr algn="ctr">
                        <a:lnSpc>
                          <a:spcPct val="100000"/>
                        </a:lnSpc>
                      </a:pPr>
                      <a:r>
                        <a:rPr b="0" lang="en-US" sz="1800" strike="noStrike" u="none">
                          <a:solidFill>
                            <a:srgbClr val="000000"/>
                          </a:solidFill>
                          <a:effectLst/>
                          <a:uFillTx/>
                          <a:latin typeface="Arial"/>
                        </a:rPr>
                        <a:t>q1</a:t>
                      </a:r>
                      <a:endParaRPr b="0" lang="en-AU" sz="1800" strike="noStrike" u="non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pPr>
                      <a:r>
                        <a:rPr b="0" lang="en-US" sz="1800" strike="noStrike" u="none">
                          <a:solidFill>
                            <a:srgbClr val="666666"/>
                          </a:solidFill>
                          <a:effectLst/>
                          <a:uFillTx/>
                          <a:latin typeface="Arial"/>
                        </a:rPr>
                        <a:t>1 Sep</a:t>
                      </a:r>
                      <a:endParaRPr b="0" lang="en-AU" sz="1800" strike="noStrike" u="non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pPr>
                      <a:r>
                        <a:rPr b="0" lang="en-US" sz="1800" strike="noStrike" u="none">
                          <a:solidFill>
                            <a:srgbClr val="666666"/>
                          </a:solidFill>
                          <a:effectLst/>
                          <a:uFillTx/>
                          <a:latin typeface="Arial"/>
                        </a:rPr>
                        <a:t>What is 55 + 63?</a:t>
                      </a:r>
                      <a:endParaRPr b="0" lang="en-AU" sz="1800" strike="noStrike" u="non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pPr>
                      <a:r>
                        <a:rPr b="0" lang="en-US" sz="1800" strike="noStrike" u="none">
                          <a:solidFill>
                            <a:srgbClr val="666666"/>
                          </a:solidFill>
                          <a:effectLst/>
                          <a:uFillTx/>
                          <a:latin typeface="Arial"/>
                        </a:rPr>
                        <a:t>5s</a:t>
                      </a:r>
                      <a:endParaRPr b="0" lang="en-AU" sz="1800" strike="noStrike" u="non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pPr>
                      <a:r>
                        <a:rPr b="0" lang="en-US" sz="1800" strike="noStrike" u="none">
                          <a:solidFill>
                            <a:srgbClr val="666666"/>
                          </a:solidFill>
                          <a:effectLst/>
                          <a:uFillTx/>
                          <a:latin typeface="Arial"/>
                        </a:rPr>
                        <a:t>[Addition, … ]</a:t>
                      </a:r>
                      <a:endParaRPr b="0" lang="en-AU" sz="1800" strike="noStrike" u="non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pPr>
                      <a:r>
                        <a:rPr b="0" lang="en-US" sz="1800" strike="noStrike" u="none">
                          <a:solidFill>
                            <a:srgbClr val="666666"/>
                          </a:solidFill>
                          <a:effectLst/>
                          <a:uFillTx/>
                          <a:latin typeface="Arial"/>
                        </a:rPr>
                        <a:t>...</a:t>
                      </a:r>
                      <a:endParaRPr b="0" lang="en-AU" sz="1800" strike="noStrike" u="non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pPr>
                      <a:r>
                        <a:rPr b="0" lang="en-US" sz="1800" strike="noStrike" u="none">
                          <a:solidFill>
                            <a:srgbClr val="000000"/>
                          </a:solidFill>
                          <a:effectLst/>
                          <a:uFillTx/>
                          <a:latin typeface="Arial"/>
                        </a:rPr>
                        <a:t>right</a:t>
                      </a:r>
                      <a:endParaRPr b="0" lang="en-AU" sz="1800" strike="noStrike" u="non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r h="346320">
                <a:tc>
                  <a:txBody>
                    <a:bodyPr lIns="36000" rIns="36000" tIns="36000" bIns="36000" anchor="t">
                      <a:noAutofit/>
                    </a:bodyPr>
                    <a:p>
                      <a:pPr algn="ctr">
                        <a:lnSpc>
                          <a:spcPct val="100000"/>
                        </a:lnSpc>
                      </a:pPr>
                      <a:r>
                        <a:rPr b="0" lang="en-US" sz="1800" strike="noStrike" u="none">
                          <a:solidFill>
                            <a:srgbClr val="000000"/>
                          </a:solidFill>
                          <a:effectLst/>
                          <a:uFillTx/>
                          <a:latin typeface="Arial"/>
                        </a:rPr>
                        <a:t>q8</a:t>
                      </a:r>
                      <a:endParaRPr b="0" lang="en-AU" sz="1800" strike="noStrike" u="non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pPr>
                      <a:r>
                        <a:rPr b="0" lang="en-US" sz="1800" strike="noStrike" u="none">
                          <a:solidFill>
                            <a:srgbClr val="666666"/>
                          </a:solidFill>
                          <a:effectLst/>
                          <a:uFillTx/>
                          <a:latin typeface="Arial"/>
                        </a:rPr>
                        <a:t>1 Sep</a:t>
                      </a:r>
                      <a:endParaRPr b="0" lang="en-AU" sz="1800" strike="noStrike" u="non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pPr>
                      <a:r>
                        <a:rPr b="0" lang="en-US" sz="1800" strike="noStrike" u="none">
                          <a:solidFill>
                            <a:srgbClr val="666666"/>
                          </a:solidFill>
                          <a:effectLst/>
                          <a:uFillTx/>
                          <a:latin typeface="Arial"/>
                        </a:rPr>
                        <a:t>What is 64 x 64?</a:t>
                      </a:r>
                      <a:endParaRPr b="0" lang="en-AU" sz="1800" strike="noStrike" u="non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pPr>
                      <a:r>
                        <a:rPr b="0" lang="en-US" sz="1800" strike="noStrike" u="none">
                          <a:solidFill>
                            <a:srgbClr val="666666"/>
                          </a:solidFill>
                          <a:effectLst/>
                          <a:uFillTx/>
                          <a:latin typeface="Arial"/>
                        </a:rPr>
                        <a:t>20s</a:t>
                      </a:r>
                      <a:endParaRPr b="0" lang="en-AU" sz="1800" strike="noStrike" u="non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pPr>
                      <a:r>
                        <a:rPr b="0" lang="en-US" sz="1800" strike="noStrike" u="none">
                          <a:solidFill>
                            <a:srgbClr val="666666"/>
                          </a:solidFill>
                          <a:effectLst/>
                          <a:uFillTx/>
                          <a:latin typeface="Arial"/>
                        </a:rPr>
                        <a:t>[Multiplication, ...]</a:t>
                      </a:r>
                      <a:endParaRPr b="0" lang="en-AU" sz="1800" strike="noStrike" u="non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pPr>
                      <a:r>
                        <a:rPr b="0" lang="en-US" sz="1800" strike="noStrike" u="none">
                          <a:solidFill>
                            <a:srgbClr val="666666"/>
                          </a:solidFill>
                          <a:effectLst/>
                          <a:uFillTx/>
                          <a:latin typeface="Arial"/>
                        </a:rPr>
                        <a:t>...</a:t>
                      </a:r>
                      <a:endParaRPr b="0" lang="en-AU" sz="1800" strike="noStrike" u="non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pPr>
                      <a:r>
                        <a:rPr b="0" lang="en-US" sz="1800" strike="noStrike" u="none">
                          <a:solidFill>
                            <a:srgbClr val="000000"/>
                          </a:solidFill>
                          <a:effectLst/>
                          <a:uFillTx/>
                          <a:latin typeface="Arial"/>
                        </a:rPr>
                        <a:t>wrong</a:t>
                      </a:r>
                      <a:endParaRPr b="0" lang="en-AU" sz="1800" strike="noStrike" u="non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r h="346320">
                <a:tc>
                  <a:txBody>
                    <a:bodyPr lIns="36000" rIns="36000" tIns="36000" bIns="36000" anchor="t">
                      <a:noAutofit/>
                    </a:bodyPr>
                    <a:p>
                      <a:pPr algn="ctr">
                        <a:lnSpc>
                          <a:spcPct val="100000"/>
                        </a:lnSpc>
                      </a:pPr>
                      <a:r>
                        <a:rPr b="0" lang="en-US" sz="1800" strike="noStrike" u="none">
                          <a:solidFill>
                            <a:srgbClr val="000000"/>
                          </a:solidFill>
                          <a:effectLst/>
                          <a:uFillTx/>
                          <a:latin typeface="Arial"/>
                        </a:rPr>
                        <a:t>q6</a:t>
                      </a:r>
                      <a:endParaRPr b="0" lang="en-AU" sz="1800" strike="noStrike" u="non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pPr>
                      <a:r>
                        <a:rPr b="0" lang="en-US" sz="1800" strike="noStrike" u="none">
                          <a:solidFill>
                            <a:srgbClr val="666666"/>
                          </a:solidFill>
                          <a:effectLst/>
                          <a:uFillTx/>
                          <a:latin typeface="Arial"/>
                        </a:rPr>
                        <a:t>2 Sep</a:t>
                      </a:r>
                      <a:endParaRPr b="0" lang="en-AU" sz="1800" strike="noStrike" u="non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pPr>
                      <a:r>
                        <a:rPr b="0" lang="en-US" sz="1800" strike="noStrike" u="none">
                          <a:solidFill>
                            <a:srgbClr val="666666"/>
                          </a:solidFill>
                          <a:effectLst/>
                          <a:uFillTx/>
                          <a:latin typeface="Arial"/>
                        </a:rPr>
                        <a:t>What is 12 / 3?</a:t>
                      </a:r>
                      <a:endParaRPr b="0" lang="en-AU" sz="1800" strike="noStrike" u="non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pPr>
                      <a:r>
                        <a:rPr b="0" lang="en-US" sz="1800" strike="noStrike" u="none">
                          <a:solidFill>
                            <a:srgbClr val="666666"/>
                          </a:solidFill>
                          <a:effectLst/>
                          <a:uFillTx/>
                          <a:latin typeface="Arial"/>
                        </a:rPr>
                        <a:t>1s</a:t>
                      </a:r>
                      <a:endParaRPr b="0" lang="en-AU" sz="1800" strike="noStrike" u="non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pPr>
                      <a:r>
                        <a:rPr b="0" lang="en-US" sz="1800" strike="noStrike" u="none">
                          <a:solidFill>
                            <a:srgbClr val="666666"/>
                          </a:solidFill>
                          <a:effectLst/>
                          <a:uFillTx/>
                          <a:latin typeface="Arial"/>
                        </a:rPr>
                        <a:t>[Division, ...]</a:t>
                      </a:r>
                      <a:endParaRPr b="0" lang="en-AU" sz="1800" strike="noStrike" u="non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pPr>
                      <a:r>
                        <a:rPr b="0" lang="en-US" sz="1800" strike="noStrike" u="none">
                          <a:solidFill>
                            <a:srgbClr val="666666"/>
                          </a:solidFill>
                          <a:effectLst/>
                          <a:uFillTx/>
                          <a:latin typeface="Arial"/>
                        </a:rPr>
                        <a:t>...</a:t>
                      </a:r>
                      <a:endParaRPr b="0" lang="en-AU" sz="1800" strike="noStrike" u="non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pPr>
                      <a:r>
                        <a:rPr b="0" lang="en-US" sz="1800" strike="noStrike" u="none">
                          <a:solidFill>
                            <a:srgbClr val="000000"/>
                          </a:solidFill>
                          <a:effectLst/>
                          <a:uFillTx/>
                          <a:latin typeface="Arial"/>
                        </a:rPr>
                        <a:t>right</a:t>
                      </a:r>
                      <a:endParaRPr b="0" lang="en-AU" sz="1800" strike="noStrike" u="non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r h="346320">
                <a:tc>
                  <a:txBody>
                    <a:bodyPr lIns="36000" rIns="36000" tIns="36000" bIns="36000" anchor="t">
                      <a:noAutofit/>
                    </a:bodyPr>
                    <a:p>
                      <a:pPr algn="ctr">
                        <a:lnSpc>
                          <a:spcPct val="100000"/>
                        </a:lnSpc>
                      </a:pPr>
                      <a:r>
                        <a:rPr b="0" lang="en-US" sz="1800" strike="noStrike" u="none">
                          <a:solidFill>
                            <a:srgbClr val="000000"/>
                          </a:solidFill>
                          <a:effectLst/>
                          <a:uFillTx/>
                          <a:latin typeface="Arial"/>
                        </a:rPr>
                        <a:t>q1</a:t>
                      </a:r>
                      <a:endParaRPr b="0" lang="en-AU" sz="1800" strike="noStrike" u="non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pPr>
                      <a:r>
                        <a:rPr b="0" lang="en-US" sz="1800" strike="noStrike" u="none">
                          <a:solidFill>
                            <a:srgbClr val="666666"/>
                          </a:solidFill>
                          <a:effectLst/>
                          <a:uFillTx/>
                          <a:latin typeface="Arial"/>
                        </a:rPr>
                        <a:t>1 Oct</a:t>
                      </a:r>
                      <a:endParaRPr b="0" lang="en-AU" sz="1800" strike="noStrike" u="non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pPr>
                      <a:r>
                        <a:rPr b="0" lang="en-US" sz="1800" strike="noStrike" u="none">
                          <a:solidFill>
                            <a:srgbClr val="666666"/>
                          </a:solidFill>
                          <a:effectLst/>
                          <a:uFillTx/>
                          <a:latin typeface="Arial"/>
                        </a:rPr>
                        <a:t>What is 55 + 63?</a:t>
                      </a:r>
                      <a:endParaRPr b="0" lang="en-AU" sz="1800" strike="noStrike" u="non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pPr>
                      <a:r>
                        <a:rPr b="0" lang="en-US" sz="1800" strike="noStrike" u="none">
                          <a:solidFill>
                            <a:srgbClr val="666666"/>
                          </a:solidFill>
                          <a:effectLst/>
                          <a:uFillTx/>
                          <a:latin typeface="Arial"/>
                        </a:rPr>
                        <a:t>10s</a:t>
                      </a:r>
                      <a:endParaRPr b="0" lang="en-AU" sz="1800" strike="noStrike" u="non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pPr>
                      <a:r>
                        <a:rPr b="0" lang="en-US" sz="1800" strike="noStrike" u="none">
                          <a:solidFill>
                            <a:srgbClr val="666666"/>
                          </a:solidFill>
                          <a:effectLst/>
                          <a:uFillTx/>
                          <a:latin typeface="Arial"/>
                        </a:rPr>
                        <a:t>[Addition, ...]</a:t>
                      </a:r>
                      <a:endParaRPr b="0" lang="en-AU" sz="1800" strike="noStrike" u="non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pPr>
                      <a:r>
                        <a:rPr b="0" lang="en-US" sz="1800" strike="noStrike" u="none">
                          <a:solidFill>
                            <a:srgbClr val="666666"/>
                          </a:solidFill>
                          <a:effectLst/>
                          <a:uFillTx/>
                          <a:latin typeface="Arial"/>
                        </a:rPr>
                        <a:t>...</a:t>
                      </a:r>
                      <a:endParaRPr b="0" lang="en-AU" sz="1800" strike="noStrike" u="non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pPr>
                      <a:r>
                        <a:rPr b="0" lang="en-US" sz="1800" strike="noStrike" u="none">
                          <a:solidFill>
                            <a:srgbClr val="000000"/>
                          </a:solidFill>
                          <a:effectLst/>
                          <a:uFillTx/>
                          <a:latin typeface="Arial"/>
                        </a:rPr>
                        <a:t>wrong</a:t>
                      </a:r>
                      <a:endParaRPr b="0" lang="en-AU" sz="1800" strike="noStrike" u="non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bl>
          </a:graphicData>
        </a:graphic>
      </p:graphicFrame>
      <p:sp>
        <p:nvSpPr>
          <p:cNvPr id="33" name=""/>
          <p:cNvSpPr/>
          <p:nvPr/>
        </p:nvSpPr>
        <p:spPr>
          <a:xfrm>
            <a:off x="180000" y="3709800"/>
            <a:ext cx="1437480" cy="427680"/>
          </a:xfrm>
          <a:prstGeom prst="rect">
            <a:avLst/>
          </a:prstGeom>
          <a:noFill/>
          <a:ln w="0">
            <a:noFill/>
          </a:ln>
        </p:spPr>
        <p:style>
          <a:lnRef idx="0"/>
          <a:fillRef idx="0"/>
          <a:effectRef idx="0"/>
          <a:fontRef idx="minor"/>
        </p:style>
        <p:txBody>
          <a:bodyPr lIns="90000" rIns="90000" tIns="45000" bIns="45000" anchor="t">
            <a:spAutoFit/>
          </a:bodyPr>
          <a:p>
            <a:pPr marL="216000" indent="-216000">
              <a:lnSpc>
                <a:spcPct val="100000"/>
              </a:lnSpc>
              <a:buClr>
                <a:srgbClr val="000000"/>
              </a:buClr>
              <a:buSzPct val="45000"/>
              <a:buFont typeface="Wingdings" charset="2"/>
              <a:buChar char=""/>
            </a:pPr>
            <a:r>
              <a:rPr b="0" lang="en-US" sz="2400" strike="noStrike" u="none">
                <a:solidFill>
                  <a:srgbClr val="000000"/>
                </a:solidFill>
                <a:effectLst/>
                <a:uFillTx/>
                <a:latin typeface="Arial"/>
                <a:ea typeface="DejaVu Sans"/>
              </a:rPr>
              <a:t>Output</a:t>
            </a:r>
            <a:endParaRPr b="0" lang="en-AU" sz="2400" strike="noStrike" u="none">
              <a:solidFill>
                <a:srgbClr val="000000"/>
              </a:solidFill>
              <a:effectLst/>
              <a:uFillTx/>
              <a:latin typeface="Arial"/>
            </a:endParaRPr>
          </a:p>
        </p:txBody>
      </p:sp>
      <p:sp>
        <p:nvSpPr>
          <p:cNvPr id="34" name=""/>
          <p:cNvSpPr/>
          <p:nvPr/>
        </p:nvSpPr>
        <p:spPr>
          <a:xfrm>
            <a:off x="583920" y="4140000"/>
            <a:ext cx="8953560" cy="59976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en-US" sz="1800" strike="noStrike" u="none">
                <a:solidFill>
                  <a:srgbClr val="000000"/>
                </a:solidFill>
                <a:effectLst/>
                <a:uFillTx/>
                <a:latin typeface="Arial"/>
                <a:ea typeface="Noto Sans CJK SC"/>
              </a:rPr>
              <a:t>Probability (right | q6, </a:t>
            </a:r>
            <a:r>
              <a:rPr b="0" lang="en-US" sz="1800" strike="noStrike" u="none">
                <a:solidFill>
                  <a:srgbClr val="666666"/>
                </a:solidFill>
                <a:effectLst/>
                <a:uFillTx/>
                <a:latin typeface="Arial"/>
                <a:ea typeface="Noto Sans CJK SC"/>
              </a:rPr>
              <a:t>Additional Features, </a:t>
            </a:r>
            <a:r>
              <a:rPr b="0" lang="en-US" sz="1800" strike="noStrike" u="none">
                <a:solidFill>
                  <a:srgbClr val="000000"/>
                </a:solidFill>
                <a:effectLst/>
                <a:uFillTx/>
                <a:latin typeface="Arial"/>
                <a:ea typeface="Noto Sans CJK SC"/>
              </a:rPr>
              <a:t>Historical Interactions)</a:t>
            </a:r>
            <a:endParaRPr b="0" lang="en-AU" sz="1800" strike="noStrike" u="none">
              <a:solidFill>
                <a:srgbClr val="000000"/>
              </a:solidFill>
              <a:effectLst/>
              <a:uFillTx/>
              <a:latin typeface="Arial"/>
            </a:endParaRPr>
          </a:p>
        </p:txBody>
      </p:sp>
      <p:sp>
        <p:nvSpPr>
          <p:cNvPr id="35" name=""/>
          <p:cNvSpPr/>
          <p:nvPr/>
        </p:nvSpPr>
        <p:spPr>
          <a:xfrm rot="19860000">
            <a:off x="7039080" y="1321920"/>
            <a:ext cx="357480" cy="177480"/>
          </a:xfrm>
          <a:prstGeom prst="leftArrow">
            <a:avLst>
              <a:gd name="adj1" fmla="val 50000"/>
              <a:gd name="adj2" fmla="val 50000"/>
            </a:avLst>
          </a:prstGeom>
          <a:solidFill>
            <a:srgbClr val="729fcf"/>
          </a:solidFill>
          <a:ln w="0">
            <a:solidFill>
              <a:srgbClr val="3465a4"/>
            </a:solidFill>
          </a:ln>
        </p:spPr>
        <p:style>
          <a:lnRef idx="0"/>
          <a:fillRef idx="0"/>
          <a:effectRef idx="0"/>
          <a:fontRef idx="minor"/>
        </p:style>
        <p:txBody>
          <a:bodyPr lIns="90000" rIns="90000" tIns="44280" bIns="44280" anchor="ctr">
            <a:noAutofit/>
          </a:bodyPr>
          <a:p>
            <a:pPr>
              <a:lnSpc>
                <a:spcPct val="100000"/>
              </a:lnSpc>
            </a:pPr>
            <a:endParaRPr b="0" lang="en-US" sz="1800" strike="noStrike" u="none">
              <a:solidFill>
                <a:srgbClr val="000000"/>
              </a:solidFill>
              <a:effectLst/>
              <a:uFillTx/>
              <a:latin typeface="Arial"/>
              <a:ea typeface="DejaVu Sans"/>
            </a:endParaRPr>
          </a:p>
        </p:txBody>
      </p:sp>
      <p:sp>
        <p:nvSpPr>
          <p:cNvPr id="36" name=""/>
          <p:cNvSpPr/>
          <p:nvPr/>
        </p:nvSpPr>
        <p:spPr>
          <a:xfrm>
            <a:off x="7380000" y="1080000"/>
            <a:ext cx="1617480" cy="495720"/>
          </a:xfrm>
          <a:prstGeom prst="rect">
            <a:avLst/>
          </a:prstGeom>
          <a:noFill/>
          <a:ln w="0">
            <a:noFill/>
          </a:ln>
        </p:spPr>
        <p:style>
          <a:lnRef idx="0"/>
          <a:fillRef idx="0"/>
          <a:effectRef idx="0"/>
          <a:fontRef idx="minor"/>
        </p:style>
        <p:txBody>
          <a:bodyPr lIns="90000" rIns="90000" tIns="45000" bIns="45000" anchor="t" anchorCtr="1">
            <a:spAutoFit/>
          </a:bodyPr>
          <a:p>
            <a:pPr algn="ctr">
              <a:lnSpc>
                <a:spcPct val="100000"/>
              </a:lnSpc>
            </a:pPr>
            <a:r>
              <a:rPr b="0" lang="en-US" sz="1200" strike="noStrike" u="none">
                <a:solidFill>
                  <a:srgbClr val="000000"/>
                </a:solidFill>
                <a:effectLst/>
                <a:uFillTx/>
                <a:latin typeface="Arial"/>
                <a:ea typeface="DejaVu Sans"/>
              </a:rPr>
              <a:t>😯 Expensive 💲</a:t>
            </a:r>
            <a:endParaRPr b="0" lang="en-AU" sz="1200" strike="noStrike" u="none">
              <a:solidFill>
                <a:srgbClr val="000000"/>
              </a:solidFill>
              <a:effectLst/>
              <a:uFillTx/>
              <a:latin typeface="Arial"/>
            </a:endParaRPr>
          </a:p>
          <a:p>
            <a:pPr algn="ctr">
              <a:lnSpc>
                <a:spcPct val="100000"/>
              </a:lnSpc>
            </a:pPr>
            <a:r>
              <a:rPr b="0" lang="en-US" sz="1200" strike="noStrike" u="none">
                <a:solidFill>
                  <a:srgbClr val="000000"/>
                </a:solidFill>
                <a:effectLst/>
                <a:uFillTx/>
                <a:latin typeface="Arial"/>
                <a:ea typeface="DejaVu Sans"/>
              </a:rPr>
              <a:t>Manually Annotated</a:t>
            </a:r>
            <a:endParaRPr b="0" lang="en-AU" sz="1200" strike="noStrike" u="none">
              <a:solidFill>
                <a:srgbClr val="000000"/>
              </a:solidFill>
              <a:effectLst/>
              <a:uFillTx/>
              <a:latin typeface="Arial"/>
            </a:endParaRPr>
          </a:p>
        </p:txBody>
      </p:sp>
      <p:sp>
        <p:nvSpPr>
          <p:cNvPr id="5" name="PlaceHolder 4"/>
          <p:cNvSpPr>
            <a:spLocks noGrp="1"/>
          </p:cNvSpPr>
          <p:nvPr>
            <p:ph type="sldNum" idx="2"/>
          </p:nvPr>
        </p:nvSpPr>
        <p:spPr/>
        <p:txBody>
          <a:bodyPr/>
          <a:p>
            <a:fld id="{B4D39F96-0F5E-4524-B817-4097772F5F48}" type="slidenum">
              <a:t>5</a:t>
            </a:fld>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 name="PlaceHolder 1"/>
          <p:cNvSpPr>
            <a:spLocks noGrp="1"/>
          </p:cNvSpPr>
          <p:nvPr>
            <p:ph type="title"/>
          </p:nvPr>
        </p:nvSpPr>
        <p:spPr>
          <a:xfrm>
            <a:off x="494280" y="357480"/>
            <a:ext cx="9069120" cy="768960"/>
          </a:xfrm>
          <a:prstGeom prst="rect">
            <a:avLst/>
          </a:prstGeom>
          <a:noFill/>
          <a:ln w="0">
            <a:noFill/>
          </a:ln>
        </p:spPr>
        <p:txBody>
          <a:bodyPr lIns="0" rIns="0" tIns="0" bIns="0" anchor="ctr">
            <a:spAutoFit/>
          </a:bodyPr>
          <a:p>
            <a:pPr marL="432000" indent="0" algn="ctr">
              <a:lnSpc>
                <a:spcPct val="100000"/>
              </a:lnSpc>
              <a:spcBef>
                <a:spcPts val="1417"/>
              </a:spcBef>
              <a:buNone/>
              <a:tabLst>
                <a:tab algn="l" pos="0"/>
              </a:tabLst>
            </a:pPr>
            <a:r>
              <a:rPr b="0" lang="en-US" sz="3600" strike="noStrike" u="none">
                <a:solidFill>
                  <a:srgbClr val="000000"/>
                </a:solidFill>
                <a:effectLst/>
                <a:uFillTx/>
                <a:latin typeface="Arial"/>
              </a:rPr>
              <a:t>A High-Level View of Knowledge Tracing</a:t>
            </a:r>
            <a:endParaRPr b="0" lang="en-AU" sz="3600" strike="noStrike" u="none">
              <a:solidFill>
                <a:srgbClr val="000000"/>
              </a:solidFill>
              <a:effectLst/>
              <a:uFillTx/>
              <a:latin typeface="Arial"/>
            </a:endParaRPr>
          </a:p>
        </p:txBody>
      </p:sp>
      <p:sp>
        <p:nvSpPr>
          <p:cNvPr id="38" name="PlaceHolder 2"/>
          <p:cNvSpPr>
            <a:spLocks noGrp="1"/>
          </p:cNvSpPr>
          <p:nvPr>
            <p:ph/>
          </p:nvPr>
        </p:nvSpPr>
        <p:spPr>
          <a:xfrm>
            <a:off x="540000" y="1440000"/>
            <a:ext cx="9069120" cy="2157480"/>
          </a:xfrm>
          <a:prstGeom prst="rect">
            <a:avLst/>
          </a:prstGeom>
          <a:noFill/>
          <a:ln w="0">
            <a:noFill/>
          </a:ln>
        </p:spPr>
        <p:txBody>
          <a:bodyPr lIns="0" rIns="0" tIns="0" bIns="0" anchor="t">
            <a:normAutofit lnSpcReduction="9999"/>
          </a:bodyPr>
          <a:p>
            <a:pPr indent="0">
              <a:lnSpc>
                <a:spcPct val="100000"/>
              </a:lnSpc>
              <a:spcBef>
                <a:spcPts val="1417"/>
              </a:spcBef>
              <a:buNone/>
              <a:tabLst>
                <a:tab algn="l" pos="0"/>
              </a:tabLst>
            </a:pPr>
            <a:r>
              <a:rPr b="0" lang="en-US" sz="2000" strike="noStrike" u="none">
                <a:solidFill>
                  <a:srgbClr val="000000"/>
                </a:solidFill>
                <a:effectLst/>
                <a:uFillTx/>
                <a:latin typeface="Arial"/>
              </a:rPr>
              <a:t>Many knowledge tracing models are essentially doing two things logically, even though the ways they do are different.</a:t>
            </a:r>
            <a:endParaRPr b="0" lang="en-AU" sz="2000" strike="noStrike" u="none">
              <a:solidFill>
                <a:srgbClr val="000000"/>
              </a:solidFill>
              <a:effectLst/>
              <a:uFillTx/>
              <a:latin typeface="Arial"/>
            </a:endParaRPr>
          </a:p>
          <a:p>
            <a:pPr marL="432000" indent="-324000">
              <a:lnSpc>
                <a:spcPct val="100000"/>
              </a:lnSpc>
              <a:spcBef>
                <a:spcPts val="1417"/>
              </a:spcBef>
              <a:buClr>
                <a:srgbClr val="000000"/>
              </a:buClr>
              <a:buSzPct val="45000"/>
              <a:buFont typeface="Wingdings" charset="2"/>
              <a:buChar char=""/>
              <a:tabLst>
                <a:tab algn="l" pos="0"/>
              </a:tabLst>
            </a:pPr>
            <a:r>
              <a:rPr b="0" lang="en-US" sz="2000" strike="noStrike" u="none">
                <a:solidFill>
                  <a:srgbClr val="000000"/>
                </a:solidFill>
                <a:effectLst/>
                <a:uFillTx/>
                <a:latin typeface="Arial"/>
              </a:rPr>
              <a:t>Modelling the latent </a:t>
            </a:r>
            <a:r>
              <a:rPr b="1" lang="en-US" sz="2000" strike="noStrike" u="none">
                <a:solidFill>
                  <a:srgbClr val="000000"/>
                </a:solidFill>
                <a:effectLst/>
                <a:uFillTx/>
                <a:latin typeface="Arial"/>
              </a:rPr>
              <a:t>Knowledge Components (KCs)</a:t>
            </a:r>
            <a:r>
              <a:rPr b="0" lang="en-US" sz="2000" strike="noStrike" u="none">
                <a:solidFill>
                  <a:srgbClr val="000000"/>
                </a:solidFill>
                <a:effectLst/>
                <a:uFillTx/>
                <a:latin typeface="Arial"/>
              </a:rPr>
              <a:t> and their relationship in the questions.</a:t>
            </a:r>
            <a:endParaRPr b="0" lang="en-AU" sz="2000" strike="noStrike" u="none">
              <a:solidFill>
                <a:srgbClr val="000000"/>
              </a:solidFill>
              <a:effectLst/>
              <a:uFillTx/>
              <a:latin typeface="Arial"/>
            </a:endParaRPr>
          </a:p>
          <a:p>
            <a:pPr marL="432000" indent="-324000">
              <a:lnSpc>
                <a:spcPct val="100000"/>
              </a:lnSpc>
              <a:spcBef>
                <a:spcPts val="1417"/>
              </a:spcBef>
              <a:buClr>
                <a:srgbClr val="000000"/>
              </a:buClr>
              <a:buSzPct val="45000"/>
              <a:buFont typeface="Wingdings" charset="2"/>
              <a:buChar char=""/>
              <a:tabLst>
                <a:tab algn="l" pos="0"/>
              </a:tabLst>
            </a:pPr>
            <a:r>
              <a:rPr b="0" lang="en-US" sz="2000" strike="noStrike" u="none">
                <a:solidFill>
                  <a:srgbClr val="000000"/>
                </a:solidFill>
                <a:effectLst/>
                <a:uFillTx/>
                <a:latin typeface="Arial"/>
              </a:rPr>
              <a:t>Modelling the </a:t>
            </a:r>
            <a:r>
              <a:rPr b="1" lang="en-US" sz="2000" strike="noStrike" u="none">
                <a:solidFill>
                  <a:srgbClr val="000000"/>
                </a:solidFill>
                <a:effectLst/>
                <a:uFillTx/>
                <a:latin typeface="Arial"/>
              </a:rPr>
              <a:t>growth (learning) and decay (forgetting)</a:t>
            </a:r>
            <a:r>
              <a:rPr b="0" lang="en-US" sz="2000" strike="noStrike" u="none">
                <a:solidFill>
                  <a:srgbClr val="000000"/>
                </a:solidFill>
                <a:effectLst/>
                <a:uFillTx/>
                <a:latin typeface="Arial"/>
              </a:rPr>
              <a:t> of the </a:t>
            </a:r>
            <a:r>
              <a:rPr b="1" lang="en-US" sz="2000" strike="noStrike" u="none">
                <a:solidFill>
                  <a:srgbClr val="000000"/>
                </a:solidFill>
                <a:effectLst/>
                <a:uFillTx/>
                <a:latin typeface="Arial"/>
              </a:rPr>
              <a:t>Knowledge Components</a:t>
            </a:r>
            <a:r>
              <a:rPr b="0" lang="en-US" sz="2000" strike="noStrike" u="none">
                <a:solidFill>
                  <a:srgbClr val="000000"/>
                </a:solidFill>
                <a:effectLst/>
                <a:uFillTx/>
                <a:latin typeface="Arial"/>
              </a:rPr>
              <a:t> of a student over time.</a:t>
            </a:r>
            <a:endParaRPr b="0" lang="en-AU" sz="2000" strike="noStrike" u="none">
              <a:solidFill>
                <a:srgbClr val="000000"/>
              </a:solidFill>
              <a:effectLst/>
              <a:uFillTx/>
              <a:latin typeface="Arial"/>
            </a:endParaRPr>
          </a:p>
          <a:p>
            <a:pPr indent="0">
              <a:lnSpc>
                <a:spcPct val="100000"/>
              </a:lnSpc>
              <a:spcBef>
                <a:spcPts val="1417"/>
              </a:spcBef>
              <a:buNone/>
              <a:tabLst>
                <a:tab algn="l" pos="0"/>
              </a:tabLst>
            </a:pPr>
            <a:endParaRPr b="0" lang="en-AU" sz="2000" strike="noStrike" u="none">
              <a:solidFill>
                <a:srgbClr val="000000"/>
              </a:solidFill>
              <a:effectLst/>
              <a:uFillTx/>
              <a:latin typeface="Arial"/>
            </a:endParaRPr>
          </a:p>
          <a:p>
            <a:pPr indent="0">
              <a:lnSpc>
                <a:spcPct val="100000"/>
              </a:lnSpc>
              <a:spcBef>
                <a:spcPts val="1417"/>
              </a:spcBef>
              <a:buNone/>
              <a:tabLst>
                <a:tab algn="l" pos="0"/>
              </a:tabLst>
            </a:pPr>
            <a:endParaRPr b="0" lang="en-AU" sz="2400" strike="noStrike" u="none">
              <a:solidFill>
                <a:srgbClr val="000000"/>
              </a:solidFill>
              <a:effectLst/>
              <a:uFillTx/>
              <a:latin typeface="Arial"/>
            </a:endParaRPr>
          </a:p>
        </p:txBody>
      </p:sp>
      <p:sp>
        <p:nvSpPr>
          <p:cNvPr id="39" name=""/>
          <p:cNvSpPr/>
          <p:nvPr/>
        </p:nvSpPr>
        <p:spPr>
          <a:xfrm>
            <a:off x="181080" y="3780000"/>
            <a:ext cx="9717480" cy="1620000"/>
          </a:xfrm>
          <a:prstGeom prst="rect">
            <a:avLst/>
          </a:prstGeom>
          <a:noFill/>
          <a:ln w="36000">
            <a:solidFill>
              <a:srgbClr val="55308d"/>
            </a:solidFill>
            <a:prstDash val="sysDot"/>
            <a:round/>
          </a:ln>
        </p:spPr>
        <p:style>
          <a:lnRef idx="0"/>
          <a:fillRef idx="0"/>
          <a:effectRef idx="0"/>
          <a:fontRef idx="minor"/>
        </p:style>
        <p:txBody>
          <a:bodyPr lIns="108000" rIns="108000" tIns="63000" bIns="63000" anchor="t">
            <a:spAutoFit/>
          </a:bodyPr>
          <a:p>
            <a:pPr>
              <a:lnSpc>
                <a:spcPct val="100000"/>
              </a:lnSpc>
            </a:pPr>
            <a:r>
              <a:rPr b="0" lang="en-US" sz="1400" strike="noStrike" u="none">
                <a:solidFill>
                  <a:srgbClr val="000000"/>
                </a:solidFill>
                <a:effectLst/>
                <a:uFillTx/>
                <a:latin typeface="Arial"/>
                <a:ea typeface="DejaVu Sans"/>
              </a:rPr>
              <a:t>Why does it work?</a:t>
            </a:r>
            <a:endParaRPr b="0" lang="en-AU" sz="1400" strike="noStrike" u="none">
              <a:solidFill>
                <a:srgbClr val="000000"/>
              </a:solidFill>
              <a:effectLst/>
              <a:uFillTx/>
              <a:latin typeface="Arial"/>
            </a:endParaRPr>
          </a:p>
          <a:p>
            <a:pPr>
              <a:lnSpc>
                <a:spcPct val="100000"/>
              </a:lnSpc>
            </a:pPr>
            <a:endParaRPr b="0" lang="en-AU" sz="1400" strike="noStrike" u="none">
              <a:solidFill>
                <a:srgbClr val="000000"/>
              </a:solidFill>
              <a:effectLst/>
              <a:uFillTx/>
              <a:latin typeface="Arial"/>
            </a:endParaRPr>
          </a:p>
          <a:p>
            <a:pPr>
              <a:lnSpc>
                <a:spcPct val="100000"/>
              </a:lnSpc>
            </a:pPr>
            <a:r>
              <a:rPr b="0" lang="en-US" sz="1400" strike="noStrike" u="none">
                <a:solidFill>
                  <a:srgbClr val="000000"/>
                </a:solidFill>
                <a:effectLst/>
                <a:uFillTx/>
                <a:latin typeface="Arial"/>
                <a:ea typeface="Noto Sans CJK SC"/>
              </a:rPr>
              <a:t>Given a past attempt, (Question ID, Result), the model first</a:t>
            </a:r>
            <a:r>
              <a:rPr b="1" lang="en-US" sz="1400" strike="noStrike" u="none">
                <a:solidFill>
                  <a:srgbClr val="000000"/>
                </a:solidFill>
                <a:effectLst/>
                <a:uFillTx/>
                <a:latin typeface="Arial"/>
                <a:ea typeface="Noto Sans CJK SC"/>
              </a:rPr>
              <a:t> transforms </a:t>
            </a:r>
            <a:r>
              <a:rPr b="0" lang="en-US" sz="1400" strike="noStrike" u="none">
                <a:solidFill>
                  <a:srgbClr val="000000"/>
                </a:solidFill>
                <a:effectLst/>
                <a:uFillTx/>
                <a:latin typeface="Arial"/>
                <a:ea typeface="Noto Sans CJK SC"/>
              </a:rPr>
              <a:t>the Question into a combination of some </a:t>
            </a:r>
            <a:r>
              <a:rPr b="1" lang="en-US" sz="1400" strike="noStrike" u="none">
                <a:solidFill>
                  <a:srgbClr val="000000"/>
                </a:solidFill>
                <a:effectLst/>
                <a:uFillTx/>
                <a:latin typeface="Arial"/>
                <a:ea typeface="Noto Sans CJK SC"/>
              </a:rPr>
              <a:t>Knowledge Components</a:t>
            </a:r>
            <a:r>
              <a:rPr b="0" lang="en-US" sz="1400" strike="noStrike" u="none">
                <a:solidFill>
                  <a:srgbClr val="000000"/>
                </a:solidFill>
                <a:effectLst/>
                <a:uFillTx/>
                <a:latin typeface="Arial"/>
                <a:ea typeface="Noto Sans CJK SC"/>
              </a:rPr>
              <a:t>, and update the </a:t>
            </a:r>
            <a:r>
              <a:rPr b="1" lang="en-US" sz="1400" strike="noStrike" u="none">
                <a:solidFill>
                  <a:srgbClr val="000000"/>
                </a:solidFill>
                <a:effectLst/>
                <a:uFillTx/>
                <a:latin typeface="Arial"/>
                <a:ea typeface="Noto Sans CJK SC"/>
              </a:rPr>
              <a:t>Mastery</a:t>
            </a:r>
            <a:r>
              <a:rPr b="0" lang="en-US" sz="1400" strike="noStrike" u="none">
                <a:solidFill>
                  <a:srgbClr val="000000"/>
                </a:solidFill>
                <a:effectLst/>
                <a:uFillTx/>
                <a:latin typeface="Arial"/>
                <a:ea typeface="Noto Sans CJK SC"/>
              </a:rPr>
              <a:t> of the related Knowledge Components based on the Result.</a:t>
            </a:r>
            <a:endParaRPr b="0" lang="en-AU" sz="1400" strike="noStrike" u="none">
              <a:solidFill>
                <a:srgbClr val="000000"/>
              </a:solidFill>
              <a:effectLst/>
              <a:uFillTx/>
              <a:latin typeface="Arial"/>
            </a:endParaRPr>
          </a:p>
          <a:p>
            <a:pPr>
              <a:lnSpc>
                <a:spcPct val="100000"/>
              </a:lnSpc>
            </a:pPr>
            <a:endParaRPr b="0" lang="en-AU" sz="1400" strike="noStrike" u="none">
              <a:solidFill>
                <a:srgbClr val="000000"/>
              </a:solidFill>
              <a:effectLst/>
              <a:uFillTx/>
              <a:latin typeface="Arial"/>
            </a:endParaRPr>
          </a:p>
          <a:p>
            <a:pPr>
              <a:lnSpc>
                <a:spcPct val="100000"/>
              </a:lnSpc>
            </a:pPr>
            <a:r>
              <a:rPr b="0" lang="en-US" sz="1400" strike="noStrike" u="none">
                <a:solidFill>
                  <a:srgbClr val="000000"/>
                </a:solidFill>
                <a:effectLst/>
                <a:uFillTx/>
                <a:latin typeface="Arial"/>
                <a:ea typeface="Noto Sans CJK SC"/>
              </a:rPr>
              <a:t>Given a query Question, the model</a:t>
            </a:r>
            <a:r>
              <a:rPr b="1" lang="en-US" sz="1400" strike="noStrike" u="none">
                <a:solidFill>
                  <a:srgbClr val="000000"/>
                </a:solidFill>
                <a:effectLst/>
                <a:uFillTx/>
                <a:latin typeface="Arial"/>
                <a:ea typeface="Noto Sans CJK SC"/>
              </a:rPr>
              <a:t> transforms it into</a:t>
            </a:r>
            <a:r>
              <a:rPr b="0" lang="en-US" sz="1400" strike="noStrike" u="none">
                <a:solidFill>
                  <a:srgbClr val="000000"/>
                </a:solidFill>
                <a:effectLst/>
                <a:uFillTx/>
                <a:latin typeface="Arial"/>
                <a:ea typeface="Noto Sans CJK SC"/>
              </a:rPr>
              <a:t> a combination of some </a:t>
            </a:r>
            <a:r>
              <a:rPr b="1" lang="en-US" sz="1400" strike="noStrike" u="none">
                <a:solidFill>
                  <a:srgbClr val="000000"/>
                </a:solidFill>
                <a:effectLst/>
                <a:uFillTx/>
                <a:latin typeface="Arial"/>
                <a:ea typeface="Noto Sans CJK SC"/>
              </a:rPr>
              <a:t>Knowledge Components.</a:t>
            </a:r>
            <a:r>
              <a:rPr b="0" lang="en-US" sz="1400" strike="noStrike" u="none">
                <a:solidFill>
                  <a:srgbClr val="000000"/>
                </a:solidFill>
                <a:effectLst/>
                <a:uFillTx/>
                <a:latin typeface="Arial"/>
                <a:ea typeface="Noto Sans CJK SC"/>
              </a:rPr>
              <a:t> Based on the </a:t>
            </a:r>
            <a:r>
              <a:rPr b="1" lang="en-US" sz="1400" strike="noStrike" u="none">
                <a:solidFill>
                  <a:srgbClr val="000000"/>
                </a:solidFill>
                <a:effectLst/>
                <a:uFillTx/>
                <a:latin typeface="Arial"/>
                <a:ea typeface="Noto Sans CJK SC"/>
              </a:rPr>
              <a:t>Mastery</a:t>
            </a:r>
            <a:r>
              <a:rPr b="0" lang="en-US" sz="1400" strike="noStrike" u="none">
                <a:solidFill>
                  <a:srgbClr val="000000"/>
                </a:solidFill>
                <a:effectLst/>
                <a:uFillTx/>
                <a:latin typeface="Arial"/>
                <a:ea typeface="Noto Sans CJK SC"/>
              </a:rPr>
              <a:t> of the related Knowledge Components updated early, we can then predict if the student can answer it right.</a:t>
            </a:r>
            <a:endParaRPr b="0" lang="en-AU" sz="1400" strike="noStrike" u="none">
              <a:solidFill>
                <a:srgbClr val="000000"/>
              </a:solidFill>
              <a:effectLst/>
              <a:uFillTx/>
              <a:latin typeface="Arial"/>
            </a:endParaRPr>
          </a:p>
        </p:txBody>
      </p:sp>
      <p:sp>
        <p:nvSpPr>
          <p:cNvPr id="4" name="PlaceHolder 3"/>
          <p:cNvSpPr>
            <a:spLocks noGrp="1"/>
          </p:cNvSpPr>
          <p:nvPr>
            <p:ph type="sldNum" idx="2"/>
          </p:nvPr>
        </p:nvSpPr>
        <p:spPr/>
        <p:txBody>
          <a:bodyPr/>
          <a:p>
            <a:fld id="{9C1DCF31-A31D-489F-AF73-F072B0C3EB6C}" type="slidenum">
              <a:t>6</a:t>
            </a:fld>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 name="PlaceHolder 1"/>
          <p:cNvSpPr>
            <a:spLocks noGrp="1"/>
          </p:cNvSpPr>
          <p:nvPr>
            <p:ph type="title"/>
          </p:nvPr>
        </p:nvSpPr>
        <p:spPr>
          <a:xfrm>
            <a:off x="504000" y="148680"/>
            <a:ext cx="9069120" cy="1099080"/>
          </a:xfrm>
          <a:prstGeom prst="rect">
            <a:avLst/>
          </a:prstGeom>
          <a:noFill/>
          <a:ln w="0">
            <a:noFill/>
          </a:ln>
        </p:spPr>
        <p:txBody>
          <a:bodyPr lIns="0" rIns="0" tIns="0" bIns="0" anchor="ctr">
            <a:spAutoFit/>
          </a:bodyPr>
          <a:p>
            <a:pPr indent="0" algn="ctr">
              <a:lnSpc>
                <a:spcPct val="100000"/>
              </a:lnSpc>
              <a:buNone/>
              <a:tabLst>
                <a:tab algn="l" pos="0"/>
              </a:tabLst>
            </a:pPr>
            <a:r>
              <a:rPr b="0" lang="en-US" sz="3600" strike="noStrike" u="none">
                <a:solidFill>
                  <a:srgbClr val="000000"/>
                </a:solidFill>
                <a:effectLst/>
                <a:uFillTx/>
                <a:latin typeface="Arial"/>
              </a:rPr>
              <a:t>Typical Knowledge Tracing Model Architectures</a:t>
            </a:r>
            <a:endParaRPr b="0" lang="en-AU" sz="3600" strike="noStrike" u="none">
              <a:solidFill>
                <a:srgbClr val="000000"/>
              </a:solidFill>
              <a:effectLst/>
              <a:uFillTx/>
              <a:latin typeface="Arial"/>
            </a:endParaRPr>
          </a:p>
        </p:txBody>
      </p:sp>
      <p:sp>
        <p:nvSpPr>
          <p:cNvPr id="41" name=""/>
          <p:cNvSpPr/>
          <p:nvPr/>
        </p:nvSpPr>
        <p:spPr>
          <a:xfrm>
            <a:off x="7560000" y="1440000"/>
            <a:ext cx="1797480" cy="111168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en-US" sz="1800" strike="noStrike" u="none">
                <a:solidFill>
                  <a:srgbClr val="000000"/>
                </a:solidFill>
                <a:effectLst/>
                <a:uFillTx/>
                <a:latin typeface="Arial"/>
                <a:ea typeface="DejaVu Sans"/>
              </a:rPr>
              <a:t>Let’s explore them in reverse order 💪</a:t>
            </a:r>
            <a:endParaRPr b="0" lang="en-AU" sz="1800" strike="noStrike" u="none">
              <a:solidFill>
                <a:srgbClr val="000000"/>
              </a:solidFill>
              <a:effectLst/>
              <a:uFillTx/>
              <a:latin typeface="Arial"/>
            </a:endParaRPr>
          </a:p>
        </p:txBody>
      </p:sp>
      <p:sp>
        <p:nvSpPr>
          <p:cNvPr id="42" name=""/>
          <p:cNvSpPr/>
          <p:nvPr/>
        </p:nvSpPr>
        <p:spPr>
          <a:xfrm>
            <a:off x="7020000" y="2880000"/>
            <a:ext cx="2697480" cy="1077480"/>
          </a:xfrm>
          <a:prstGeom prst="rect">
            <a:avLst/>
          </a:prstGeom>
          <a:noFill/>
          <a:ln w="36000">
            <a:noFill/>
          </a:ln>
        </p:spPr>
        <p:style>
          <a:lnRef idx="0"/>
          <a:fillRef idx="0"/>
          <a:effectRef idx="0"/>
          <a:fontRef idx="minor"/>
        </p:style>
        <p:txBody>
          <a:bodyPr numCol="1" spcCol="0" lIns="108000" rIns="108000" tIns="63000" bIns="63000" anchor="t">
            <a:spAutoFit/>
          </a:bodyPr>
          <a:p>
            <a:pPr>
              <a:lnSpc>
                <a:spcPct val="100000"/>
              </a:lnSpc>
            </a:pPr>
            <a:r>
              <a:rPr b="0" lang="en-US" sz="1200" strike="noStrike" u="none">
                <a:solidFill>
                  <a:srgbClr val="000000"/>
                </a:solidFill>
                <a:effectLst/>
                <a:uFillTx/>
                <a:latin typeface="Arial"/>
                <a:ea typeface="DejaVu Sans"/>
              </a:rPr>
              <a:t>Bayesian: Bayesian Belief Network</a:t>
            </a:r>
            <a:endParaRPr b="0" lang="en-AU" sz="1200" strike="noStrike" u="none">
              <a:solidFill>
                <a:srgbClr val="000000"/>
              </a:solidFill>
              <a:effectLst/>
              <a:uFillTx/>
              <a:latin typeface="Arial"/>
            </a:endParaRPr>
          </a:p>
          <a:p>
            <a:pPr>
              <a:lnSpc>
                <a:spcPct val="100000"/>
              </a:lnSpc>
            </a:pPr>
            <a:r>
              <a:rPr b="0" lang="en-US" sz="1200" strike="noStrike" u="none">
                <a:solidFill>
                  <a:srgbClr val="000000"/>
                </a:solidFill>
                <a:effectLst/>
                <a:uFillTx/>
                <a:latin typeface="Arial"/>
                <a:ea typeface="DejaVu Sans"/>
              </a:rPr>
              <a:t>RNN: Recurrent Neural Network</a:t>
            </a:r>
            <a:endParaRPr b="0" lang="en-AU" sz="1200" strike="noStrike" u="none">
              <a:solidFill>
                <a:srgbClr val="000000"/>
              </a:solidFill>
              <a:effectLst/>
              <a:uFillTx/>
              <a:latin typeface="Arial"/>
            </a:endParaRPr>
          </a:p>
          <a:p>
            <a:pPr>
              <a:lnSpc>
                <a:spcPct val="100000"/>
              </a:lnSpc>
            </a:pPr>
            <a:r>
              <a:rPr b="0" lang="en-US" sz="1200" strike="noStrike" u="none">
                <a:solidFill>
                  <a:srgbClr val="000000"/>
                </a:solidFill>
                <a:effectLst/>
                <a:uFillTx/>
                <a:latin typeface="Arial"/>
                <a:ea typeface="DejaVu Sans"/>
              </a:rPr>
              <a:t>KVMN: Key-Value Memory Network</a:t>
            </a:r>
            <a:endParaRPr b="0" lang="en-AU" sz="1200" strike="noStrike" u="none">
              <a:solidFill>
                <a:srgbClr val="000000"/>
              </a:solidFill>
              <a:effectLst/>
              <a:uFillTx/>
              <a:latin typeface="Arial"/>
            </a:endParaRPr>
          </a:p>
          <a:p>
            <a:pPr>
              <a:lnSpc>
                <a:spcPct val="100000"/>
              </a:lnSpc>
            </a:pPr>
            <a:r>
              <a:rPr b="0" lang="en-US" sz="1200" strike="noStrike" u="none">
                <a:solidFill>
                  <a:srgbClr val="000000"/>
                </a:solidFill>
                <a:effectLst/>
                <a:uFillTx/>
                <a:latin typeface="Arial"/>
                <a:ea typeface="DejaVu Sans"/>
              </a:rPr>
              <a:t>GNN: Graph Neural Network</a:t>
            </a:r>
            <a:endParaRPr b="0" lang="en-AU" sz="1200" strike="noStrike" u="none">
              <a:solidFill>
                <a:srgbClr val="000000"/>
              </a:solidFill>
              <a:effectLst/>
              <a:uFillTx/>
              <a:latin typeface="Arial"/>
            </a:endParaRPr>
          </a:p>
          <a:p>
            <a:pPr>
              <a:lnSpc>
                <a:spcPct val="100000"/>
              </a:lnSpc>
            </a:pPr>
            <a:r>
              <a:rPr b="0" lang="en-US" sz="1200" strike="noStrike" u="none">
                <a:solidFill>
                  <a:srgbClr val="000000"/>
                </a:solidFill>
                <a:effectLst/>
                <a:uFillTx/>
                <a:latin typeface="Arial"/>
                <a:ea typeface="DejaVu Sans"/>
              </a:rPr>
              <a:t>Transformer: Transformer</a:t>
            </a:r>
            <a:endParaRPr b="0" lang="en-AU" sz="1200" strike="noStrike" u="none">
              <a:solidFill>
                <a:srgbClr val="000000"/>
              </a:solidFill>
              <a:effectLst/>
              <a:uFillTx/>
              <a:latin typeface="Arial"/>
            </a:endParaRPr>
          </a:p>
        </p:txBody>
      </p:sp>
      <p:pic>
        <p:nvPicPr>
          <p:cNvPr id="43" name="" descr=""/>
          <p:cNvPicPr/>
          <p:nvPr/>
        </p:nvPicPr>
        <p:blipFill>
          <a:blip r:embed="rId1"/>
          <a:stretch/>
        </p:blipFill>
        <p:spPr>
          <a:xfrm>
            <a:off x="720000" y="1620000"/>
            <a:ext cx="6117480" cy="2492280"/>
          </a:xfrm>
          <a:prstGeom prst="rect">
            <a:avLst/>
          </a:prstGeom>
          <a:noFill/>
          <a:ln w="0">
            <a:noFill/>
          </a:ln>
        </p:spPr>
      </p:pic>
      <p:sp>
        <p:nvSpPr>
          <p:cNvPr id="44" name=""/>
          <p:cNvSpPr/>
          <p:nvPr/>
        </p:nvSpPr>
        <p:spPr>
          <a:xfrm rot="20760000">
            <a:off x="6625080" y="1701000"/>
            <a:ext cx="717480" cy="357480"/>
          </a:xfrm>
          <a:prstGeom prst="leftArrow">
            <a:avLst>
              <a:gd name="adj1" fmla="val 50000"/>
              <a:gd name="adj2" fmla="val 50000"/>
            </a:avLst>
          </a:prstGeom>
          <a:solidFill>
            <a:srgbClr val="729fcf"/>
          </a:solidFill>
          <a:ln w="0">
            <a:solidFill>
              <a:srgbClr val="3465a4"/>
            </a:solidFill>
          </a:ln>
        </p:spPr>
        <p:style>
          <a:lnRef idx="0"/>
          <a:fillRef idx="0"/>
          <a:effectRef idx="0"/>
          <a:fontRef idx="minor"/>
        </p:style>
        <p:txBody>
          <a:bodyPr lIns="90000" rIns="90000" tIns="45000" bIns="45000" anchor="ctr">
            <a:noAutofit/>
          </a:bodyPr>
          <a:p>
            <a:pPr>
              <a:lnSpc>
                <a:spcPct val="100000"/>
              </a:lnSpc>
            </a:pPr>
            <a:endParaRPr b="0" lang="en-US" sz="1800" strike="noStrike" u="none">
              <a:solidFill>
                <a:srgbClr val="000000"/>
              </a:solidFill>
              <a:effectLst/>
              <a:uFillTx/>
              <a:latin typeface="Arial"/>
              <a:ea typeface="DejaVu Sans"/>
            </a:endParaRPr>
          </a:p>
        </p:txBody>
      </p:sp>
      <p:sp>
        <p:nvSpPr>
          <p:cNvPr id="45" name=""/>
          <p:cNvSpPr/>
          <p:nvPr/>
        </p:nvSpPr>
        <p:spPr>
          <a:xfrm>
            <a:off x="360000" y="4500000"/>
            <a:ext cx="9357480" cy="552600"/>
          </a:xfrm>
          <a:prstGeom prst="rect">
            <a:avLst/>
          </a:prstGeom>
          <a:noFill/>
          <a:ln w="36000">
            <a:solidFill>
              <a:srgbClr val="55308d"/>
            </a:solidFill>
            <a:prstDash val="sysDot"/>
            <a:round/>
          </a:ln>
        </p:spPr>
        <p:style>
          <a:lnRef idx="0"/>
          <a:fillRef idx="0"/>
          <a:effectRef idx="0"/>
          <a:fontRef idx="minor"/>
        </p:style>
        <p:txBody>
          <a:bodyPr numCol="1" spcCol="0" lIns="108000" rIns="108000" tIns="63000" bIns="63000" anchor="t">
            <a:spAutoFit/>
          </a:bodyPr>
          <a:p>
            <a:pPr>
              <a:lnSpc>
                <a:spcPct val="100000"/>
              </a:lnSpc>
            </a:pPr>
            <a:r>
              <a:rPr b="0" lang="en-US" sz="1400" strike="noStrike" u="none">
                <a:solidFill>
                  <a:srgbClr val="000000"/>
                </a:solidFill>
                <a:effectLst/>
                <a:uFillTx/>
                <a:latin typeface="Arial"/>
                <a:ea typeface="DejaVu Sans"/>
              </a:rPr>
              <a:t>Note: the year represents when the specific model architecture was first used for Knowledge Tracing, not the invention of the model architecture itself.</a:t>
            </a:r>
            <a:endParaRPr b="0" lang="en-AU" sz="1400" strike="noStrike" u="none">
              <a:solidFill>
                <a:srgbClr val="000000"/>
              </a:solidFill>
              <a:effectLst/>
              <a:uFillTx/>
              <a:latin typeface="Arial"/>
            </a:endParaRPr>
          </a:p>
        </p:txBody>
      </p:sp>
      <p:sp>
        <p:nvSpPr>
          <p:cNvPr id="3" name="PlaceHolder 2"/>
          <p:cNvSpPr>
            <a:spLocks noGrp="1"/>
          </p:cNvSpPr>
          <p:nvPr>
            <p:ph type="sldNum" idx="2"/>
          </p:nvPr>
        </p:nvSpPr>
        <p:spPr/>
        <p:txBody>
          <a:bodyPr/>
          <a:p>
            <a:fld id="{D0B7C6FE-47EB-4B53-AE4B-DE3FAC417FEE}" type="slidenum">
              <a:t>7</a:t>
            </a:fld>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 name=""/>
          <p:cNvSpPr/>
          <p:nvPr/>
        </p:nvSpPr>
        <p:spPr>
          <a:xfrm>
            <a:off x="6480000" y="720000"/>
            <a:ext cx="3417480" cy="1186920"/>
          </a:xfrm>
          <a:prstGeom prst="rect">
            <a:avLst/>
          </a:prstGeom>
          <a:noFill/>
          <a:ln w="0">
            <a:noFill/>
          </a:ln>
        </p:spPr>
        <p:style>
          <a:lnRef idx="0"/>
          <a:fillRef idx="0"/>
          <a:effectRef idx="0"/>
          <a:fontRef idx="minor"/>
        </p:style>
        <p:txBody>
          <a:bodyPr lIns="90000" rIns="90000" tIns="45000" bIns="45000" anchor="t">
            <a:spAutoFit/>
          </a:bodyPr>
          <a:p>
            <a:pPr marL="216000" indent="-216000">
              <a:lnSpc>
                <a:spcPct val="100000"/>
              </a:lnSpc>
              <a:buClr>
                <a:srgbClr val="000000"/>
              </a:buClr>
              <a:buSzPct val="45000"/>
              <a:buFont typeface="Wingdings" charset="2"/>
              <a:buChar char=""/>
            </a:pPr>
            <a:r>
              <a:rPr b="0" lang="en-US" sz="1200" strike="noStrike" u="none">
                <a:solidFill>
                  <a:srgbClr val="2a6099"/>
                </a:solidFill>
                <a:effectLst/>
                <a:uFillTx/>
                <a:latin typeface="Arial"/>
                <a:ea typeface="DejaVu Sans"/>
              </a:rPr>
              <a:t>Static/global parameters</a:t>
            </a:r>
            <a:r>
              <a:rPr b="0" lang="en-US" sz="1200" strike="noStrike" u="none">
                <a:solidFill>
                  <a:srgbClr val="000000"/>
                </a:solidFill>
                <a:effectLst/>
                <a:uFillTx/>
                <a:latin typeface="Arial"/>
                <a:ea typeface="DejaVu Sans"/>
              </a:rPr>
              <a:t>. </a:t>
            </a:r>
            <a:endParaRPr b="0" lang="en-AU" sz="1200" strike="noStrike" u="none">
              <a:solidFill>
                <a:srgbClr val="000000"/>
              </a:solidFill>
              <a:effectLst/>
              <a:uFillTx/>
              <a:latin typeface="Arial"/>
            </a:endParaRPr>
          </a:p>
          <a:p>
            <a:pPr lvl="1" marL="432000" indent="-216000">
              <a:lnSpc>
                <a:spcPct val="100000"/>
              </a:lnSpc>
              <a:buClr>
                <a:srgbClr val="000000"/>
              </a:buClr>
              <a:buSzPct val="45000"/>
              <a:buFont typeface="Wingdings" charset="2"/>
              <a:buChar char=""/>
            </a:pPr>
            <a:r>
              <a:rPr b="0" lang="en-US" sz="1200" strike="noStrike" u="none">
                <a:solidFill>
                  <a:srgbClr val="000000"/>
                </a:solidFill>
                <a:effectLst/>
                <a:uFillTx/>
                <a:latin typeface="Arial"/>
                <a:ea typeface="DejaVu Sans"/>
              </a:rPr>
              <a:t>Learned during training. </a:t>
            </a:r>
            <a:endParaRPr b="0" lang="en-AU" sz="1200" strike="noStrike" u="none">
              <a:solidFill>
                <a:srgbClr val="000000"/>
              </a:solidFill>
              <a:effectLst/>
              <a:uFillTx/>
              <a:latin typeface="Arial"/>
            </a:endParaRPr>
          </a:p>
          <a:p>
            <a:pPr lvl="1" marL="432000" indent="-216000">
              <a:lnSpc>
                <a:spcPct val="100000"/>
              </a:lnSpc>
              <a:buClr>
                <a:srgbClr val="000000"/>
              </a:buClr>
              <a:buSzPct val="45000"/>
              <a:buFont typeface="Wingdings" charset="2"/>
              <a:buChar char=""/>
            </a:pPr>
            <a:r>
              <a:rPr b="0" lang="en-US" sz="1200" strike="noStrike" u="none">
                <a:solidFill>
                  <a:srgbClr val="000000"/>
                </a:solidFill>
                <a:effectLst/>
                <a:uFillTx/>
                <a:latin typeface="Arial"/>
                <a:ea typeface="DejaVu Sans"/>
              </a:rPr>
              <a:t>Fixed at inference.</a:t>
            </a:r>
            <a:endParaRPr b="0" lang="en-AU" sz="1200" strike="noStrike" u="none">
              <a:solidFill>
                <a:srgbClr val="000000"/>
              </a:solidFill>
              <a:effectLst/>
              <a:uFillTx/>
              <a:latin typeface="Arial"/>
            </a:endParaRPr>
          </a:p>
          <a:p>
            <a:pPr marL="216000" indent="-216000">
              <a:lnSpc>
                <a:spcPct val="100000"/>
              </a:lnSpc>
              <a:buClr>
                <a:srgbClr val="000000"/>
              </a:buClr>
              <a:buSzPct val="45000"/>
              <a:buFont typeface="Wingdings" charset="2"/>
              <a:buChar char=""/>
            </a:pPr>
            <a:r>
              <a:rPr b="0" lang="en-US" sz="1200" strike="noStrike" u="none">
                <a:solidFill>
                  <a:srgbClr val="00a933"/>
                </a:solidFill>
                <a:effectLst/>
                <a:uFillTx/>
                <a:latin typeface="Arial"/>
                <a:ea typeface="DejaVu Sans"/>
              </a:rPr>
              <a:t>Dynamic/online parameters.</a:t>
            </a:r>
            <a:r>
              <a:rPr b="0" lang="en-US" sz="1200" strike="noStrike" u="none">
                <a:solidFill>
                  <a:srgbClr val="000000"/>
                </a:solidFill>
                <a:effectLst/>
                <a:uFillTx/>
                <a:latin typeface="Arial"/>
                <a:ea typeface="DejaVu Sans"/>
              </a:rPr>
              <a:t> </a:t>
            </a:r>
            <a:endParaRPr b="0" lang="en-AU" sz="1200" strike="noStrike" u="none">
              <a:solidFill>
                <a:srgbClr val="000000"/>
              </a:solidFill>
              <a:effectLst/>
              <a:uFillTx/>
              <a:latin typeface="Arial"/>
            </a:endParaRPr>
          </a:p>
          <a:p>
            <a:pPr lvl="1" marL="432000" indent="-216000">
              <a:lnSpc>
                <a:spcPct val="100000"/>
              </a:lnSpc>
              <a:buClr>
                <a:srgbClr val="000000"/>
              </a:buClr>
              <a:buSzPct val="45000"/>
              <a:buFont typeface="Wingdings" charset="2"/>
              <a:buChar char=""/>
            </a:pPr>
            <a:r>
              <a:rPr b="0" lang="en-US" sz="1200" strike="noStrike" u="none">
                <a:solidFill>
                  <a:srgbClr val="000000"/>
                </a:solidFill>
                <a:effectLst/>
                <a:uFillTx/>
                <a:latin typeface="Arial"/>
                <a:ea typeface="DejaVu Sans"/>
              </a:rPr>
              <a:t>Updated during inference.</a:t>
            </a:r>
            <a:endParaRPr b="0" lang="en-AU" sz="1200" strike="noStrike" u="none">
              <a:solidFill>
                <a:srgbClr val="000000"/>
              </a:solidFill>
              <a:effectLst/>
              <a:uFillTx/>
              <a:latin typeface="Arial"/>
            </a:endParaRPr>
          </a:p>
          <a:p>
            <a:pPr lvl="1" marL="432000" indent="-216000">
              <a:lnSpc>
                <a:spcPct val="100000"/>
              </a:lnSpc>
              <a:buClr>
                <a:srgbClr val="000000"/>
              </a:buClr>
              <a:buSzPct val="45000"/>
              <a:buFont typeface="Wingdings" charset="2"/>
              <a:buChar char=""/>
            </a:pPr>
            <a:r>
              <a:rPr b="0" lang="en-US" sz="1200" strike="noStrike" u="none">
                <a:solidFill>
                  <a:srgbClr val="000000"/>
                </a:solidFill>
                <a:effectLst/>
                <a:uFillTx/>
                <a:latin typeface="Arial"/>
                <a:ea typeface="DejaVu Sans"/>
              </a:rPr>
              <a:t>Specific to each student / [(Question, ID)]</a:t>
            </a:r>
            <a:endParaRPr b="0" lang="en-AU" sz="1200" strike="noStrike" u="none">
              <a:solidFill>
                <a:srgbClr val="000000"/>
              </a:solidFill>
              <a:effectLst/>
              <a:uFillTx/>
              <a:latin typeface="Arial"/>
            </a:endParaRPr>
          </a:p>
        </p:txBody>
      </p:sp>
      <p:pic>
        <p:nvPicPr>
          <p:cNvPr id="47" name="" descr=""/>
          <p:cNvPicPr/>
          <p:nvPr/>
        </p:nvPicPr>
        <p:blipFill>
          <a:blip r:embed="rId1"/>
          <a:stretch/>
        </p:blipFill>
        <p:spPr>
          <a:xfrm>
            <a:off x="3240000" y="139680"/>
            <a:ext cx="3057480" cy="5437800"/>
          </a:xfrm>
          <a:prstGeom prst="rect">
            <a:avLst/>
          </a:prstGeom>
          <a:noFill/>
          <a:ln w="0">
            <a:noFill/>
          </a:ln>
        </p:spPr>
      </p:pic>
      <p:pic>
        <p:nvPicPr>
          <p:cNvPr id="48" name="" descr=""/>
          <p:cNvPicPr/>
          <p:nvPr/>
        </p:nvPicPr>
        <p:blipFill>
          <a:blip r:embed="rId2"/>
          <a:stretch/>
        </p:blipFill>
        <p:spPr>
          <a:xfrm>
            <a:off x="315360" y="360000"/>
            <a:ext cx="2922120" cy="4947120"/>
          </a:xfrm>
          <a:prstGeom prst="rect">
            <a:avLst/>
          </a:prstGeom>
          <a:noFill/>
          <a:ln w="0">
            <a:noFill/>
          </a:ln>
        </p:spPr>
      </p:pic>
      <p:sp>
        <p:nvSpPr>
          <p:cNvPr id="49" name=""/>
          <p:cNvSpPr/>
          <p:nvPr/>
        </p:nvSpPr>
        <p:spPr>
          <a:xfrm>
            <a:off x="6120000" y="139680"/>
            <a:ext cx="3957480" cy="537480"/>
          </a:xfrm>
          <a:prstGeom prst="rect">
            <a:avLst/>
          </a:prstGeom>
          <a:noFill/>
          <a:ln w="0">
            <a:noFill/>
          </a:ln>
        </p:spPr>
        <p:style>
          <a:lnRef idx="0"/>
          <a:fillRef idx="0"/>
          <a:effectRef idx="0"/>
          <a:fontRef idx="minor"/>
        </p:style>
        <p:txBody>
          <a:bodyPr lIns="90000" rIns="90000" tIns="45000" bIns="45000" anchor="t" anchorCtr="1">
            <a:spAutoFit/>
          </a:bodyPr>
          <a:p>
            <a:pPr algn="ctr">
              <a:lnSpc>
                <a:spcPct val="100000"/>
              </a:lnSpc>
            </a:pPr>
            <a:r>
              <a:rPr b="0" lang="en-US" sz="2600" strike="noStrike" u="none">
                <a:solidFill>
                  <a:srgbClr val="000000"/>
                </a:solidFill>
                <a:effectLst/>
                <a:uFillTx/>
                <a:latin typeface="Arial"/>
                <a:ea typeface="DejaVu Sans"/>
              </a:rPr>
              <a:t>Graph Neural Network</a:t>
            </a:r>
            <a:endParaRPr b="0" lang="en-AU" sz="2600" strike="noStrike" u="none">
              <a:solidFill>
                <a:srgbClr val="000000"/>
              </a:solidFill>
              <a:effectLst/>
              <a:uFillTx/>
              <a:latin typeface="Arial"/>
            </a:endParaRPr>
          </a:p>
        </p:txBody>
      </p:sp>
      <p:sp>
        <p:nvSpPr>
          <p:cNvPr id="50" name=""/>
          <p:cNvSpPr/>
          <p:nvPr/>
        </p:nvSpPr>
        <p:spPr>
          <a:xfrm>
            <a:off x="6660000" y="2160000"/>
            <a:ext cx="3057480" cy="2873160"/>
          </a:xfrm>
          <a:prstGeom prst="rect">
            <a:avLst/>
          </a:prstGeom>
          <a:noFill/>
          <a:ln w="36000">
            <a:solidFill>
              <a:srgbClr val="5b277d"/>
            </a:solidFill>
            <a:prstDash val="sysDot"/>
            <a:round/>
          </a:ln>
        </p:spPr>
        <p:style>
          <a:lnRef idx="0"/>
          <a:fillRef idx="0"/>
          <a:effectRef idx="0"/>
          <a:fontRef idx="minor"/>
        </p:style>
        <p:txBody>
          <a:bodyPr lIns="108000" rIns="108000" tIns="63000" bIns="63000" anchor="t">
            <a:spAutoFit/>
          </a:bodyPr>
          <a:p>
            <a:pPr>
              <a:lnSpc>
                <a:spcPct val="100000"/>
              </a:lnSpc>
            </a:pPr>
            <a:r>
              <a:rPr b="0" i="1" lang="en-US" sz="1000" strike="noStrike" u="none">
                <a:solidFill>
                  <a:srgbClr val="000000"/>
                </a:solidFill>
                <a:effectLst/>
                <a:uFillTx/>
                <a:latin typeface="Arial"/>
                <a:ea typeface="Noto Sans CJK SC"/>
              </a:rPr>
              <a:t>Note: the RHS graph does not tie to any specific graph-based knowledge tracing models (GKT), but it is adapted from a couple of GKT models, especially Abdelrahman et al.’s Deep Graph Memory Network (DGMN), to give a simple and intuitive view of how GKT works in general. Here are some simplifications made:</a:t>
            </a:r>
            <a:endParaRPr b="0" lang="en-AU" sz="1000" strike="noStrike" u="none">
              <a:solidFill>
                <a:srgbClr val="000000"/>
              </a:solidFill>
              <a:effectLst/>
              <a:uFillTx/>
              <a:latin typeface="Arial"/>
            </a:endParaRPr>
          </a:p>
          <a:p>
            <a:pPr>
              <a:lnSpc>
                <a:spcPct val="100000"/>
              </a:lnSpc>
            </a:pPr>
            <a:endParaRPr b="0" lang="en-AU" sz="1000" strike="noStrike" u="none">
              <a:solidFill>
                <a:srgbClr val="000000"/>
              </a:solidFill>
              <a:effectLst/>
              <a:uFillTx/>
              <a:latin typeface="Arial"/>
            </a:endParaRPr>
          </a:p>
          <a:p>
            <a:pPr marL="216000" indent="-216000">
              <a:lnSpc>
                <a:spcPct val="100000"/>
              </a:lnSpc>
              <a:buClr>
                <a:srgbClr val="000000"/>
              </a:buClr>
              <a:buSzPct val="45000"/>
              <a:buFont typeface="Wingdings" charset="2"/>
              <a:buChar char=""/>
            </a:pPr>
            <a:r>
              <a:rPr b="0" i="1" lang="en-US" sz="1000" strike="noStrike" u="none">
                <a:solidFill>
                  <a:srgbClr val="000000"/>
                </a:solidFill>
                <a:effectLst/>
                <a:uFillTx/>
                <a:latin typeface="Arial"/>
                <a:ea typeface="Noto Sans CJK SC"/>
              </a:rPr>
              <a:t>Mastery of each node is usually represented as a vector instead of just a scalar.</a:t>
            </a:r>
            <a:endParaRPr b="0" lang="en-AU" sz="1000" strike="noStrike" u="none">
              <a:solidFill>
                <a:srgbClr val="000000"/>
              </a:solidFill>
              <a:effectLst/>
              <a:uFillTx/>
              <a:latin typeface="Arial"/>
            </a:endParaRPr>
          </a:p>
          <a:p>
            <a:pPr marL="216000" indent="-216000">
              <a:lnSpc>
                <a:spcPct val="100000"/>
              </a:lnSpc>
              <a:buClr>
                <a:srgbClr val="000000"/>
              </a:buClr>
              <a:buSzPct val="45000"/>
              <a:buFont typeface="Wingdings" charset="2"/>
              <a:buChar char=""/>
            </a:pPr>
            <a:r>
              <a:rPr b="0" i="1" lang="en-US" sz="1000" strike="noStrike" u="none">
                <a:solidFill>
                  <a:srgbClr val="000000"/>
                </a:solidFill>
                <a:effectLst/>
                <a:uFillTx/>
                <a:latin typeface="Arial"/>
                <a:ea typeface="Noto Sans CJK SC"/>
              </a:rPr>
              <a:t>The mappings between questions and KCs are not binary. A question can map to all KCs with some weights</a:t>
            </a:r>
            <a:endParaRPr b="0" lang="en-AU" sz="1000" strike="noStrike" u="none">
              <a:solidFill>
                <a:srgbClr val="000000"/>
              </a:solidFill>
              <a:effectLst/>
              <a:uFillTx/>
              <a:latin typeface="Arial"/>
            </a:endParaRPr>
          </a:p>
          <a:p>
            <a:pPr>
              <a:lnSpc>
                <a:spcPct val="100000"/>
              </a:lnSpc>
            </a:pPr>
            <a:endParaRPr b="0" lang="en-AU" sz="1000" strike="noStrike" u="none">
              <a:solidFill>
                <a:srgbClr val="000000"/>
              </a:solidFill>
              <a:effectLst/>
              <a:uFillTx/>
              <a:latin typeface="Arial"/>
            </a:endParaRPr>
          </a:p>
          <a:p>
            <a:pPr>
              <a:lnSpc>
                <a:spcPct val="100000"/>
              </a:lnSpc>
            </a:pPr>
            <a:r>
              <a:rPr b="0" i="1" lang="en-US" sz="1000" strike="noStrike" u="none">
                <a:solidFill>
                  <a:srgbClr val="000000"/>
                </a:solidFill>
                <a:effectLst/>
                <a:uFillTx/>
                <a:latin typeface="Arial"/>
                <a:ea typeface="Noto Sans CJK SC"/>
              </a:rPr>
              <a:t>Ghodai Abdelrahman and Qing Wang. 2022. Deep graph memory networks for forgetting-robust knowledge tracing.</a:t>
            </a:r>
            <a:endParaRPr b="0" lang="en-AU" sz="1000" strike="noStrike" u="none">
              <a:solidFill>
                <a:srgbClr val="000000"/>
              </a:solidFill>
              <a:effectLst/>
              <a:uFillTx/>
              <a:latin typeface="Arial"/>
            </a:endParaRPr>
          </a:p>
          <a:p>
            <a:pPr>
              <a:lnSpc>
                <a:spcPct val="100000"/>
              </a:lnSpc>
            </a:pPr>
            <a:r>
              <a:rPr b="0" i="1" lang="en-US" sz="1000" strike="noStrike" u="none">
                <a:solidFill>
                  <a:srgbClr val="000000"/>
                </a:solidFill>
                <a:effectLst/>
                <a:uFillTx/>
                <a:latin typeface="Arial"/>
                <a:ea typeface="Noto Sans CJK SC"/>
              </a:rPr>
              <a:t>TKDE (2022)</a:t>
            </a:r>
            <a:endParaRPr b="0" lang="en-AU" sz="1000" strike="noStrike" u="none">
              <a:solidFill>
                <a:srgbClr val="000000"/>
              </a:solidFill>
              <a:effectLst/>
              <a:uFillTx/>
              <a:latin typeface="Arial"/>
            </a:endParaRPr>
          </a:p>
        </p:txBody>
      </p:sp>
      <p:sp>
        <p:nvSpPr>
          <p:cNvPr id="2" name="PlaceHolder 1"/>
          <p:cNvSpPr>
            <a:spLocks noGrp="1"/>
          </p:cNvSpPr>
          <p:nvPr>
            <p:ph type="sldNum" idx="2"/>
          </p:nvPr>
        </p:nvSpPr>
        <p:spPr/>
        <p:txBody>
          <a:bodyPr/>
          <a:p>
            <a:fld id="{E0A005B3-6D64-4099-8E7D-29C8D7461940}" type="slidenum">
              <a:t>8</a:t>
            </a:fld>
          </a:p>
        </p:txBody>
      </p:sp>
    </p:spTree>
  </p:cSld>
  <mc:AlternateContent>
    <mc:Choice Requires="p14">
      <p:transition spd="slow" p14:dur="2000"/>
    </mc:Choice>
    <mc:Fallback>
      <p:transition spd="slow"/>
    </mc:Fallback>
  </mc:AlternateContent>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nodeType="clickEffect" fill="hold" presetClass="entr" presetID="1">
                                  <p:stCondLst>
                                    <p:cond delay="0"/>
                                  </p:stCondLst>
                                  <p:childTnLst>
                                    <p:set>
                                      <p:cBhvr>
                                        <p:cTn id="6" dur="1" fill="hold">
                                          <p:stCondLst>
                                            <p:cond delay="0"/>
                                          </p:stCondLst>
                                        </p:cTn>
                                        <p:tgtEl>
                                          <p:spTgt spid="5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 name="PlaceHolder 1"/>
          <p:cNvSpPr>
            <a:spLocks noGrp="1"/>
          </p:cNvSpPr>
          <p:nvPr>
            <p:ph type="title"/>
          </p:nvPr>
        </p:nvSpPr>
        <p:spPr>
          <a:xfrm>
            <a:off x="3780000" y="177480"/>
            <a:ext cx="5649120" cy="676440"/>
          </a:xfrm>
          <a:prstGeom prst="rect">
            <a:avLst/>
          </a:prstGeom>
          <a:noFill/>
          <a:ln w="0">
            <a:noFill/>
          </a:ln>
        </p:spPr>
        <p:txBody>
          <a:bodyPr lIns="0" rIns="0" tIns="0" bIns="0" anchor="ctr">
            <a:spAutoFit/>
          </a:bodyPr>
          <a:p>
            <a:pPr indent="0" algn="ctr">
              <a:lnSpc>
                <a:spcPct val="100000"/>
              </a:lnSpc>
              <a:buNone/>
              <a:tabLst>
                <a:tab algn="l" pos="0"/>
              </a:tabLst>
            </a:pPr>
            <a:r>
              <a:rPr b="0" lang="en-US" sz="2600" strike="noStrike" u="none">
                <a:solidFill>
                  <a:srgbClr val="000000"/>
                </a:solidFill>
                <a:effectLst/>
                <a:uFillTx/>
                <a:latin typeface="Arial"/>
              </a:rPr>
              <a:t>Graph Neural Network (Analysis)</a:t>
            </a:r>
            <a:endParaRPr b="0" lang="en-AU" sz="2600" strike="noStrike" u="none">
              <a:solidFill>
                <a:srgbClr val="000000"/>
              </a:solidFill>
              <a:effectLst/>
              <a:uFillTx/>
              <a:latin typeface="Arial"/>
            </a:endParaRPr>
          </a:p>
        </p:txBody>
      </p:sp>
      <p:sp>
        <p:nvSpPr>
          <p:cNvPr id="52" name="PlaceHolder 2"/>
          <p:cNvSpPr>
            <a:spLocks noGrp="1"/>
          </p:cNvSpPr>
          <p:nvPr>
            <p:ph/>
          </p:nvPr>
        </p:nvSpPr>
        <p:spPr>
          <a:xfrm>
            <a:off x="4140000" y="1080000"/>
            <a:ext cx="5577480" cy="3957480"/>
          </a:xfrm>
          <a:prstGeom prst="rect">
            <a:avLst/>
          </a:prstGeom>
          <a:noFill/>
          <a:ln w="0">
            <a:noFill/>
          </a:ln>
        </p:spPr>
        <p:txBody>
          <a:bodyPr lIns="0" rIns="0" tIns="0" bIns="0" anchor="t">
            <a:normAutofit lnSpcReduction="9999"/>
          </a:bodyPr>
          <a:p>
            <a:pPr indent="0">
              <a:lnSpc>
                <a:spcPct val="100000"/>
              </a:lnSpc>
              <a:spcBef>
                <a:spcPts val="1417"/>
              </a:spcBef>
              <a:buNone/>
              <a:tabLst>
                <a:tab algn="l" pos="0"/>
              </a:tabLst>
            </a:pPr>
            <a:r>
              <a:rPr b="0" lang="en-US" sz="1600" strike="noStrike" u="none">
                <a:solidFill>
                  <a:srgbClr val="000000"/>
                </a:solidFill>
                <a:effectLst/>
                <a:uFillTx/>
                <a:latin typeface="Arial"/>
              </a:rPr>
              <a:t>🤔 How does it model KCs?</a:t>
            </a:r>
            <a:endParaRPr b="0" lang="en-AU" sz="1600" strike="noStrike" u="none">
              <a:solidFill>
                <a:srgbClr val="000000"/>
              </a:solidFill>
              <a:effectLst/>
              <a:uFillTx/>
              <a:latin typeface="Arial"/>
            </a:endParaRPr>
          </a:p>
          <a:p>
            <a:pPr marL="432000" indent="-324000">
              <a:lnSpc>
                <a:spcPct val="100000"/>
              </a:lnSpc>
              <a:spcBef>
                <a:spcPts val="1417"/>
              </a:spcBef>
              <a:buClr>
                <a:srgbClr val="000000"/>
              </a:buClr>
              <a:buSzPct val="45000"/>
              <a:buFont typeface="Wingdings" charset="2"/>
              <a:buChar char=""/>
              <a:tabLst>
                <a:tab algn="l" pos="0"/>
              </a:tabLst>
            </a:pPr>
            <a:r>
              <a:rPr b="1" lang="en-US" sz="1600" strike="noStrike" u="none">
                <a:solidFill>
                  <a:srgbClr val="000000"/>
                </a:solidFill>
                <a:effectLst/>
                <a:uFillTx/>
                <a:latin typeface="Arial"/>
              </a:rPr>
              <a:t>Explicitly</a:t>
            </a:r>
            <a:r>
              <a:rPr b="0" lang="en-US" sz="1600" strike="noStrike" u="none">
                <a:solidFill>
                  <a:srgbClr val="000000"/>
                </a:solidFill>
                <a:effectLst/>
                <a:uFillTx/>
                <a:latin typeface="Arial"/>
              </a:rPr>
              <a:t> through nodes.</a:t>
            </a:r>
            <a:endParaRPr b="0" lang="en-AU" sz="1600" strike="noStrike" u="none">
              <a:solidFill>
                <a:srgbClr val="000000"/>
              </a:solidFill>
              <a:effectLst/>
              <a:uFillTx/>
              <a:latin typeface="Arial"/>
            </a:endParaRPr>
          </a:p>
          <a:p>
            <a:pPr indent="0">
              <a:lnSpc>
                <a:spcPct val="100000"/>
              </a:lnSpc>
              <a:spcBef>
                <a:spcPts val="1417"/>
              </a:spcBef>
              <a:buNone/>
              <a:tabLst>
                <a:tab algn="l" pos="0"/>
              </a:tabLst>
            </a:pPr>
            <a:r>
              <a:rPr b="0" lang="en-US" sz="1600" strike="noStrike" u="none">
                <a:solidFill>
                  <a:srgbClr val="000000"/>
                </a:solidFill>
                <a:effectLst/>
                <a:uFillTx/>
                <a:latin typeface="Arial"/>
              </a:rPr>
              <a:t>🤔 How does it model KC-KC relations?</a:t>
            </a:r>
            <a:endParaRPr b="0" lang="en-AU" sz="1600" strike="noStrike" u="none">
              <a:solidFill>
                <a:srgbClr val="000000"/>
              </a:solidFill>
              <a:effectLst/>
              <a:uFillTx/>
              <a:latin typeface="Arial"/>
            </a:endParaRPr>
          </a:p>
          <a:p>
            <a:pPr marL="432000" indent="-324000">
              <a:lnSpc>
                <a:spcPct val="100000"/>
              </a:lnSpc>
              <a:spcBef>
                <a:spcPts val="1417"/>
              </a:spcBef>
              <a:buClr>
                <a:srgbClr val="000000"/>
              </a:buClr>
              <a:buSzPct val="45000"/>
              <a:buFont typeface="Wingdings" charset="2"/>
              <a:buChar char=""/>
              <a:tabLst>
                <a:tab algn="l" pos="0"/>
              </a:tabLst>
            </a:pPr>
            <a:r>
              <a:rPr b="1" lang="en-US" sz="1600" strike="noStrike" u="none">
                <a:solidFill>
                  <a:srgbClr val="000000"/>
                </a:solidFill>
                <a:effectLst/>
                <a:uFillTx/>
                <a:latin typeface="Arial"/>
              </a:rPr>
              <a:t>Explicitly</a:t>
            </a:r>
            <a:r>
              <a:rPr b="0" lang="en-US" sz="1600" strike="noStrike" u="none">
                <a:solidFill>
                  <a:srgbClr val="000000"/>
                </a:solidFill>
                <a:effectLst/>
                <a:uFillTx/>
                <a:latin typeface="Arial"/>
              </a:rPr>
              <a:t> through edges.</a:t>
            </a:r>
            <a:endParaRPr b="0" lang="en-AU" sz="1600" strike="noStrike" u="none">
              <a:solidFill>
                <a:srgbClr val="000000"/>
              </a:solidFill>
              <a:effectLst/>
              <a:uFillTx/>
              <a:latin typeface="Arial"/>
            </a:endParaRPr>
          </a:p>
          <a:p>
            <a:pPr indent="0">
              <a:lnSpc>
                <a:spcPct val="100000"/>
              </a:lnSpc>
              <a:spcBef>
                <a:spcPts val="1417"/>
              </a:spcBef>
              <a:buNone/>
              <a:tabLst>
                <a:tab algn="l" pos="0"/>
              </a:tabLst>
            </a:pPr>
            <a:r>
              <a:rPr b="0" lang="en-US" sz="1600" strike="noStrike" u="none">
                <a:solidFill>
                  <a:srgbClr val="000000"/>
                </a:solidFill>
                <a:effectLst/>
                <a:uFillTx/>
                <a:latin typeface="Arial"/>
              </a:rPr>
              <a:t>🤔 How does it model the learning of KCs?</a:t>
            </a:r>
            <a:endParaRPr b="0" lang="en-AU" sz="1600" strike="noStrike" u="none">
              <a:solidFill>
                <a:srgbClr val="000000"/>
              </a:solidFill>
              <a:effectLst/>
              <a:uFillTx/>
              <a:latin typeface="Arial"/>
            </a:endParaRPr>
          </a:p>
          <a:p>
            <a:pPr marL="432000" indent="-324000">
              <a:lnSpc>
                <a:spcPct val="100000"/>
              </a:lnSpc>
              <a:spcBef>
                <a:spcPts val="1417"/>
              </a:spcBef>
              <a:buClr>
                <a:srgbClr val="000000"/>
              </a:buClr>
              <a:buSzPct val="45000"/>
              <a:buFont typeface="Wingdings" charset="2"/>
              <a:buChar char=""/>
              <a:tabLst>
                <a:tab algn="l" pos="0"/>
              </a:tabLst>
            </a:pPr>
            <a:r>
              <a:rPr b="1" lang="en-US" sz="1600" strike="noStrike" u="none">
                <a:solidFill>
                  <a:srgbClr val="000000"/>
                </a:solidFill>
                <a:effectLst/>
                <a:uFillTx/>
                <a:latin typeface="Arial"/>
              </a:rPr>
              <a:t>Explicitly</a:t>
            </a:r>
            <a:r>
              <a:rPr b="0" lang="en-US" sz="1600" strike="noStrike" u="none">
                <a:solidFill>
                  <a:srgbClr val="000000"/>
                </a:solidFill>
                <a:effectLst/>
                <a:uFillTx/>
                <a:latin typeface="Arial"/>
              </a:rPr>
              <a:t> through node updates + message passing</a:t>
            </a:r>
            <a:endParaRPr b="0" lang="en-AU" sz="1600" strike="noStrike" u="none">
              <a:solidFill>
                <a:srgbClr val="000000"/>
              </a:solidFill>
              <a:effectLst/>
              <a:uFillTx/>
              <a:latin typeface="Arial"/>
            </a:endParaRPr>
          </a:p>
          <a:p>
            <a:pPr indent="0">
              <a:lnSpc>
                <a:spcPct val="100000"/>
              </a:lnSpc>
              <a:spcBef>
                <a:spcPts val="1417"/>
              </a:spcBef>
              <a:buNone/>
              <a:tabLst>
                <a:tab algn="l" pos="0"/>
              </a:tabLst>
            </a:pPr>
            <a:r>
              <a:rPr b="0" lang="en-US" sz="1600" strike="noStrike" u="none">
                <a:solidFill>
                  <a:srgbClr val="000000"/>
                </a:solidFill>
                <a:effectLst/>
                <a:uFillTx/>
                <a:latin typeface="Arial"/>
              </a:rPr>
              <a:t>🤔 How does it model the forgetting of KCs?</a:t>
            </a:r>
            <a:endParaRPr b="0" lang="en-AU" sz="1600" strike="noStrike" u="none">
              <a:solidFill>
                <a:srgbClr val="000000"/>
              </a:solidFill>
              <a:effectLst/>
              <a:uFillTx/>
              <a:latin typeface="Arial"/>
            </a:endParaRPr>
          </a:p>
          <a:p>
            <a:pPr marL="432000" indent="-324000">
              <a:lnSpc>
                <a:spcPct val="100000"/>
              </a:lnSpc>
              <a:spcBef>
                <a:spcPts val="1417"/>
              </a:spcBef>
              <a:buClr>
                <a:srgbClr val="000000"/>
              </a:buClr>
              <a:buSzPct val="45000"/>
              <a:buFont typeface="Wingdings" charset="2"/>
              <a:buChar char=""/>
              <a:tabLst>
                <a:tab algn="l" pos="0"/>
              </a:tabLst>
            </a:pPr>
            <a:r>
              <a:rPr b="1" lang="en-US" sz="1600" strike="noStrike" u="none">
                <a:solidFill>
                  <a:srgbClr val="000000"/>
                </a:solidFill>
                <a:effectLst/>
                <a:uFillTx/>
                <a:latin typeface="Arial"/>
              </a:rPr>
              <a:t>Explicitly</a:t>
            </a:r>
            <a:r>
              <a:rPr b="0" lang="en-US" sz="1600" strike="noStrike" u="none">
                <a:solidFill>
                  <a:srgbClr val="000000"/>
                </a:solidFill>
                <a:effectLst/>
                <a:uFillTx/>
                <a:latin typeface="Arial"/>
              </a:rPr>
              <a:t> through Forgetting Functions</a:t>
            </a:r>
            <a:endParaRPr b="0" lang="en-AU" sz="1600" strike="noStrike" u="none">
              <a:solidFill>
                <a:srgbClr val="000000"/>
              </a:solidFill>
              <a:effectLst/>
              <a:uFillTx/>
              <a:latin typeface="Arial"/>
            </a:endParaRPr>
          </a:p>
          <a:p>
            <a:pPr indent="0">
              <a:lnSpc>
                <a:spcPct val="100000"/>
              </a:lnSpc>
              <a:spcBef>
                <a:spcPts val="1417"/>
              </a:spcBef>
              <a:buNone/>
              <a:tabLst>
                <a:tab algn="l" pos="0"/>
              </a:tabLst>
            </a:pPr>
            <a:r>
              <a:rPr b="0" lang="en-US" sz="1600" strike="noStrike" u="none">
                <a:solidFill>
                  <a:srgbClr val="000000"/>
                </a:solidFill>
                <a:effectLst/>
                <a:uFillTx/>
                <a:latin typeface="Arial"/>
              </a:rPr>
              <a:t>🤔 How does it model the student’s knowledge state?</a:t>
            </a:r>
            <a:endParaRPr b="0" lang="en-AU" sz="1600" strike="noStrike" u="none">
              <a:solidFill>
                <a:srgbClr val="000000"/>
              </a:solidFill>
              <a:effectLst/>
              <a:uFillTx/>
              <a:latin typeface="Arial"/>
            </a:endParaRPr>
          </a:p>
          <a:p>
            <a:pPr marL="432000" indent="-324000">
              <a:lnSpc>
                <a:spcPct val="100000"/>
              </a:lnSpc>
              <a:spcBef>
                <a:spcPts val="1417"/>
              </a:spcBef>
              <a:buClr>
                <a:srgbClr val="000000"/>
              </a:buClr>
              <a:buSzPct val="45000"/>
              <a:buFont typeface="Wingdings" charset="2"/>
              <a:buChar char=""/>
              <a:tabLst>
                <a:tab algn="l" pos="0"/>
              </a:tabLst>
            </a:pPr>
            <a:r>
              <a:rPr b="1" lang="en-US" sz="1600" strike="noStrike" u="none">
                <a:solidFill>
                  <a:srgbClr val="000000"/>
                </a:solidFill>
                <a:effectLst/>
                <a:uFillTx/>
                <a:latin typeface="Arial"/>
              </a:rPr>
              <a:t>Explicitly</a:t>
            </a:r>
            <a:r>
              <a:rPr b="0" lang="en-US" sz="1600" strike="noStrike" u="none">
                <a:solidFill>
                  <a:srgbClr val="000000"/>
                </a:solidFill>
                <a:effectLst/>
                <a:uFillTx/>
                <a:latin typeface="Arial"/>
              </a:rPr>
              <a:t> through a graph.</a:t>
            </a:r>
            <a:endParaRPr b="0" lang="en-AU" sz="1600" strike="noStrike" u="none">
              <a:solidFill>
                <a:srgbClr val="000000"/>
              </a:solidFill>
              <a:effectLst/>
              <a:uFillTx/>
              <a:latin typeface="Arial"/>
            </a:endParaRPr>
          </a:p>
        </p:txBody>
      </p:sp>
      <p:pic>
        <p:nvPicPr>
          <p:cNvPr id="53" name="" descr=""/>
          <p:cNvPicPr/>
          <p:nvPr/>
        </p:nvPicPr>
        <p:blipFill>
          <a:blip r:embed="rId1"/>
          <a:stretch/>
        </p:blipFill>
        <p:spPr>
          <a:xfrm>
            <a:off x="720000" y="270360"/>
            <a:ext cx="2922120" cy="4947120"/>
          </a:xfrm>
          <a:prstGeom prst="rect">
            <a:avLst/>
          </a:prstGeom>
          <a:noFill/>
          <a:ln w="0">
            <a:noFill/>
          </a:ln>
        </p:spPr>
      </p:pic>
      <p:sp>
        <p:nvSpPr>
          <p:cNvPr id="4" name="PlaceHolder 3"/>
          <p:cNvSpPr>
            <a:spLocks noGrp="1"/>
          </p:cNvSpPr>
          <p:nvPr>
            <p:ph type="sldNum" idx="2"/>
          </p:nvPr>
        </p:nvSpPr>
        <p:spPr/>
        <p:txBody>
          <a:bodyPr/>
          <a:p>
            <a:fld id="{A1ADE3C1-9161-4284-957F-C6B3A719BEC8}" type="slidenum">
              <a:t>9</a:t>
            </a:fld>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4" name="PlaceHolder 1"/>
          <p:cNvSpPr>
            <a:spLocks noGrp="1"/>
          </p:cNvSpPr>
          <p:nvPr>
            <p:ph type="title"/>
          </p:nvPr>
        </p:nvSpPr>
        <p:spPr>
          <a:xfrm>
            <a:off x="504000" y="223560"/>
            <a:ext cx="9069120" cy="948960"/>
          </a:xfrm>
          <a:prstGeom prst="rect">
            <a:avLst/>
          </a:prstGeom>
          <a:noFill/>
          <a:ln w="0">
            <a:noFill/>
          </a:ln>
        </p:spPr>
        <p:txBody>
          <a:bodyPr lIns="0" rIns="0" tIns="0" bIns="0" anchor="ctr">
            <a:spAutoFit/>
          </a:bodyPr>
          <a:p>
            <a:pPr indent="0" algn="ctr">
              <a:lnSpc>
                <a:spcPct val="100000"/>
              </a:lnSpc>
              <a:buNone/>
              <a:tabLst>
                <a:tab algn="l" pos="0"/>
              </a:tabLst>
            </a:pPr>
            <a:r>
              <a:rPr b="0" lang="en-US" sz="4000" strike="noStrike" u="none">
                <a:solidFill>
                  <a:srgbClr val="000000"/>
                </a:solidFill>
                <a:effectLst/>
                <a:uFillTx/>
                <a:latin typeface="Arial"/>
              </a:rPr>
              <a:t>Model Architectures Visited So Far</a:t>
            </a:r>
            <a:endParaRPr b="0" lang="en-AU" sz="4000" strike="noStrike" u="none">
              <a:solidFill>
                <a:srgbClr val="000000"/>
              </a:solidFill>
              <a:effectLst/>
              <a:uFillTx/>
              <a:latin typeface="Arial"/>
            </a:endParaRPr>
          </a:p>
        </p:txBody>
      </p:sp>
      <p:graphicFrame>
        <p:nvGraphicFramePr>
          <p:cNvPr id="55" name=""/>
          <p:cNvGraphicFramePr/>
          <p:nvPr/>
        </p:nvGraphicFramePr>
        <p:xfrm>
          <a:off x="507600" y="1989360"/>
          <a:ext cx="9032040" cy="1167120"/>
        </p:xfrm>
        <a:graphic>
          <a:graphicData uri="http://schemas.openxmlformats.org/drawingml/2006/table">
            <a:tbl>
              <a:tblPr/>
              <a:tblGrid>
                <a:gridCol w="1505520"/>
                <a:gridCol w="1505520"/>
                <a:gridCol w="1505520"/>
                <a:gridCol w="1505520"/>
                <a:gridCol w="1505520"/>
                <a:gridCol w="1504800"/>
              </a:tblGrid>
              <a:tr h="346320">
                <a:tc>
                  <a:txBody>
                    <a:bodyPr lIns="36000" rIns="36000" tIns="36000" bIns="36000" anchor="t">
                      <a:noAutofit/>
                    </a:bodyPr>
                    <a:p>
                      <a:pPr algn="ctr">
                        <a:lnSpc>
                          <a:spcPct val="100000"/>
                        </a:lnSpc>
                        <a:tabLst>
                          <a:tab algn="l" pos="0"/>
                        </a:tabLst>
                      </a:pPr>
                      <a:r>
                        <a:rPr b="0" lang="en-US" sz="1300" strike="noStrike" u="none">
                          <a:solidFill>
                            <a:srgbClr val="000000"/>
                          </a:solidFill>
                          <a:effectLst/>
                          <a:uFillTx/>
                          <a:latin typeface="Arial"/>
                        </a:rPr>
                        <a:t>Architecture</a:t>
                      </a:r>
                      <a:endParaRPr b="0" lang="en-AU" sz="1300" strike="noStrike" u="non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tabLst>
                          <a:tab algn="l" pos="0"/>
                        </a:tabLst>
                      </a:pPr>
                      <a:r>
                        <a:rPr b="0" lang="en-US" sz="1300" strike="noStrike" u="none">
                          <a:solidFill>
                            <a:srgbClr val="000000"/>
                          </a:solidFill>
                          <a:effectLst/>
                          <a:uFillTx/>
                          <a:latin typeface="Arial"/>
                        </a:rPr>
                        <a:t>KCs</a:t>
                      </a:r>
                      <a:endParaRPr b="0" lang="en-AU" sz="1300" strike="noStrike" u="non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tabLst>
                          <a:tab algn="l" pos="0"/>
                        </a:tabLst>
                      </a:pPr>
                      <a:r>
                        <a:rPr b="0" lang="en-US" sz="1300" strike="noStrike" u="none">
                          <a:solidFill>
                            <a:srgbClr val="000000"/>
                          </a:solidFill>
                          <a:effectLst/>
                          <a:uFillTx/>
                          <a:latin typeface="Arial"/>
                        </a:rPr>
                        <a:t>KC-KC Relations</a:t>
                      </a:r>
                      <a:endParaRPr b="0" lang="en-AU" sz="1300" strike="noStrike" u="non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tabLst>
                          <a:tab algn="l" pos="0"/>
                        </a:tabLst>
                      </a:pPr>
                      <a:r>
                        <a:rPr b="0" lang="en-US" sz="1300" strike="noStrike" u="none">
                          <a:solidFill>
                            <a:srgbClr val="000000"/>
                          </a:solidFill>
                          <a:effectLst/>
                          <a:uFillTx/>
                          <a:latin typeface="Arial"/>
                        </a:rPr>
                        <a:t>Leaning of KCs</a:t>
                      </a:r>
                      <a:endParaRPr b="0" lang="en-AU" sz="1300" strike="noStrike" u="non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tabLst>
                          <a:tab algn="l" pos="0"/>
                        </a:tabLst>
                      </a:pPr>
                      <a:r>
                        <a:rPr b="0" lang="en-US" sz="1300" strike="noStrike" u="none">
                          <a:solidFill>
                            <a:srgbClr val="000000"/>
                          </a:solidFill>
                          <a:effectLst/>
                          <a:uFillTx/>
                          <a:latin typeface="Arial"/>
                        </a:rPr>
                        <a:t>Time-Based Forgetting of KC</a:t>
                      </a:r>
                      <a:endParaRPr b="0" lang="en-AU" sz="1300" strike="noStrike" u="non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tabLst>
                          <a:tab algn="l" pos="0"/>
                        </a:tabLst>
                      </a:pPr>
                      <a:r>
                        <a:rPr b="0" lang="en-US" sz="1300" strike="noStrike" u="none">
                          <a:solidFill>
                            <a:srgbClr val="000000"/>
                          </a:solidFill>
                          <a:effectLst/>
                          <a:uFillTx/>
                          <a:latin typeface="Arial"/>
                        </a:rPr>
                        <a:t>Student’s Knowledge State</a:t>
                      </a:r>
                      <a:endParaRPr b="0" lang="en-AU" sz="1300" strike="noStrike" u="non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r h="698040">
                <a:tc>
                  <a:txBody>
                    <a:bodyPr lIns="36000" rIns="36000" tIns="36000" bIns="36000" anchor="t">
                      <a:noAutofit/>
                    </a:bodyPr>
                    <a:p>
                      <a:pPr algn="ctr">
                        <a:lnSpc>
                          <a:spcPct val="100000"/>
                        </a:lnSpc>
                        <a:tabLst>
                          <a:tab algn="l" pos="0"/>
                        </a:tabLst>
                      </a:pPr>
                      <a:r>
                        <a:rPr b="0" lang="en-US" sz="1300" strike="noStrike" u="none">
                          <a:solidFill>
                            <a:srgbClr val="000000"/>
                          </a:solidFill>
                          <a:effectLst/>
                          <a:uFillTx/>
                          <a:latin typeface="Arial"/>
                        </a:rPr>
                        <a:t>Graph Neural Network</a:t>
                      </a:r>
                      <a:endParaRPr b="0" lang="en-AU" sz="1300" strike="noStrike" u="non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tabLst>
                          <a:tab algn="l" pos="0"/>
                        </a:tabLst>
                      </a:pPr>
                      <a:r>
                        <a:rPr b="1" lang="en-US" sz="1300" strike="noStrike" u="none">
                          <a:solidFill>
                            <a:srgbClr val="000000"/>
                          </a:solidFill>
                          <a:effectLst/>
                          <a:uFillTx/>
                          <a:latin typeface="Arial"/>
                        </a:rPr>
                        <a:t>Explicit</a:t>
                      </a:r>
                      <a:r>
                        <a:rPr b="0" lang="en-US" sz="1300" strike="noStrike" u="none">
                          <a:solidFill>
                            <a:srgbClr val="000000"/>
                          </a:solidFill>
                          <a:effectLst/>
                          <a:uFillTx/>
                          <a:latin typeface="Arial"/>
                        </a:rPr>
                        <a:t> as Nodes</a:t>
                      </a:r>
                      <a:endParaRPr b="0" lang="en-AU" sz="1300" strike="noStrike" u="non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tabLst>
                          <a:tab algn="l" pos="0"/>
                        </a:tabLst>
                      </a:pPr>
                      <a:r>
                        <a:rPr b="1" lang="en-US" sz="1300" strike="noStrike" u="none">
                          <a:solidFill>
                            <a:srgbClr val="000000"/>
                          </a:solidFill>
                          <a:effectLst/>
                          <a:uFillTx/>
                          <a:latin typeface="Arial"/>
                        </a:rPr>
                        <a:t>Explicit</a:t>
                      </a:r>
                      <a:r>
                        <a:rPr b="0" lang="en-US" sz="1300" strike="noStrike" u="none">
                          <a:solidFill>
                            <a:srgbClr val="000000"/>
                          </a:solidFill>
                          <a:effectLst/>
                          <a:uFillTx/>
                          <a:latin typeface="Arial"/>
                        </a:rPr>
                        <a:t> as Edges</a:t>
                      </a:r>
                      <a:endParaRPr b="0" lang="en-AU" sz="1300" strike="noStrike" u="non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tabLst>
                          <a:tab algn="l" pos="0"/>
                        </a:tabLst>
                      </a:pPr>
                      <a:r>
                        <a:rPr b="1" lang="en-US" sz="1300" strike="noStrike" u="none">
                          <a:solidFill>
                            <a:srgbClr val="000000"/>
                          </a:solidFill>
                          <a:effectLst/>
                          <a:uFillTx/>
                          <a:latin typeface="Arial"/>
                        </a:rPr>
                        <a:t>Explicit</a:t>
                      </a:r>
                      <a:r>
                        <a:rPr b="0" lang="en-US" sz="1300" strike="noStrike" u="none">
                          <a:solidFill>
                            <a:srgbClr val="000000"/>
                          </a:solidFill>
                          <a:effectLst/>
                          <a:uFillTx/>
                          <a:latin typeface="Arial"/>
                        </a:rPr>
                        <a:t> via node update + message passing</a:t>
                      </a:r>
                      <a:endParaRPr b="0" lang="en-AU" sz="1300" strike="noStrike" u="non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tabLst>
                          <a:tab algn="l" pos="0"/>
                        </a:tabLst>
                      </a:pPr>
                      <a:r>
                        <a:rPr b="1" lang="en-US" sz="1300" strike="noStrike" u="none">
                          <a:solidFill>
                            <a:srgbClr val="000000"/>
                          </a:solidFill>
                          <a:effectLst/>
                          <a:uFillTx/>
                          <a:latin typeface="Arial"/>
                        </a:rPr>
                        <a:t>Explicit</a:t>
                      </a:r>
                      <a:r>
                        <a:rPr b="0" lang="en-US" sz="1300" strike="noStrike" u="none">
                          <a:solidFill>
                            <a:srgbClr val="000000"/>
                          </a:solidFill>
                          <a:effectLst/>
                          <a:uFillTx/>
                          <a:latin typeface="Arial"/>
                        </a:rPr>
                        <a:t> via Forgetting Functions</a:t>
                      </a:r>
                      <a:endParaRPr b="0" lang="en-AU" sz="1300" strike="noStrike" u="non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tabLst>
                          <a:tab algn="l" pos="0"/>
                        </a:tabLst>
                      </a:pPr>
                      <a:r>
                        <a:rPr b="1" lang="en-US" sz="1300" strike="noStrike" u="none">
                          <a:solidFill>
                            <a:srgbClr val="000000"/>
                          </a:solidFill>
                          <a:effectLst/>
                          <a:uFillTx/>
                          <a:latin typeface="Arial"/>
                        </a:rPr>
                        <a:t>Explicit</a:t>
                      </a:r>
                      <a:r>
                        <a:rPr b="0" lang="en-US" sz="1300" strike="noStrike" u="none">
                          <a:solidFill>
                            <a:srgbClr val="000000"/>
                          </a:solidFill>
                          <a:effectLst/>
                          <a:uFillTx/>
                          <a:latin typeface="Arial"/>
                        </a:rPr>
                        <a:t> as a Graph</a:t>
                      </a:r>
                      <a:endParaRPr b="0" lang="en-AU" sz="1300" strike="noStrike" u="non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bl>
          </a:graphicData>
        </a:graphic>
      </p:graphicFrame>
      <p:sp>
        <p:nvSpPr>
          <p:cNvPr id="56" name=""/>
          <p:cNvSpPr/>
          <p:nvPr/>
        </p:nvSpPr>
        <p:spPr>
          <a:xfrm>
            <a:off x="360000" y="3875040"/>
            <a:ext cx="9357480" cy="1620000"/>
          </a:xfrm>
          <a:prstGeom prst="rect">
            <a:avLst/>
          </a:prstGeom>
          <a:noFill/>
          <a:ln w="36000">
            <a:solidFill>
              <a:srgbClr val="55308d"/>
            </a:solidFill>
            <a:prstDash val="sysDot"/>
            <a:round/>
          </a:ln>
        </p:spPr>
        <p:style>
          <a:lnRef idx="0"/>
          <a:fillRef idx="0"/>
          <a:effectRef idx="0"/>
          <a:fontRef idx="minor"/>
        </p:style>
        <p:txBody>
          <a:bodyPr numCol="1" spcCol="0" lIns="108000" rIns="108000" tIns="63000" bIns="63000" anchor="t">
            <a:spAutoFit/>
          </a:bodyPr>
          <a:p>
            <a:pPr>
              <a:lnSpc>
                <a:spcPct val="100000"/>
              </a:lnSpc>
            </a:pPr>
            <a:r>
              <a:rPr b="0" lang="en-US" sz="1400" strike="noStrike" u="none">
                <a:solidFill>
                  <a:srgbClr val="000000"/>
                </a:solidFill>
                <a:effectLst/>
                <a:uFillTx/>
                <a:latin typeface="Arial"/>
                <a:ea typeface="DejaVu Sans"/>
              </a:rPr>
              <a:t>Note: For clarity, we would like say the model has </a:t>
            </a:r>
            <a:r>
              <a:rPr b="1" lang="en-US" sz="1400" strike="noStrike" u="none">
                <a:solidFill>
                  <a:srgbClr val="000000"/>
                </a:solidFill>
                <a:effectLst/>
                <a:uFillTx/>
                <a:latin typeface="Arial"/>
                <a:ea typeface="DejaVu Sans"/>
              </a:rPr>
              <a:t>explicitly</a:t>
            </a:r>
            <a:r>
              <a:rPr b="0" lang="en-US" sz="1400" strike="noStrike" u="none">
                <a:solidFill>
                  <a:srgbClr val="000000"/>
                </a:solidFill>
                <a:effectLst/>
                <a:uFillTx/>
                <a:latin typeface="Arial"/>
                <a:ea typeface="DejaVu Sans"/>
              </a:rPr>
              <a:t> modelled a hidden knowledge tracing component (e.g., KCs) or a process (e.g., forgetting), if there exists clearly identifiable variables or functions dedicatedly representing the component or process. Otherwise, the model behaves </a:t>
            </a:r>
            <a:r>
              <a:rPr b="1" lang="en-US" sz="1400" strike="noStrike" u="none">
                <a:solidFill>
                  <a:srgbClr val="000000"/>
                </a:solidFill>
                <a:effectLst/>
                <a:uFillTx/>
                <a:latin typeface="Arial"/>
                <a:ea typeface="DejaVu Sans"/>
              </a:rPr>
              <a:t>implicitly</a:t>
            </a:r>
            <a:r>
              <a:rPr b="0" lang="en-US" sz="1400" strike="noStrike" u="none">
                <a:solidFill>
                  <a:srgbClr val="000000"/>
                </a:solidFill>
                <a:effectLst/>
                <a:uFillTx/>
                <a:latin typeface="Arial"/>
                <a:ea typeface="DejaVu Sans"/>
              </a:rPr>
              <a:t>.</a:t>
            </a:r>
            <a:endParaRPr b="0" lang="en-AU" sz="1400" strike="noStrike" u="none">
              <a:solidFill>
                <a:srgbClr val="000000"/>
              </a:solidFill>
              <a:effectLst/>
              <a:uFillTx/>
              <a:latin typeface="Arial"/>
            </a:endParaRPr>
          </a:p>
          <a:p>
            <a:pPr>
              <a:lnSpc>
                <a:spcPct val="100000"/>
              </a:lnSpc>
            </a:pPr>
            <a:endParaRPr b="0" lang="en-AU" sz="1400" strike="noStrike" u="none">
              <a:solidFill>
                <a:srgbClr val="000000"/>
              </a:solidFill>
              <a:effectLst/>
              <a:uFillTx/>
              <a:latin typeface="Arial"/>
            </a:endParaRPr>
          </a:p>
          <a:p>
            <a:pPr>
              <a:lnSpc>
                <a:spcPct val="100000"/>
              </a:lnSpc>
            </a:pPr>
            <a:r>
              <a:rPr b="0" lang="en-US" sz="1400" strike="noStrike" u="none">
                <a:solidFill>
                  <a:srgbClr val="000000"/>
                </a:solidFill>
                <a:effectLst/>
                <a:uFillTx/>
                <a:latin typeface="Arial"/>
                <a:ea typeface="DejaVu Sans"/>
              </a:rPr>
              <a:t>Note: Even though GNN has explicitly modelled KCs as nodes, it doesn’t mean the KC nodes themselves are explicit and interpretable. In GNN, the nodes are usually some vector embeddings, representing the mix of some real world KCs, like Addition and Subtraction.</a:t>
            </a:r>
            <a:endParaRPr b="0" lang="en-AU" sz="1400" strike="noStrike" u="none">
              <a:solidFill>
                <a:srgbClr val="000000"/>
              </a:solidFill>
              <a:effectLst/>
              <a:uFillTx/>
              <a:latin typeface="Arial"/>
            </a:endParaRPr>
          </a:p>
        </p:txBody>
      </p:sp>
      <p:sp>
        <p:nvSpPr>
          <p:cNvPr id="3" name="PlaceHolder 2"/>
          <p:cNvSpPr>
            <a:spLocks noGrp="1"/>
          </p:cNvSpPr>
          <p:nvPr>
            <p:ph type="sldNum" idx="2"/>
          </p:nvPr>
        </p:nvSpPr>
        <p:spPr/>
        <p:txBody>
          <a:bodyPr/>
          <a:p>
            <a:fld id="{79DEF2AE-B3E7-4C9A-B3E5-7DDBDC5457A4}" type="slidenum">
              <a:t>10</a:t>
            </a:fld>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7" name="" descr=""/>
          <p:cNvPicPr/>
          <p:nvPr/>
        </p:nvPicPr>
        <p:blipFill>
          <a:blip r:embed="rId1"/>
          <a:stretch/>
        </p:blipFill>
        <p:spPr>
          <a:xfrm>
            <a:off x="360000" y="270360"/>
            <a:ext cx="2964240" cy="5127120"/>
          </a:xfrm>
          <a:prstGeom prst="rect">
            <a:avLst/>
          </a:prstGeom>
          <a:noFill/>
          <a:ln w="0">
            <a:noFill/>
          </a:ln>
        </p:spPr>
      </p:pic>
      <p:pic>
        <p:nvPicPr>
          <p:cNvPr id="58" name="" descr=""/>
          <p:cNvPicPr/>
          <p:nvPr/>
        </p:nvPicPr>
        <p:blipFill>
          <a:blip r:embed="rId2"/>
          <a:stretch/>
        </p:blipFill>
        <p:spPr>
          <a:xfrm>
            <a:off x="3600000" y="180000"/>
            <a:ext cx="3018960" cy="5369760"/>
          </a:xfrm>
          <a:prstGeom prst="rect">
            <a:avLst/>
          </a:prstGeom>
          <a:noFill/>
          <a:ln w="0">
            <a:noFill/>
          </a:ln>
        </p:spPr>
      </p:pic>
      <p:sp>
        <p:nvSpPr>
          <p:cNvPr id="59" name=""/>
          <p:cNvSpPr/>
          <p:nvPr/>
        </p:nvSpPr>
        <p:spPr>
          <a:xfrm>
            <a:off x="6120000" y="360000"/>
            <a:ext cx="3957480" cy="825840"/>
          </a:xfrm>
          <a:prstGeom prst="rect">
            <a:avLst/>
          </a:prstGeom>
          <a:noFill/>
          <a:ln w="0">
            <a:noFill/>
          </a:ln>
        </p:spPr>
        <p:style>
          <a:lnRef idx="0"/>
          <a:fillRef idx="0"/>
          <a:effectRef idx="0"/>
          <a:fontRef idx="minor"/>
        </p:style>
        <p:txBody>
          <a:bodyPr lIns="90000" rIns="90000" tIns="45000" bIns="45000" anchor="t" anchorCtr="1">
            <a:spAutoFit/>
          </a:bodyPr>
          <a:p>
            <a:pPr algn="ctr">
              <a:lnSpc>
                <a:spcPct val="100000"/>
              </a:lnSpc>
            </a:pPr>
            <a:r>
              <a:rPr b="0" lang="en-US" sz="2600" strike="noStrike" u="none">
                <a:solidFill>
                  <a:srgbClr val="000000"/>
                </a:solidFill>
                <a:effectLst/>
                <a:uFillTx/>
                <a:latin typeface="Arial"/>
                <a:ea typeface="DejaVu Sans"/>
              </a:rPr>
              <a:t>Key-Value Memory</a:t>
            </a:r>
            <a:endParaRPr b="0" lang="en-AU" sz="2600" strike="noStrike" u="none">
              <a:solidFill>
                <a:srgbClr val="000000"/>
              </a:solidFill>
              <a:effectLst/>
              <a:uFillTx/>
              <a:latin typeface="Arial"/>
            </a:endParaRPr>
          </a:p>
          <a:p>
            <a:pPr algn="ctr">
              <a:lnSpc>
                <a:spcPct val="100000"/>
              </a:lnSpc>
            </a:pPr>
            <a:r>
              <a:rPr b="0" lang="en-US" sz="2600" strike="noStrike" u="none">
                <a:solidFill>
                  <a:srgbClr val="000000"/>
                </a:solidFill>
                <a:effectLst/>
                <a:uFillTx/>
                <a:latin typeface="Arial"/>
                <a:ea typeface="DejaVu Sans"/>
              </a:rPr>
              <a:t>Network</a:t>
            </a:r>
            <a:endParaRPr b="0" lang="en-AU" sz="2600" strike="noStrike" u="none">
              <a:solidFill>
                <a:srgbClr val="000000"/>
              </a:solidFill>
              <a:effectLst/>
              <a:uFillTx/>
              <a:latin typeface="Arial"/>
            </a:endParaRPr>
          </a:p>
        </p:txBody>
      </p:sp>
      <p:sp>
        <p:nvSpPr>
          <p:cNvPr id="60" name=""/>
          <p:cNvSpPr/>
          <p:nvPr/>
        </p:nvSpPr>
        <p:spPr>
          <a:xfrm>
            <a:off x="6660000" y="2018160"/>
            <a:ext cx="3057480" cy="3025800"/>
          </a:xfrm>
          <a:prstGeom prst="rect">
            <a:avLst/>
          </a:prstGeom>
          <a:noFill/>
          <a:ln w="36000">
            <a:solidFill>
              <a:srgbClr val="5b277d"/>
            </a:solidFill>
            <a:prstDash val="sysDot"/>
            <a:round/>
          </a:ln>
        </p:spPr>
        <p:style>
          <a:lnRef idx="0"/>
          <a:fillRef idx="0"/>
          <a:effectRef idx="0"/>
          <a:fontRef idx="minor"/>
        </p:style>
        <p:txBody>
          <a:bodyPr lIns="108000" rIns="108000" tIns="63000" bIns="63000" anchor="t">
            <a:spAutoFit/>
          </a:bodyPr>
          <a:p>
            <a:pPr>
              <a:lnSpc>
                <a:spcPct val="100000"/>
              </a:lnSpc>
            </a:pPr>
            <a:r>
              <a:rPr b="0" i="1" lang="en-US" sz="1000" strike="noStrike" u="none">
                <a:solidFill>
                  <a:srgbClr val="000000"/>
                </a:solidFill>
                <a:effectLst/>
                <a:uFillTx/>
                <a:latin typeface="Arial"/>
                <a:ea typeface="DejaVu Sans"/>
              </a:rPr>
              <a:t>Note that the RHS graph is an simplified view of a Key-Value Memory Network. </a:t>
            </a:r>
            <a:endParaRPr b="0" lang="en-AU" sz="1000" strike="noStrike" u="none">
              <a:solidFill>
                <a:srgbClr val="000000"/>
              </a:solidFill>
              <a:effectLst/>
              <a:uFillTx/>
              <a:latin typeface="Arial"/>
            </a:endParaRPr>
          </a:p>
          <a:p>
            <a:pPr>
              <a:lnSpc>
                <a:spcPct val="100000"/>
              </a:lnSpc>
            </a:pPr>
            <a:endParaRPr b="0" lang="en-AU" sz="1000" strike="noStrike" u="none">
              <a:solidFill>
                <a:srgbClr val="000000"/>
              </a:solidFill>
              <a:effectLst/>
              <a:uFillTx/>
              <a:latin typeface="Arial"/>
            </a:endParaRPr>
          </a:p>
          <a:p>
            <a:pPr marL="216000" indent="-216000">
              <a:lnSpc>
                <a:spcPct val="100000"/>
              </a:lnSpc>
              <a:buClr>
                <a:srgbClr val="000000"/>
              </a:buClr>
              <a:buSzPct val="45000"/>
              <a:buFont typeface="Wingdings" charset="2"/>
              <a:buChar char=""/>
            </a:pPr>
            <a:r>
              <a:rPr b="0" i="1" lang="en-US" sz="1000" strike="noStrike" u="none">
                <a:solidFill>
                  <a:srgbClr val="000000"/>
                </a:solidFill>
                <a:effectLst/>
                <a:uFillTx/>
                <a:latin typeface="Arial"/>
                <a:ea typeface="DejaVu Sans"/>
              </a:rPr>
              <a:t>Mastery of each node is usually represented as a </a:t>
            </a:r>
            <a:r>
              <a:rPr b="1" i="1" lang="en-US" sz="1000" strike="noStrike" u="none">
                <a:solidFill>
                  <a:srgbClr val="000000"/>
                </a:solidFill>
                <a:effectLst/>
                <a:uFillTx/>
                <a:latin typeface="Arial"/>
                <a:ea typeface="DejaVu Sans"/>
              </a:rPr>
              <a:t>vector embedding</a:t>
            </a:r>
            <a:r>
              <a:rPr b="0" i="1" lang="en-US" sz="1000" strike="noStrike" u="none">
                <a:solidFill>
                  <a:srgbClr val="000000"/>
                </a:solidFill>
                <a:effectLst/>
                <a:uFillTx/>
                <a:latin typeface="Arial"/>
                <a:ea typeface="DejaVu Sans"/>
              </a:rPr>
              <a:t> instead of just a scalar.</a:t>
            </a:r>
            <a:endParaRPr b="0" lang="en-AU" sz="1000" strike="noStrike" u="none">
              <a:solidFill>
                <a:srgbClr val="000000"/>
              </a:solidFill>
              <a:effectLst/>
              <a:uFillTx/>
              <a:latin typeface="Arial"/>
            </a:endParaRPr>
          </a:p>
          <a:p>
            <a:pPr marL="216000" indent="-216000">
              <a:lnSpc>
                <a:spcPct val="100000"/>
              </a:lnSpc>
              <a:buClr>
                <a:srgbClr val="000000"/>
              </a:buClr>
              <a:buSzPct val="45000"/>
              <a:buFont typeface="Wingdings" charset="2"/>
              <a:buChar char=""/>
            </a:pPr>
            <a:r>
              <a:rPr b="0" i="1" lang="en-US" sz="1000" strike="noStrike" u="none">
                <a:solidFill>
                  <a:srgbClr val="000000"/>
                </a:solidFill>
                <a:effectLst/>
                <a:uFillTx/>
                <a:latin typeface="Arial"/>
                <a:ea typeface="DejaVu Sans"/>
              </a:rPr>
              <a:t>The KC keys, .e.g, KC1 and KC2, are also some </a:t>
            </a:r>
            <a:r>
              <a:rPr b="1" i="1" lang="en-US" sz="1000" strike="noStrike" u="none">
                <a:solidFill>
                  <a:srgbClr val="000000"/>
                </a:solidFill>
                <a:effectLst/>
                <a:uFillTx/>
                <a:latin typeface="Arial"/>
                <a:ea typeface="DejaVu Sans"/>
              </a:rPr>
              <a:t>vector embeddings.</a:t>
            </a:r>
            <a:endParaRPr b="0" lang="en-AU" sz="1000" strike="noStrike" u="none">
              <a:solidFill>
                <a:srgbClr val="000000"/>
              </a:solidFill>
              <a:effectLst/>
              <a:uFillTx/>
              <a:latin typeface="Arial"/>
            </a:endParaRPr>
          </a:p>
          <a:p>
            <a:pPr>
              <a:lnSpc>
                <a:spcPct val="100000"/>
              </a:lnSpc>
            </a:pPr>
            <a:endParaRPr b="0" lang="en-AU" sz="1000" strike="noStrike" u="none">
              <a:solidFill>
                <a:srgbClr val="000000"/>
              </a:solidFill>
              <a:effectLst/>
              <a:uFillTx/>
              <a:latin typeface="Arial"/>
            </a:endParaRPr>
          </a:p>
          <a:p>
            <a:pPr>
              <a:lnSpc>
                <a:spcPct val="100000"/>
              </a:lnSpc>
            </a:pPr>
            <a:r>
              <a:rPr b="0" i="1" lang="en-US" sz="1000" strike="noStrike" u="none">
                <a:solidFill>
                  <a:srgbClr val="000000"/>
                </a:solidFill>
                <a:effectLst/>
                <a:uFillTx/>
                <a:latin typeface="Arial"/>
                <a:ea typeface="DejaVu Sans"/>
              </a:rPr>
              <a:t>Relevant Models:</a:t>
            </a:r>
            <a:endParaRPr b="0" lang="en-AU" sz="1000" strike="noStrike" u="none">
              <a:solidFill>
                <a:srgbClr val="000000"/>
              </a:solidFill>
              <a:effectLst/>
              <a:uFillTx/>
              <a:latin typeface="Arial"/>
            </a:endParaRPr>
          </a:p>
          <a:p>
            <a:pPr>
              <a:lnSpc>
                <a:spcPct val="100000"/>
              </a:lnSpc>
            </a:pPr>
            <a:endParaRPr b="0" lang="en-AU" sz="1000" strike="noStrike" u="none">
              <a:solidFill>
                <a:srgbClr val="000000"/>
              </a:solidFill>
              <a:effectLst/>
              <a:uFillTx/>
              <a:latin typeface="Arial"/>
            </a:endParaRPr>
          </a:p>
          <a:p>
            <a:pPr>
              <a:lnSpc>
                <a:spcPct val="100000"/>
              </a:lnSpc>
            </a:pPr>
            <a:r>
              <a:rPr b="0" i="1" lang="en-US" sz="1000" strike="noStrike" u="none">
                <a:solidFill>
                  <a:srgbClr val="000000"/>
                </a:solidFill>
                <a:effectLst/>
                <a:uFillTx/>
                <a:latin typeface="Arial"/>
                <a:ea typeface="DejaVu Sans"/>
              </a:rPr>
              <a:t>Jiani Zhang, Xingjian Shi, Irwin King, and Dit-Yan Yeung. 2017. Dynamic key-value memory networks for knowledge tracing. In WWW. 765–774.</a:t>
            </a:r>
            <a:endParaRPr b="0" lang="en-AU" sz="1000" strike="noStrike" u="none">
              <a:solidFill>
                <a:srgbClr val="000000"/>
              </a:solidFill>
              <a:effectLst/>
              <a:uFillTx/>
              <a:latin typeface="Arial"/>
            </a:endParaRPr>
          </a:p>
          <a:p>
            <a:pPr>
              <a:lnSpc>
                <a:spcPct val="100000"/>
              </a:lnSpc>
            </a:pPr>
            <a:endParaRPr b="0" lang="en-AU" sz="1000" strike="noStrike" u="none">
              <a:solidFill>
                <a:srgbClr val="000000"/>
              </a:solidFill>
              <a:effectLst/>
              <a:uFillTx/>
              <a:latin typeface="Arial"/>
            </a:endParaRPr>
          </a:p>
          <a:p>
            <a:pPr>
              <a:lnSpc>
                <a:spcPct val="100000"/>
              </a:lnSpc>
            </a:pPr>
            <a:r>
              <a:rPr b="0" i="1" lang="en-US" sz="1000" strike="noStrike" u="none">
                <a:solidFill>
                  <a:srgbClr val="000000"/>
                </a:solidFill>
                <a:effectLst/>
                <a:uFillTx/>
                <a:latin typeface="Arial"/>
                <a:ea typeface="DejaVu Sans"/>
              </a:rPr>
              <a:t>Ghodai Abdelrahman and Qing Wang. 2019. Knowledge tracing with sequential key-value memory networks. In SIGIR. 175–184.</a:t>
            </a:r>
            <a:endParaRPr b="0" lang="en-AU" sz="1000" strike="noStrike" u="none">
              <a:solidFill>
                <a:srgbClr val="000000"/>
              </a:solidFill>
              <a:effectLst/>
              <a:uFillTx/>
              <a:latin typeface="Arial"/>
            </a:endParaRPr>
          </a:p>
        </p:txBody>
      </p:sp>
      <p:sp>
        <p:nvSpPr>
          <p:cNvPr id="2" name="PlaceHolder 1"/>
          <p:cNvSpPr>
            <a:spLocks noGrp="1"/>
          </p:cNvSpPr>
          <p:nvPr>
            <p:ph type="sldNum" idx="2"/>
          </p:nvPr>
        </p:nvSpPr>
        <p:spPr/>
        <p:txBody>
          <a:bodyPr/>
          <a:p>
            <a:fld id="{1A6A5CC5-0995-438A-B272-8D01AD77B89F}" type="slidenum">
              <a:t>11</a:t>
            </a:fld>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1" name="PlaceHolder 1"/>
          <p:cNvSpPr>
            <a:spLocks noGrp="1"/>
          </p:cNvSpPr>
          <p:nvPr>
            <p:ph type="title"/>
          </p:nvPr>
        </p:nvSpPr>
        <p:spPr>
          <a:xfrm>
            <a:off x="4248360" y="223560"/>
            <a:ext cx="5649120" cy="676440"/>
          </a:xfrm>
          <a:prstGeom prst="rect">
            <a:avLst/>
          </a:prstGeom>
          <a:noFill/>
          <a:ln w="0">
            <a:noFill/>
          </a:ln>
        </p:spPr>
        <p:txBody>
          <a:bodyPr lIns="0" rIns="0" tIns="0" bIns="0" anchor="ctr">
            <a:spAutoFit/>
          </a:bodyPr>
          <a:p>
            <a:pPr indent="0" algn="ctr">
              <a:lnSpc>
                <a:spcPct val="100000"/>
              </a:lnSpc>
              <a:buNone/>
              <a:tabLst>
                <a:tab algn="l" pos="0"/>
              </a:tabLst>
            </a:pPr>
            <a:r>
              <a:rPr b="0" lang="en-US" sz="2600" strike="noStrike" u="none">
                <a:solidFill>
                  <a:srgbClr val="000000"/>
                </a:solidFill>
                <a:effectLst/>
                <a:uFillTx/>
                <a:latin typeface="Arial"/>
              </a:rPr>
              <a:t>Key-Value Memory Network (Analysis)</a:t>
            </a:r>
            <a:endParaRPr b="0" lang="en-AU" sz="2600" strike="noStrike" u="none">
              <a:solidFill>
                <a:srgbClr val="000000"/>
              </a:solidFill>
              <a:effectLst/>
              <a:uFillTx/>
              <a:latin typeface="Arial"/>
            </a:endParaRPr>
          </a:p>
        </p:txBody>
      </p:sp>
      <p:pic>
        <p:nvPicPr>
          <p:cNvPr id="62" name="" descr=""/>
          <p:cNvPicPr/>
          <p:nvPr/>
        </p:nvPicPr>
        <p:blipFill>
          <a:blip r:embed="rId1"/>
          <a:stretch/>
        </p:blipFill>
        <p:spPr>
          <a:xfrm>
            <a:off x="360360" y="270720"/>
            <a:ext cx="2964240" cy="5127120"/>
          </a:xfrm>
          <a:prstGeom prst="rect">
            <a:avLst/>
          </a:prstGeom>
          <a:noFill/>
          <a:ln w="0">
            <a:noFill/>
          </a:ln>
        </p:spPr>
      </p:pic>
      <p:sp>
        <p:nvSpPr>
          <p:cNvPr id="63" name="PlaceHolder 2"/>
          <p:cNvSpPr>
            <a:spLocks noGrp="1"/>
          </p:cNvSpPr>
          <p:nvPr>
            <p:ph/>
          </p:nvPr>
        </p:nvSpPr>
        <p:spPr>
          <a:xfrm>
            <a:off x="4320000" y="1080000"/>
            <a:ext cx="5577480" cy="3957480"/>
          </a:xfrm>
          <a:prstGeom prst="rect">
            <a:avLst/>
          </a:prstGeom>
          <a:noFill/>
          <a:ln w="0">
            <a:noFill/>
          </a:ln>
        </p:spPr>
        <p:txBody>
          <a:bodyPr lIns="0" rIns="0" tIns="0" bIns="0" anchor="t">
            <a:normAutofit lnSpcReduction="9999"/>
          </a:bodyPr>
          <a:p>
            <a:pPr indent="0">
              <a:lnSpc>
                <a:spcPct val="100000"/>
              </a:lnSpc>
              <a:spcBef>
                <a:spcPts val="1417"/>
              </a:spcBef>
              <a:buNone/>
              <a:tabLst>
                <a:tab algn="l" pos="0"/>
              </a:tabLst>
            </a:pPr>
            <a:r>
              <a:rPr b="0" lang="en-US" sz="1600" strike="noStrike" u="none">
                <a:solidFill>
                  <a:srgbClr val="000000"/>
                </a:solidFill>
                <a:effectLst/>
                <a:uFillTx/>
                <a:latin typeface="Arial"/>
              </a:rPr>
              <a:t>🤔 How does it model KCs?</a:t>
            </a:r>
            <a:endParaRPr b="0" lang="en-AU" sz="1600" strike="noStrike" u="none">
              <a:solidFill>
                <a:srgbClr val="000000"/>
              </a:solidFill>
              <a:effectLst/>
              <a:uFillTx/>
              <a:latin typeface="Arial"/>
            </a:endParaRPr>
          </a:p>
          <a:p>
            <a:pPr marL="432000" indent="-324000">
              <a:lnSpc>
                <a:spcPct val="100000"/>
              </a:lnSpc>
              <a:spcBef>
                <a:spcPts val="1417"/>
              </a:spcBef>
              <a:buClr>
                <a:srgbClr val="000000"/>
              </a:buClr>
              <a:buSzPct val="45000"/>
              <a:buFont typeface="Wingdings" charset="2"/>
              <a:buChar char=""/>
              <a:tabLst>
                <a:tab algn="l" pos="0"/>
              </a:tabLst>
            </a:pPr>
            <a:r>
              <a:rPr b="1" lang="en-US" sz="1600" strike="noStrike" u="none">
                <a:solidFill>
                  <a:srgbClr val="000000"/>
                </a:solidFill>
                <a:effectLst/>
                <a:uFillTx/>
                <a:latin typeface="Arial"/>
              </a:rPr>
              <a:t>Explicitly</a:t>
            </a:r>
            <a:r>
              <a:rPr b="0" lang="en-US" sz="1600" strike="noStrike" u="none">
                <a:solidFill>
                  <a:srgbClr val="000000"/>
                </a:solidFill>
                <a:effectLst/>
                <a:uFillTx/>
                <a:latin typeface="Arial"/>
              </a:rPr>
              <a:t> through keys.</a:t>
            </a:r>
            <a:endParaRPr b="0" lang="en-AU" sz="1600" strike="noStrike" u="none">
              <a:solidFill>
                <a:srgbClr val="000000"/>
              </a:solidFill>
              <a:effectLst/>
              <a:uFillTx/>
              <a:latin typeface="Arial"/>
            </a:endParaRPr>
          </a:p>
          <a:p>
            <a:pPr indent="0">
              <a:lnSpc>
                <a:spcPct val="100000"/>
              </a:lnSpc>
              <a:spcBef>
                <a:spcPts val="1417"/>
              </a:spcBef>
              <a:buNone/>
              <a:tabLst>
                <a:tab algn="l" pos="0"/>
              </a:tabLst>
            </a:pPr>
            <a:r>
              <a:rPr b="0" lang="en-US" sz="1600" strike="noStrike" u="none">
                <a:solidFill>
                  <a:srgbClr val="000000"/>
                </a:solidFill>
                <a:effectLst/>
                <a:uFillTx/>
                <a:latin typeface="Arial"/>
              </a:rPr>
              <a:t>🤔 How does it model KC-KC relations?</a:t>
            </a:r>
            <a:endParaRPr b="0" lang="en-AU" sz="1600" strike="noStrike" u="none">
              <a:solidFill>
                <a:srgbClr val="000000"/>
              </a:solidFill>
              <a:effectLst/>
              <a:uFillTx/>
              <a:latin typeface="Arial"/>
            </a:endParaRPr>
          </a:p>
          <a:p>
            <a:pPr marL="432000" indent="-324000">
              <a:lnSpc>
                <a:spcPct val="100000"/>
              </a:lnSpc>
              <a:spcBef>
                <a:spcPts val="1417"/>
              </a:spcBef>
              <a:buClr>
                <a:srgbClr val="000000"/>
              </a:buClr>
              <a:buSzPct val="45000"/>
              <a:buFont typeface="Wingdings" charset="2"/>
              <a:buChar char=""/>
              <a:tabLst>
                <a:tab algn="l" pos="0"/>
              </a:tabLst>
            </a:pPr>
            <a:r>
              <a:rPr b="0" lang="en-US" sz="1600" strike="noStrike" u="none">
                <a:solidFill>
                  <a:srgbClr val="000000"/>
                </a:solidFill>
                <a:effectLst/>
                <a:uFillTx/>
                <a:latin typeface="Arial"/>
              </a:rPr>
              <a:t>❌ The KC-KC relations are generally missing.</a:t>
            </a:r>
            <a:endParaRPr b="0" lang="en-AU" sz="1600" strike="noStrike" u="none">
              <a:solidFill>
                <a:srgbClr val="000000"/>
              </a:solidFill>
              <a:effectLst/>
              <a:uFillTx/>
              <a:latin typeface="Arial"/>
            </a:endParaRPr>
          </a:p>
          <a:p>
            <a:pPr indent="0">
              <a:lnSpc>
                <a:spcPct val="100000"/>
              </a:lnSpc>
              <a:spcBef>
                <a:spcPts val="1417"/>
              </a:spcBef>
              <a:buNone/>
              <a:tabLst>
                <a:tab algn="l" pos="0"/>
              </a:tabLst>
            </a:pPr>
            <a:r>
              <a:rPr b="0" lang="en-US" sz="1600" strike="noStrike" u="none">
                <a:solidFill>
                  <a:srgbClr val="000000"/>
                </a:solidFill>
                <a:effectLst/>
                <a:uFillTx/>
                <a:latin typeface="Arial"/>
              </a:rPr>
              <a:t>🤔 How does it model the learning of KCs?</a:t>
            </a:r>
            <a:endParaRPr b="0" lang="en-AU" sz="1600" strike="noStrike" u="none">
              <a:solidFill>
                <a:srgbClr val="000000"/>
              </a:solidFill>
              <a:effectLst/>
              <a:uFillTx/>
              <a:latin typeface="Arial"/>
            </a:endParaRPr>
          </a:p>
          <a:p>
            <a:pPr marL="432000" indent="-324000">
              <a:lnSpc>
                <a:spcPct val="100000"/>
              </a:lnSpc>
              <a:spcBef>
                <a:spcPts val="1417"/>
              </a:spcBef>
              <a:buClr>
                <a:srgbClr val="000000"/>
              </a:buClr>
              <a:buSzPct val="45000"/>
              <a:buFont typeface="Wingdings" charset="2"/>
              <a:buChar char=""/>
              <a:tabLst>
                <a:tab algn="l" pos="0"/>
              </a:tabLst>
            </a:pPr>
            <a:r>
              <a:rPr b="1" lang="en-US" sz="1600" strike="noStrike" u="none">
                <a:solidFill>
                  <a:srgbClr val="000000"/>
                </a:solidFill>
                <a:effectLst/>
                <a:uFillTx/>
                <a:latin typeface="Arial"/>
              </a:rPr>
              <a:t>Explicitly</a:t>
            </a:r>
            <a:r>
              <a:rPr b="0" lang="en-US" sz="1600" strike="noStrike" u="none">
                <a:solidFill>
                  <a:srgbClr val="000000"/>
                </a:solidFill>
                <a:effectLst/>
                <a:uFillTx/>
                <a:latin typeface="Arial"/>
              </a:rPr>
              <a:t> through erase-add update for mastery values</a:t>
            </a:r>
            <a:endParaRPr b="0" lang="en-AU" sz="1600" strike="noStrike" u="none">
              <a:solidFill>
                <a:srgbClr val="000000"/>
              </a:solidFill>
              <a:effectLst/>
              <a:uFillTx/>
              <a:latin typeface="Arial"/>
            </a:endParaRPr>
          </a:p>
          <a:p>
            <a:pPr indent="0">
              <a:lnSpc>
                <a:spcPct val="100000"/>
              </a:lnSpc>
              <a:spcBef>
                <a:spcPts val="1417"/>
              </a:spcBef>
              <a:buNone/>
              <a:tabLst>
                <a:tab algn="l" pos="0"/>
              </a:tabLst>
            </a:pPr>
            <a:r>
              <a:rPr b="0" lang="en-US" sz="1600" strike="noStrike" u="none">
                <a:solidFill>
                  <a:srgbClr val="000000"/>
                </a:solidFill>
                <a:effectLst/>
                <a:uFillTx/>
                <a:latin typeface="Arial"/>
              </a:rPr>
              <a:t>🤔 How does it model the forgetting of KCs?</a:t>
            </a:r>
            <a:endParaRPr b="0" lang="en-AU" sz="1600" strike="noStrike" u="none">
              <a:solidFill>
                <a:srgbClr val="000000"/>
              </a:solidFill>
              <a:effectLst/>
              <a:uFillTx/>
              <a:latin typeface="Arial"/>
            </a:endParaRPr>
          </a:p>
          <a:p>
            <a:pPr marL="432000" indent="-324000">
              <a:lnSpc>
                <a:spcPct val="100000"/>
              </a:lnSpc>
              <a:spcBef>
                <a:spcPts val="1417"/>
              </a:spcBef>
              <a:buClr>
                <a:srgbClr val="000000"/>
              </a:buClr>
              <a:buSzPct val="45000"/>
              <a:buFont typeface="Wingdings" charset="2"/>
              <a:buChar char=""/>
              <a:tabLst>
                <a:tab algn="l" pos="0"/>
              </a:tabLst>
            </a:pPr>
            <a:r>
              <a:rPr b="0" lang="en-US" sz="1600" strike="noStrike" u="none">
                <a:solidFill>
                  <a:srgbClr val="000000"/>
                </a:solidFill>
                <a:effectLst/>
                <a:uFillTx/>
                <a:latin typeface="Arial"/>
              </a:rPr>
              <a:t>❌ No explicit time-based forgetting</a:t>
            </a:r>
            <a:endParaRPr b="0" lang="en-AU" sz="1600" strike="noStrike" u="none">
              <a:solidFill>
                <a:srgbClr val="000000"/>
              </a:solidFill>
              <a:effectLst/>
              <a:uFillTx/>
              <a:latin typeface="Arial"/>
            </a:endParaRPr>
          </a:p>
          <a:p>
            <a:pPr indent="0">
              <a:lnSpc>
                <a:spcPct val="100000"/>
              </a:lnSpc>
              <a:spcBef>
                <a:spcPts val="1417"/>
              </a:spcBef>
              <a:buNone/>
              <a:tabLst>
                <a:tab algn="l" pos="0"/>
              </a:tabLst>
            </a:pPr>
            <a:r>
              <a:rPr b="0" lang="en-US" sz="1600" strike="noStrike" u="none">
                <a:solidFill>
                  <a:srgbClr val="000000"/>
                </a:solidFill>
                <a:effectLst/>
                <a:uFillTx/>
                <a:latin typeface="Arial"/>
              </a:rPr>
              <a:t>🤔 How does it model the student’s knowledge state?</a:t>
            </a:r>
            <a:endParaRPr b="0" lang="en-AU" sz="1600" strike="noStrike" u="none">
              <a:solidFill>
                <a:srgbClr val="000000"/>
              </a:solidFill>
              <a:effectLst/>
              <a:uFillTx/>
              <a:latin typeface="Arial"/>
            </a:endParaRPr>
          </a:p>
          <a:p>
            <a:pPr marL="432000" indent="-324000">
              <a:lnSpc>
                <a:spcPct val="100000"/>
              </a:lnSpc>
              <a:spcBef>
                <a:spcPts val="1417"/>
              </a:spcBef>
              <a:buClr>
                <a:srgbClr val="000000"/>
              </a:buClr>
              <a:buSzPct val="45000"/>
              <a:buFont typeface="Wingdings" charset="2"/>
              <a:buChar char=""/>
              <a:tabLst>
                <a:tab algn="l" pos="0"/>
              </a:tabLst>
            </a:pPr>
            <a:r>
              <a:rPr b="1" lang="en-US" sz="1600" strike="noStrike" u="none">
                <a:solidFill>
                  <a:srgbClr val="000000"/>
                </a:solidFill>
                <a:effectLst/>
                <a:uFillTx/>
                <a:latin typeface="Arial"/>
              </a:rPr>
              <a:t>Explicitly</a:t>
            </a:r>
            <a:r>
              <a:rPr b="0" lang="en-US" sz="1600" strike="noStrike" u="none">
                <a:solidFill>
                  <a:srgbClr val="000000"/>
                </a:solidFill>
                <a:effectLst/>
                <a:uFillTx/>
                <a:latin typeface="Arial"/>
              </a:rPr>
              <a:t> through a table of keys and values.</a:t>
            </a:r>
            <a:endParaRPr b="0" lang="en-AU" sz="1600" strike="noStrike" u="none">
              <a:solidFill>
                <a:srgbClr val="000000"/>
              </a:solidFill>
              <a:effectLst/>
              <a:uFillTx/>
              <a:latin typeface="Arial"/>
            </a:endParaRPr>
          </a:p>
        </p:txBody>
      </p:sp>
      <p:sp>
        <p:nvSpPr>
          <p:cNvPr id="4" name="PlaceHolder 3"/>
          <p:cNvSpPr>
            <a:spLocks noGrp="1"/>
          </p:cNvSpPr>
          <p:nvPr>
            <p:ph type="sldNum" idx="2"/>
          </p:nvPr>
        </p:nvSpPr>
        <p:spPr/>
        <p:txBody>
          <a:bodyPr/>
          <a:p>
            <a:fld id="{51A4D0CF-F78D-4714-BFF2-96F5097BA034}" type="slidenum">
              <a:t>12</a:t>
            </a:fld>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4" name="PlaceHolder 1"/>
          <p:cNvSpPr>
            <a:spLocks noGrp="1"/>
          </p:cNvSpPr>
          <p:nvPr>
            <p:ph type="title"/>
          </p:nvPr>
        </p:nvSpPr>
        <p:spPr>
          <a:xfrm>
            <a:off x="504000" y="223560"/>
            <a:ext cx="9069120" cy="948960"/>
          </a:xfrm>
          <a:prstGeom prst="rect">
            <a:avLst/>
          </a:prstGeom>
          <a:noFill/>
          <a:ln w="0">
            <a:noFill/>
          </a:ln>
        </p:spPr>
        <p:txBody>
          <a:bodyPr lIns="0" rIns="0" tIns="0" bIns="0" anchor="ctr">
            <a:spAutoFit/>
          </a:bodyPr>
          <a:p>
            <a:pPr indent="0" algn="ctr">
              <a:lnSpc>
                <a:spcPct val="100000"/>
              </a:lnSpc>
              <a:buNone/>
              <a:tabLst>
                <a:tab algn="l" pos="0"/>
              </a:tabLst>
            </a:pPr>
            <a:r>
              <a:rPr b="0" lang="en-US" sz="4000" strike="noStrike" u="none">
                <a:solidFill>
                  <a:srgbClr val="000000"/>
                </a:solidFill>
                <a:effectLst/>
                <a:uFillTx/>
                <a:latin typeface="Arial"/>
              </a:rPr>
              <a:t>Model Architectures Visited So Far</a:t>
            </a:r>
            <a:endParaRPr b="0" lang="en-AU" sz="4000" strike="noStrike" u="none">
              <a:solidFill>
                <a:srgbClr val="000000"/>
              </a:solidFill>
              <a:effectLst/>
              <a:uFillTx/>
              <a:latin typeface="Arial"/>
            </a:endParaRPr>
          </a:p>
        </p:txBody>
      </p:sp>
      <p:graphicFrame>
        <p:nvGraphicFramePr>
          <p:cNvPr id="65" name=""/>
          <p:cNvGraphicFramePr/>
          <p:nvPr/>
        </p:nvGraphicFramePr>
        <p:xfrm>
          <a:off x="507600" y="1989360"/>
          <a:ext cx="9032040" cy="1636200"/>
        </p:xfrm>
        <a:graphic>
          <a:graphicData uri="http://schemas.openxmlformats.org/drawingml/2006/table">
            <a:tbl>
              <a:tblPr/>
              <a:tblGrid>
                <a:gridCol w="1505520"/>
                <a:gridCol w="1505520"/>
                <a:gridCol w="1505520"/>
                <a:gridCol w="1505520"/>
                <a:gridCol w="1505520"/>
                <a:gridCol w="1504800"/>
              </a:tblGrid>
              <a:tr h="346320">
                <a:tc>
                  <a:txBody>
                    <a:bodyPr lIns="36000" rIns="36000" tIns="36000" bIns="36000" anchor="t">
                      <a:noAutofit/>
                    </a:bodyPr>
                    <a:p>
                      <a:pPr algn="ctr">
                        <a:lnSpc>
                          <a:spcPct val="100000"/>
                        </a:lnSpc>
                        <a:tabLst>
                          <a:tab algn="l" pos="0"/>
                        </a:tabLst>
                      </a:pPr>
                      <a:r>
                        <a:rPr b="0" lang="en-US" sz="1300" strike="noStrike" u="none">
                          <a:solidFill>
                            <a:srgbClr val="000000"/>
                          </a:solidFill>
                          <a:effectLst/>
                          <a:uFillTx/>
                          <a:latin typeface="Arial"/>
                        </a:rPr>
                        <a:t>Architecture</a:t>
                      </a:r>
                      <a:endParaRPr b="0" lang="en-AU" sz="1300" strike="noStrike" u="non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tabLst>
                          <a:tab algn="l" pos="0"/>
                        </a:tabLst>
                      </a:pPr>
                      <a:r>
                        <a:rPr b="0" lang="en-US" sz="1300" strike="noStrike" u="none">
                          <a:solidFill>
                            <a:srgbClr val="000000"/>
                          </a:solidFill>
                          <a:effectLst/>
                          <a:uFillTx/>
                          <a:latin typeface="Arial"/>
                        </a:rPr>
                        <a:t>KCs</a:t>
                      </a:r>
                      <a:endParaRPr b="0" lang="en-AU" sz="1300" strike="noStrike" u="non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tabLst>
                          <a:tab algn="l" pos="0"/>
                        </a:tabLst>
                      </a:pPr>
                      <a:r>
                        <a:rPr b="0" lang="en-US" sz="1300" strike="noStrike" u="none">
                          <a:solidFill>
                            <a:srgbClr val="000000"/>
                          </a:solidFill>
                          <a:effectLst/>
                          <a:uFillTx/>
                          <a:latin typeface="Arial"/>
                        </a:rPr>
                        <a:t>KC-KC Relations</a:t>
                      </a:r>
                      <a:endParaRPr b="0" lang="en-AU" sz="1300" strike="noStrike" u="non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tabLst>
                          <a:tab algn="l" pos="0"/>
                        </a:tabLst>
                      </a:pPr>
                      <a:r>
                        <a:rPr b="0" lang="en-US" sz="1300" strike="noStrike" u="none">
                          <a:solidFill>
                            <a:srgbClr val="000000"/>
                          </a:solidFill>
                          <a:effectLst/>
                          <a:uFillTx/>
                          <a:latin typeface="Arial"/>
                        </a:rPr>
                        <a:t>Leaning of KCs</a:t>
                      </a:r>
                      <a:endParaRPr b="0" lang="en-AU" sz="1300" strike="noStrike" u="non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tabLst>
                          <a:tab algn="l" pos="0"/>
                        </a:tabLst>
                      </a:pPr>
                      <a:r>
                        <a:rPr b="0" lang="en-US" sz="1300" strike="noStrike" u="none">
                          <a:solidFill>
                            <a:srgbClr val="000000"/>
                          </a:solidFill>
                          <a:effectLst/>
                          <a:uFillTx/>
                          <a:latin typeface="Arial"/>
                        </a:rPr>
                        <a:t>Time-Based Forgetting of KCs</a:t>
                      </a:r>
                      <a:endParaRPr b="0" lang="en-AU" sz="1300" strike="noStrike" u="non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tabLst>
                          <a:tab algn="l" pos="0"/>
                        </a:tabLst>
                      </a:pPr>
                      <a:r>
                        <a:rPr b="0" lang="en-US" sz="1300" strike="noStrike" u="none">
                          <a:solidFill>
                            <a:srgbClr val="000000"/>
                          </a:solidFill>
                          <a:effectLst/>
                          <a:uFillTx/>
                          <a:latin typeface="Arial"/>
                        </a:rPr>
                        <a:t>Student’s Knowledge State</a:t>
                      </a:r>
                      <a:endParaRPr b="0" lang="en-AU" sz="1300" strike="noStrike" u="non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r h="698040">
                <a:tc>
                  <a:txBody>
                    <a:bodyPr lIns="36000" rIns="36000" tIns="36000" bIns="36000" anchor="t">
                      <a:noAutofit/>
                    </a:bodyPr>
                    <a:p>
                      <a:pPr algn="ctr">
                        <a:lnSpc>
                          <a:spcPct val="100000"/>
                        </a:lnSpc>
                        <a:tabLst>
                          <a:tab algn="l" pos="0"/>
                        </a:tabLst>
                      </a:pPr>
                      <a:r>
                        <a:rPr b="0" lang="en-US" sz="1300" strike="noStrike" u="none">
                          <a:solidFill>
                            <a:srgbClr val="000000"/>
                          </a:solidFill>
                          <a:effectLst/>
                          <a:uFillTx/>
                          <a:latin typeface="Arial"/>
                        </a:rPr>
                        <a:t>Graph Neural Network</a:t>
                      </a:r>
                      <a:endParaRPr b="0" lang="en-AU" sz="1300" strike="noStrike" u="non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tabLst>
                          <a:tab algn="l" pos="0"/>
                        </a:tabLst>
                      </a:pPr>
                      <a:r>
                        <a:rPr b="1" lang="en-US" sz="1300" strike="noStrike" u="none">
                          <a:solidFill>
                            <a:srgbClr val="000000"/>
                          </a:solidFill>
                          <a:effectLst/>
                          <a:uFillTx/>
                          <a:latin typeface="Arial"/>
                        </a:rPr>
                        <a:t>Explicit</a:t>
                      </a:r>
                      <a:r>
                        <a:rPr b="0" lang="en-US" sz="1300" strike="noStrike" u="none">
                          <a:solidFill>
                            <a:srgbClr val="000000"/>
                          </a:solidFill>
                          <a:effectLst/>
                          <a:uFillTx/>
                          <a:latin typeface="Arial"/>
                        </a:rPr>
                        <a:t> as Nodes</a:t>
                      </a:r>
                      <a:endParaRPr b="0" lang="en-AU" sz="1300" strike="noStrike" u="non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tabLst>
                          <a:tab algn="l" pos="0"/>
                        </a:tabLst>
                      </a:pPr>
                      <a:r>
                        <a:rPr b="1" lang="en-US" sz="1300" strike="noStrike" u="none">
                          <a:solidFill>
                            <a:srgbClr val="000000"/>
                          </a:solidFill>
                          <a:effectLst/>
                          <a:uFillTx/>
                          <a:latin typeface="Arial"/>
                        </a:rPr>
                        <a:t>Explicit</a:t>
                      </a:r>
                      <a:r>
                        <a:rPr b="0" lang="en-US" sz="1300" strike="noStrike" u="none">
                          <a:solidFill>
                            <a:srgbClr val="000000"/>
                          </a:solidFill>
                          <a:effectLst/>
                          <a:uFillTx/>
                          <a:latin typeface="Arial"/>
                        </a:rPr>
                        <a:t> as Edges</a:t>
                      </a:r>
                      <a:endParaRPr b="0" lang="en-AU" sz="1300" strike="noStrike" u="non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tabLst>
                          <a:tab algn="l" pos="0"/>
                        </a:tabLst>
                      </a:pPr>
                      <a:r>
                        <a:rPr b="1" lang="en-US" sz="1300" strike="noStrike" u="none">
                          <a:solidFill>
                            <a:srgbClr val="000000"/>
                          </a:solidFill>
                          <a:effectLst/>
                          <a:uFillTx/>
                          <a:latin typeface="Arial"/>
                        </a:rPr>
                        <a:t>Explicit</a:t>
                      </a:r>
                      <a:r>
                        <a:rPr b="0" lang="en-US" sz="1300" strike="noStrike" u="none">
                          <a:solidFill>
                            <a:srgbClr val="000000"/>
                          </a:solidFill>
                          <a:effectLst/>
                          <a:uFillTx/>
                          <a:latin typeface="Arial"/>
                        </a:rPr>
                        <a:t> via node update + message passing</a:t>
                      </a:r>
                      <a:endParaRPr b="0" lang="en-AU" sz="1300" strike="noStrike" u="non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tabLst>
                          <a:tab algn="l" pos="0"/>
                        </a:tabLst>
                      </a:pPr>
                      <a:r>
                        <a:rPr b="1" lang="en-US" sz="1300" strike="noStrike" u="none">
                          <a:solidFill>
                            <a:srgbClr val="000000"/>
                          </a:solidFill>
                          <a:effectLst/>
                          <a:uFillTx/>
                          <a:latin typeface="Arial"/>
                        </a:rPr>
                        <a:t>Explicit</a:t>
                      </a:r>
                      <a:r>
                        <a:rPr b="0" lang="en-US" sz="1300" strike="noStrike" u="none">
                          <a:solidFill>
                            <a:srgbClr val="000000"/>
                          </a:solidFill>
                          <a:effectLst/>
                          <a:uFillTx/>
                          <a:latin typeface="Arial"/>
                        </a:rPr>
                        <a:t> via Forgetting Functions</a:t>
                      </a:r>
                      <a:endParaRPr b="0" lang="en-AU" sz="1300" strike="noStrike" u="non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tabLst>
                          <a:tab algn="l" pos="0"/>
                        </a:tabLst>
                      </a:pPr>
                      <a:r>
                        <a:rPr b="1" lang="en-US" sz="1300" strike="noStrike" u="none">
                          <a:solidFill>
                            <a:srgbClr val="000000"/>
                          </a:solidFill>
                          <a:effectLst/>
                          <a:uFillTx/>
                          <a:latin typeface="Arial"/>
                        </a:rPr>
                        <a:t>Explicit</a:t>
                      </a:r>
                      <a:r>
                        <a:rPr b="0" lang="en-US" sz="1300" strike="noStrike" u="none">
                          <a:solidFill>
                            <a:srgbClr val="000000"/>
                          </a:solidFill>
                          <a:effectLst/>
                          <a:uFillTx/>
                          <a:latin typeface="Arial"/>
                        </a:rPr>
                        <a:t> as a Graph</a:t>
                      </a:r>
                      <a:endParaRPr b="0" lang="en-AU" sz="1300" strike="noStrike" u="non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r h="346320">
                <a:tc>
                  <a:txBody>
                    <a:bodyPr lIns="36000" rIns="36000" tIns="36000" bIns="36000" anchor="t">
                      <a:noAutofit/>
                    </a:bodyPr>
                    <a:p>
                      <a:pPr algn="ctr">
                        <a:lnSpc>
                          <a:spcPct val="100000"/>
                        </a:lnSpc>
                        <a:tabLst>
                          <a:tab algn="l" pos="0"/>
                        </a:tabLst>
                      </a:pPr>
                      <a:r>
                        <a:rPr b="0" lang="en-US" sz="1300" strike="noStrike" u="none">
                          <a:solidFill>
                            <a:srgbClr val="000000"/>
                          </a:solidFill>
                          <a:effectLst/>
                          <a:uFillTx/>
                          <a:latin typeface="Arial"/>
                        </a:rPr>
                        <a:t>Key-Value Memory Network</a:t>
                      </a:r>
                      <a:endParaRPr b="0" lang="en-AU" sz="1300" strike="noStrike" u="non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tabLst>
                          <a:tab algn="l" pos="0"/>
                        </a:tabLst>
                      </a:pPr>
                      <a:r>
                        <a:rPr b="1" lang="en-US" sz="1300" strike="noStrike" u="none">
                          <a:solidFill>
                            <a:srgbClr val="000000"/>
                          </a:solidFill>
                          <a:effectLst/>
                          <a:uFillTx/>
                          <a:latin typeface="Arial"/>
                        </a:rPr>
                        <a:t>Explicit</a:t>
                      </a:r>
                      <a:r>
                        <a:rPr b="0" lang="en-US" sz="1300" strike="noStrike" u="none">
                          <a:solidFill>
                            <a:srgbClr val="000000"/>
                          </a:solidFill>
                          <a:effectLst/>
                          <a:uFillTx/>
                          <a:latin typeface="Arial"/>
                        </a:rPr>
                        <a:t> as Keys</a:t>
                      </a:r>
                      <a:endParaRPr b="0" lang="en-AU" sz="1300" strike="noStrike" u="non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tabLst>
                          <a:tab algn="l" pos="0"/>
                        </a:tabLst>
                      </a:pPr>
                      <a:r>
                        <a:rPr b="0" lang="en-US" sz="1300" strike="noStrike" u="none">
                          <a:solidFill>
                            <a:srgbClr val="000000"/>
                          </a:solidFill>
                          <a:effectLst/>
                          <a:uFillTx/>
                          <a:latin typeface="Arial"/>
                        </a:rPr>
                        <a:t>---------</a:t>
                      </a:r>
                      <a:endParaRPr b="0" lang="en-AU" sz="1300" strike="noStrike" u="non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tabLst>
                          <a:tab algn="l" pos="0"/>
                        </a:tabLst>
                      </a:pPr>
                      <a:r>
                        <a:rPr b="1" lang="en-US" sz="1300" strike="noStrike" u="none">
                          <a:solidFill>
                            <a:srgbClr val="000000"/>
                          </a:solidFill>
                          <a:effectLst/>
                          <a:uFillTx/>
                          <a:latin typeface="Arial"/>
                        </a:rPr>
                        <a:t>Explicit</a:t>
                      </a:r>
                      <a:r>
                        <a:rPr b="0" lang="en-US" sz="1300" strike="noStrike" u="none">
                          <a:solidFill>
                            <a:srgbClr val="000000"/>
                          </a:solidFill>
                          <a:effectLst/>
                          <a:uFillTx/>
                          <a:latin typeface="Arial"/>
                        </a:rPr>
                        <a:t> via erase-add update</a:t>
                      </a:r>
                      <a:endParaRPr b="0" lang="en-AU" sz="1300" strike="noStrike" u="non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tabLst>
                          <a:tab algn="l" pos="0"/>
                        </a:tabLst>
                      </a:pPr>
                      <a:r>
                        <a:rPr b="0" lang="en-US" sz="1300" strike="noStrike" u="none">
                          <a:solidFill>
                            <a:srgbClr val="000000"/>
                          </a:solidFill>
                          <a:effectLst/>
                          <a:uFillTx/>
                          <a:latin typeface="Arial"/>
                        </a:rPr>
                        <a:t>---------</a:t>
                      </a:r>
                      <a:endParaRPr b="0" lang="en-AU" sz="1300" strike="noStrike" u="non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tabLst>
                          <a:tab algn="l" pos="0"/>
                        </a:tabLst>
                      </a:pPr>
                      <a:r>
                        <a:rPr b="1" lang="en-US" sz="1300" strike="noStrike" u="none">
                          <a:solidFill>
                            <a:srgbClr val="000000"/>
                          </a:solidFill>
                          <a:effectLst/>
                          <a:uFillTx/>
                          <a:latin typeface="Arial"/>
                        </a:rPr>
                        <a:t>Explicit</a:t>
                      </a:r>
                      <a:r>
                        <a:rPr b="0" lang="en-US" sz="1300" strike="noStrike" u="none">
                          <a:solidFill>
                            <a:srgbClr val="000000"/>
                          </a:solidFill>
                          <a:effectLst/>
                          <a:uFillTx/>
                          <a:latin typeface="Arial"/>
                        </a:rPr>
                        <a:t> as a Key-Value Table</a:t>
                      </a:r>
                      <a:endParaRPr b="0" lang="en-AU" sz="1300" strike="noStrike" u="non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bl>
          </a:graphicData>
        </a:graphic>
      </p:graphicFrame>
      <p:sp>
        <p:nvSpPr>
          <p:cNvPr id="3" name="PlaceHolder 2"/>
          <p:cNvSpPr>
            <a:spLocks noGrp="1"/>
          </p:cNvSpPr>
          <p:nvPr>
            <p:ph type="sldNum" idx="2"/>
          </p:nvPr>
        </p:nvSpPr>
        <p:spPr/>
        <p:txBody>
          <a:bodyPr/>
          <a:p>
            <a:fld id="{E5CC3025-93D2-4A19-B06D-588161DB7CCB}" type="slidenum">
              <a:t>13</a:t>
            </a:fld>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6" name=""/>
          <p:cNvSpPr/>
          <p:nvPr/>
        </p:nvSpPr>
        <p:spPr>
          <a:xfrm>
            <a:off x="7200000" y="1150200"/>
            <a:ext cx="2517480" cy="1369800"/>
          </a:xfrm>
          <a:prstGeom prst="rect">
            <a:avLst/>
          </a:prstGeom>
          <a:noFill/>
          <a:ln w="0">
            <a:noFill/>
          </a:ln>
        </p:spPr>
        <p:style>
          <a:lnRef idx="0"/>
          <a:fillRef idx="0"/>
          <a:effectRef idx="0"/>
          <a:fontRef idx="minor"/>
        </p:style>
        <p:txBody>
          <a:bodyPr lIns="90000" rIns="90000" tIns="45000" bIns="45000" anchor="t">
            <a:spAutoFit/>
          </a:bodyPr>
          <a:p>
            <a:pPr marL="216000" indent="-216000">
              <a:lnSpc>
                <a:spcPct val="100000"/>
              </a:lnSpc>
              <a:buClr>
                <a:srgbClr val="000000"/>
              </a:buClr>
              <a:buSzPct val="45000"/>
              <a:buFont typeface="Wingdings" charset="2"/>
              <a:buChar char=""/>
            </a:pPr>
            <a:r>
              <a:rPr b="0" lang="en-US" sz="1200" strike="noStrike" u="none">
                <a:solidFill>
                  <a:srgbClr val="2a6099"/>
                </a:solidFill>
                <a:effectLst/>
                <a:uFillTx/>
                <a:latin typeface="Arial"/>
                <a:ea typeface="DejaVu Sans"/>
              </a:rPr>
              <a:t>Static/global parameters</a:t>
            </a:r>
            <a:r>
              <a:rPr b="0" lang="en-US" sz="1200" strike="noStrike" u="none">
                <a:solidFill>
                  <a:srgbClr val="000000"/>
                </a:solidFill>
                <a:effectLst/>
                <a:uFillTx/>
                <a:latin typeface="Arial"/>
                <a:ea typeface="DejaVu Sans"/>
              </a:rPr>
              <a:t>. </a:t>
            </a:r>
            <a:endParaRPr b="0" lang="en-AU" sz="1200" strike="noStrike" u="none">
              <a:solidFill>
                <a:srgbClr val="000000"/>
              </a:solidFill>
              <a:effectLst/>
              <a:uFillTx/>
              <a:latin typeface="Arial"/>
            </a:endParaRPr>
          </a:p>
          <a:p>
            <a:pPr lvl="1" marL="432000" indent="-216000">
              <a:lnSpc>
                <a:spcPct val="100000"/>
              </a:lnSpc>
              <a:buClr>
                <a:srgbClr val="000000"/>
              </a:buClr>
              <a:buSzPct val="45000"/>
              <a:buFont typeface="Wingdings" charset="2"/>
              <a:buChar char=""/>
            </a:pPr>
            <a:r>
              <a:rPr b="0" lang="en-US" sz="1200" strike="noStrike" u="none">
                <a:solidFill>
                  <a:srgbClr val="000000"/>
                </a:solidFill>
                <a:effectLst/>
                <a:uFillTx/>
                <a:latin typeface="Arial"/>
                <a:ea typeface="DejaVu Sans"/>
              </a:rPr>
              <a:t>Learned during training. </a:t>
            </a:r>
            <a:endParaRPr b="0" lang="en-AU" sz="1200" strike="noStrike" u="none">
              <a:solidFill>
                <a:srgbClr val="000000"/>
              </a:solidFill>
              <a:effectLst/>
              <a:uFillTx/>
              <a:latin typeface="Arial"/>
            </a:endParaRPr>
          </a:p>
          <a:p>
            <a:pPr lvl="1" marL="432000" indent="-216000">
              <a:lnSpc>
                <a:spcPct val="100000"/>
              </a:lnSpc>
              <a:buClr>
                <a:srgbClr val="000000"/>
              </a:buClr>
              <a:buSzPct val="45000"/>
              <a:buFont typeface="Wingdings" charset="2"/>
              <a:buChar char=""/>
            </a:pPr>
            <a:r>
              <a:rPr b="0" lang="en-US" sz="1200" strike="noStrike" u="none">
                <a:solidFill>
                  <a:srgbClr val="000000"/>
                </a:solidFill>
                <a:effectLst/>
                <a:uFillTx/>
                <a:latin typeface="Arial"/>
                <a:ea typeface="DejaVu Sans"/>
              </a:rPr>
              <a:t>Fixed at inference.</a:t>
            </a:r>
            <a:endParaRPr b="0" lang="en-AU" sz="1200" strike="noStrike" u="none">
              <a:solidFill>
                <a:srgbClr val="000000"/>
              </a:solidFill>
              <a:effectLst/>
              <a:uFillTx/>
              <a:latin typeface="Arial"/>
            </a:endParaRPr>
          </a:p>
          <a:p>
            <a:pPr marL="216000" indent="-216000">
              <a:lnSpc>
                <a:spcPct val="100000"/>
              </a:lnSpc>
              <a:buClr>
                <a:srgbClr val="000000"/>
              </a:buClr>
              <a:buSzPct val="45000"/>
              <a:buFont typeface="Wingdings" charset="2"/>
              <a:buChar char=""/>
            </a:pPr>
            <a:r>
              <a:rPr b="0" lang="en-US" sz="1200" strike="noStrike" u="none">
                <a:solidFill>
                  <a:srgbClr val="00a933"/>
                </a:solidFill>
                <a:effectLst/>
                <a:uFillTx/>
                <a:latin typeface="Arial"/>
                <a:ea typeface="DejaVu Sans"/>
              </a:rPr>
              <a:t>Dynamic/online parameters.</a:t>
            </a:r>
            <a:r>
              <a:rPr b="0" lang="en-US" sz="1200" strike="noStrike" u="none">
                <a:solidFill>
                  <a:srgbClr val="000000"/>
                </a:solidFill>
                <a:effectLst/>
                <a:uFillTx/>
                <a:latin typeface="Arial"/>
                <a:ea typeface="DejaVu Sans"/>
              </a:rPr>
              <a:t> </a:t>
            </a:r>
            <a:endParaRPr b="0" lang="en-AU" sz="1200" strike="noStrike" u="none">
              <a:solidFill>
                <a:srgbClr val="000000"/>
              </a:solidFill>
              <a:effectLst/>
              <a:uFillTx/>
              <a:latin typeface="Arial"/>
            </a:endParaRPr>
          </a:p>
          <a:p>
            <a:pPr lvl="1" marL="432000" indent="-216000">
              <a:lnSpc>
                <a:spcPct val="100000"/>
              </a:lnSpc>
              <a:buClr>
                <a:srgbClr val="000000"/>
              </a:buClr>
              <a:buSzPct val="45000"/>
              <a:buFont typeface="Wingdings" charset="2"/>
              <a:buChar char=""/>
            </a:pPr>
            <a:r>
              <a:rPr b="0" lang="en-US" sz="1200" strike="noStrike" u="none">
                <a:solidFill>
                  <a:srgbClr val="000000"/>
                </a:solidFill>
                <a:effectLst/>
                <a:uFillTx/>
                <a:latin typeface="Arial"/>
                <a:ea typeface="DejaVu Sans"/>
              </a:rPr>
              <a:t>Updated during inference.</a:t>
            </a:r>
            <a:endParaRPr b="0" lang="en-AU" sz="1200" strike="noStrike" u="none">
              <a:solidFill>
                <a:srgbClr val="000000"/>
              </a:solidFill>
              <a:effectLst/>
              <a:uFillTx/>
              <a:latin typeface="Arial"/>
            </a:endParaRPr>
          </a:p>
          <a:p>
            <a:pPr lvl="1" marL="432000" indent="-216000">
              <a:lnSpc>
                <a:spcPct val="100000"/>
              </a:lnSpc>
              <a:buClr>
                <a:srgbClr val="000000"/>
              </a:buClr>
              <a:buSzPct val="45000"/>
              <a:buFont typeface="Wingdings" charset="2"/>
              <a:buChar char=""/>
            </a:pPr>
            <a:r>
              <a:rPr b="0" lang="en-US" sz="1200" strike="noStrike" u="none">
                <a:solidFill>
                  <a:srgbClr val="000000"/>
                </a:solidFill>
                <a:effectLst/>
                <a:uFillTx/>
                <a:latin typeface="Arial"/>
                <a:ea typeface="DejaVu Sans"/>
              </a:rPr>
              <a:t>Specific to each student </a:t>
            </a:r>
            <a:endParaRPr b="0" lang="en-AU" sz="1200" strike="noStrike" u="none">
              <a:solidFill>
                <a:srgbClr val="000000"/>
              </a:solidFill>
              <a:effectLst/>
              <a:uFillTx/>
              <a:latin typeface="Arial"/>
            </a:endParaRPr>
          </a:p>
          <a:p>
            <a:pPr lvl="1" marL="432000" indent="-216000">
              <a:lnSpc>
                <a:spcPct val="100000"/>
              </a:lnSpc>
              <a:buClr>
                <a:srgbClr val="000000"/>
              </a:buClr>
              <a:buSzPct val="45000"/>
              <a:buFont typeface="Wingdings" charset="2"/>
              <a:buChar char=""/>
            </a:pPr>
            <a:r>
              <a:rPr b="0" lang="en-US" sz="1200" strike="noStrike" u="none">
                <a:solidFill>
                  <a:srgbClr val="000000"/>
                </a:solidFill>
                <a:effectLst/>
                <a:uFillTx/>
                <a:latin typeface="Arial"/>
                <a:ea typeface="DejaVu Sans"/>
              </a:rPr>
              <a:t>/ [(Question, ID)]</a:t>
            </a:r>
            <a:endParaRPr b="0" lang="en-AU" sz="1200" strike="noStrike" u="none">
              <a:solidFill>
                <a:srgbClr val="000000"/>
              </a:solidFill>
              <a:effectLst/>
              <a:uFillTx/>
              <a:latin typeface="Arial"/>
            </a:endParaRPr>
          </a:p>
        </p:txBody>
      </p:sp>
      <p:sp>
        <p:nvSpPr>
          <p:cNvPr id="67" name=""/>
          <p:cNvSpPr/>
          <p:nvPr/>
        </p:nvSpPr>
        <p:spPr>
          <a:xfrm>
            <a:off x="6480000" y="180000"/>
            <a:ext cx="3417480" cy="825840"/>
          </a:xfrm>
          <a:prstGeom prst="rect">
            <a:avLst/>
          </a:prstGeom>
          <a:noFill/>
          <a:ln w="0">
            <a:noFill/>
          </a:ln>
        </p:spPr>
        <p:style>
          <a:lnRef idx="0"/>
          <a:fillRef idx="0"/>
          <a:effectRef idx="0"/>
          <a:fontRef idx="minor"/>
        </p:style>
        <p:txBody>
          <a:bodyPr lIns="90000" rIns="90000" tIns="45000" bIns="45000" anchor="t" anchorCtr="1">
            <a:spAutoFit/>
          </a:bodyPr>
          <a:p>
            <a:pPr algn="ctr">
              <a:lnSpc>
                <a:spcPct val="100000"/>
              </a:lnSpc>
            </a:pPr>
            <a:r>
              <a:rPr b="0" lang="en-US" sz="2600" strike="noStrike" u="none">
                <a:solidFill>
                  <a:srgbClr val="000000"/>
                </a:solidFill>
                <a:effectLst/>
                <a:uFillTx/>
                <a:latin typeface="Arial"/>
                <a:ea typeface="DejaVu Sans"/>
              </a:rPr>
              <a:t>Recurrent Neural Network</a:t>
            </a:r>
            <a:endParaRPr b="0" lang="en-AU" sz="2600" strike="noStrike" u="none">
              <a:solidFill>
                <a:srgbClr val="000000"/>
              </a:solidFill>
              <a:effectLst/>
              <a:uFillTx/>
              <a:latin typeface="Arial"/>
            </a:endParaRPr>
          </a:p>
        </p:txBody>
      </p:sp>
      <p:sp>
        <p:nvSpPr>
          <p:cNvPr id="68" name=""/>
          <p:cNvSpPr/>
          <p:nvPr/>
        </p:nvSpPr>
        <p:spPr>
          <a:xfrm>
            <a:off x="7043760" y="2700000"/>
            <a:ext cx="2674800" cy="2720520"/>
          </a:xfrm>
          <a:prstGeom prst="rect">
            <a:avLst/>
          </a:prstGeom>
          <a:noFill/>
          <a:ln w="36000">
            <a:solidFill>
              <a:srgbClr val="5b277d"/>
            </a:solidFill>
            <a:prstDash val="sysDot"/>
            <a:round/>
          </a:ln>
        </p:spPr>
        <p:style>
          <a:lnRef idx="0"/>
          <a:fillRef idx="0"/>
          <a:effectRef idx="0"/>
          <a:fontRef idx="minor"/>
        </p:style>
        <p:txBody>
          <a:bodyPr lIns="108000" rIns="108000" tIns="63000" bIns="63000" anchor="t">
            <a:spAutoFit/>
          </a:bodyPr>
          <a:p>
            <a:pPr>
              <a:lnSpc>
                <a:spcPct val="100000"/>
              </a:lnSpc>
            </a:pPr>
            <a:r>
              <a:rPr b="0" i="1" lang="en-US" sz="1000" strike="noStrike" u="none">
                <a:solidFill>
                  <a:srgbClr val="000000"/>
                </a:solidFill>
                <a:effectLst/>
                <a:uFillTx/>
                <a:latin typeface="Arial"/>
                <a:ea typeface="DejaVu Sans"/>
              </a:rPr>
              <a:t>Relevant Models:</a:t>
            </a:r>
            <a:endParaRPr b="0" lang="en-AU" sz="1000" strike="noStrike" u="none">
              <a:solidFill>
                <a:srgbClr val="000000"/>
              </a:solidFill>
              <a:effectLst/>
              <a:uFillTx/>
              <a:latin typeface="Arial"/>
            </a:endParaRPr>
          </a:p>
          <a:p>
            <a:pPr>
              <a:lnSpc>
                <a:spcPct val="100000"/>
              </a:lnSpc>
            </a:pPr>
            <a:endParaRPr b="0" lang="en-AU" sz="1000" strike="noStrike" u="none">
              <a:solidFill>
                <a:srgbClr val="000000"/>
              </a:solidFill>
              <a:effectLst/>
              <a:uFillTx/>
              <a:latin typeface="Arial"/>
            </a:endParaRPr>
          </a:p>
          <a:p>
            <a:pPr>
              <a:lnSpc>
                <a:spcPct val="100000"/>
              </a:lnSpc>
            </a:pPr>
            <a:r>
              <a:rPr b="0" i="1" lang="en-US" sz="1000" strike="noStrike" u="none">
                <a:solidFill>
                  <a:srgbClr val="000000"/>
                </a:solidFill>
                <a:effectLst/>
                <a:uFillTx/>
                <a:latin typeface="Arial"/>
                <a:ea typeface="DejaVu Sans"/>
              </a:rPr>
              <a:t>Chris Piech, Jonathan Bassen, Jonathan Huang, Surya Ganguli, Mehran Sahami, Leonidas J. Guibas, and Jascha Sohl-</a:t>
            </a:r>
            <a:endParaRPr b="0" lang="en-AU" sz="1000" strike="noStrike" u="none">
              <a:solidFill>
                <a:srgbClr val="000000"/>
              </a:solidFill>
              <a:effectLst/>
              <a:uFillTx/>
              <a:latin typeface="Arial"/>
            </a:endParaRPr>
          </a:p>
          <a:p>
            <a:pPr>
              <a:lnSpc>
                <a:spcPct val="100000"/>
              </a:lnSpc>
            </a:pPr>
            <a:r>
              <a:rPr b="0" i="1" lang="en-US" sz="1000" strike="noStrike" u="none">
                <a:solidFill>
                  <a:srgbClr val="000000"/>
                </a:solidFill>
                <a:effectLst/>
                <a:uFillTx/>
                <a:latin typeface="Arial"/>
                <a:ea typeface="DejaVu Sans"/>
              </a:rPr>
              <a:t>Dickstein. 2015. Deep knowledge tracing. In NeurIPS. 505–513.</a:t>
            </a:r>
            <a:endParaRPr b="0" lang="en-AU" sz="1000" strike="noStrike" u="none">
              <a:solidFill>
                <a:srgbClr val="000000"/>
              </a:solidFill>
              <a:effectLst/>
              <a:uFillTx/>
              <a:latin typeface="Arial"/>
            </a:endParaRPr>
          </a:p>
          <a:p>
            <a:pPr>
              <a:lnSpc>
                <a:spcPct val="100000"/>
              </a:lnSpc>
            </a:pPr>
            <a:endParaRPr b="0" lang="en-AU" sz="1000" strike="noStrike" u="none">
              <a:solidFill>
                <a:srgbClr val="000000"/>
              </a:solidFill>
              <a:effectLst/>
              <a:uFillTx/>
              <a:latin typeface="Arial"/>
            </a:endParaRPr>
          </a:p>
          <a:p>
            <a:pPr>
              <a:lnSpc>
                <a:spcPct val="100000"/>
              </a:lnSpc>
            </a:pPr>
            <a:r>
              <a:rPr b="0" i="1" lang="en-US" sz="1000" strike="noStrike" u="none">
                <a:solidFill>
                  <a:srgbClr val="000000"/>
                </a:solidFill>
                <a:effectLst/>
                <a:uFillTx/>
                <a:latin typeface="Arial"/>
                <a:ea typeface="DejaVu Sans"/>
              </a:rPr>
              <a:t>Xiaolu Xiong, Siyuan Zhao, Eric Van Inwegen, and Joseph Beck. 2016. Going deeper with deep knowledge tracing.</a:t>
            </a:r>
            <a:endParaRPr b="0" lang="en-AU" sz="1000" strike="noStrike" u="none">
              <a:solidFill>
                <a:srgbClr val="000000"/>
              </a:solidFill>
              <a:effectLst/>
              <a:uFillTx/>
              <a:latin typeface="Arial"/>
            </a:endParaRPr>
          </a:p>
          <a:p>
            <a:pPr>
              <a:lnSpc>
                <a:spcPct val="100000"/>
              </a:lnSpc>
            </a:pPr>
            <a:r>
              <a:rPr b="0" i="1" lang="en-US" sz="1000" strike="noStrike" u="none">
                <a:solidFill>
                  <a:srgbClr val="000000"/>
                </a:solidFill>
                <a:effectLst/>
                <a:uFillTx/>
                <a:latin typeface="Arial"/>
                <a:ea typeface="DejaVu Sans"/>
              </a:rPr>
              <a:t>In EDM. 545–550.</a:t>
            </a:r>
            <a:endParaRPr b="0" lang="en-AU" sz="1000" strike="noStrike" u="none">
              <a:solidFill>
                <a:srgbClr val="000000"/>
              </a:solidFill>
              <a:effectLst/>
              <a:uFillTx/>
              <a:latin typeface="Arial"/>
            </a:endParaRPr>
          </a:p>
          <a:p>
            <a:pPr>
              <a:lnSpc>
                <a:spcPct val="100000"/>
              </a:lnSpc>
            </a:pPr>
            <a:endParaRPr b="0" lang="en-AU" sz="1000" strike="noStrike" u="none">
              <a:solidFill>
                <a:srgbClr val="000000"/>
              </a:solidFill>
              <a:effectLst/>
              <a:uFillTx/>
              <a:latin typeface="Arial"/>
            </a:endParaRPr>
          </a:p>
          <a:p>
            <a:pPr>
              <a:lnSpc>
                <a:spcPct val="100000"/>
              </a:lnSpc>
            </a:pPr>
            <a:r>
              <a:rPr b="0" i="1" lang="en-US" sz="1000" strike="noStrike" u="none">
                <a:solidFill>
                  <a:srgbClr val="000000"/>
                </a:solidFill>
                <a:effectLst/>
                <a:uFillTx/>
                <a:latin typeface="Arial"/>
                <a:ea typeface="DejaVu Sans"/>
              </a:rPr>
              <a:t>Chun-Kit Yeung and Dit-Yan Yeung. 2018. Addressing two problems in deep knowledge tracing via prediction-</a:t>
            </a:r>
            <a:endParaRPr b="0" lang="en-AU" sz="1000" strike="noStrike" u="none">
              <a:solidFill>
                <a:srgbClr val="000000"/>
              </a:solidFill>
              <a:effectLst/>
              <a:uFillTx/>
              <a:latin typeface="Arial"/>
            </a:endParaRPr>
          </a:p>
          <a:p>
            <a:pPr>
              <a:lnSpc>
                <a:spcPct val="100000"/>
              </a:lnSpc>
            </a:pPr>
            <a:r>
              <a:rPr b="0" i="1" lang="en-US" sz="1000" strike="noStrike" u="none">
                <a:solidFill>
                  <a:srgbClr val="000000"/>
                </a:solidFill>
                <a:effectLst/>
                <a:uFillTx/>
                <a:latin typeface="Arial"/>
                <a:ea typeface="DejaVu Sans"/>
              </a:rPr>
              <a:t>consistent regularization. In L@S. 1–10</a:t>
            </a:r>
            <a:endParaRPr b="0" lang="en-AU" sz="1000" strike="noStrike" u="none">
              <a:solidFill>
                <a:srgbClr val="000000"/>
              </a:solidFill>
              <a:effectLst/>
              <a:uFillTx/>
              <a:latin typeface="Arial"/>
            </a:endParaRPr>
          </a:p>
        </p:txBody>
      </p:sp>
      <p:pic>
        <p:nvPicPr>
          <p:cNvPr id="69" name="" descr=""/>
          <p:cNvPicPr/>
          <p:nvPr/>
        </p:nvPicPr>
        <p:blipFill>
          <a:blip r:embed="rId1"/>
          <a:stretch/>
        </p:blipFill>
        <p:spPr>
          <a:xfrm>
            <a:off x="360000" y="207360"/>
            <a:ext cx="2905560" cy="4482360"/>
          </a:xfrm>
          <a:prstGeom prst="rect">
            <a:avLst/>
          </a:prstGeom>
          <a:noFill/>
          <a:ln w="0">
            <a:noFill/>
          </a:ln>
        </p:spPr>
      </p:pic>
      <p:pic>
        <p:nvPicPr>
          <p:cNvPr id="70" name="" descr=""/>
          <p:cNvPicPr/>
          <p:nvPr/>
        </p:nvPicPr>
        <p:blipFill>
          <a:blip r:embed="rId2"/>
          <a:stretch/>
        </p:blipFill>
        <p:spPr>
          <a:xfrm>
            <a:off x="3765960" y="154440"/>
            <a:ext cx="3048840" cy="5423040"/>
          </a:xfrm>
          <a:prstGeom prst="rect">
            <a:avLst/>
          </a:prstGeom>
          <a:noFill/>
          <a:ln w="0">
            <a:noFill/>
          </a:ln>
        </p:spPr>
      </p:pic>
      <p:sp>
        <p:nvSpPr>
          <p:cNvPr id="2" name="PlaceHolder 1"/>
          <p:cNvSpPr>
            <a:spLocks noGrp="1"/>
          </p:cNvSpPr>
          <p:nvPr>
            <p:ph type="sldNum" idx="2"/>
          </p:nvPr>
        </p:nvSpPr>
        <p:spPr/>
        <p:txBody>
          <a:bodyPr/>
          <a:p>
            <a:fld id="{2BFE8306-EBBF-4BB8-B233-FE9F82A7DA26}" type="slidenum">
              <a:t>14</a:t>
            </a:fld>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1" name="PlaceHolder 1"/>
          <p:cNvSpPr>
            <a:spLocks noGrp="1"/>
          </p:cNvSpPr>
          <p:nvPr>
            <p:ph type="title"/>
          </p:nvPr>
        </p:nvSpPr>
        <p:spPr>
          <a:xfrm>
            <a:off x="4248360" y="223560"/>
            <a:ext cx="5649120" cy="676440"/>
          </a:xfrm>
          <a:prstGeom prst="rect">
            <a:avLst/>
          </a:prstGeom>
          <a:noFill/>
          <a:ln w="0">
            <a:noFill/>
          </a:ln>
        </p:spPr>
        <p:txBody>
          <a:bodyPr lIns="0" rIns="0" tIns="0" bIns="0" anchor="ctr">
            <a:spAutoFit/>
          </a:bodyPr>
          <a:p>
            <a:pPr indent="0" algn="ctr">
              <a:lnSpc>
                <a:spcPct val="100000"/>
              </a:lnSpc>
              <a:buNone/>
              <a:tabLst>
                <a:tab algn="l" pos="0"/>
              </a:tabLst>
            </a:pPr>
            <a:r>
              <a:rPr b="0" lang="en-US" sz="2600" strike="noStrike" u="none">
                <a:solidFill>
                  <a:srgbClr val="000000"/>
                </a:solidFill>
                <a:effectLst/>
                <a:uFillTx/>
                <a:latin typeface="Arial"/>
              </a:rPr>
              <a:t>Recurrent Neural Network (Analysis)</a:t>
            </a:r>
            <a:endParaRPr b="0" lang="en-AU" sz="2600" strike="noStrike" u="none">
              <a:solidFill>
                <a:srgbClr val="000000"/>
              </a:solidFill>
              <a:effectLst/>
              <a:uFillTx/>
              <a:latin typeface="Arial"/>
            </a:endParaRPr>
          </a:p>
        </p:txBody>
      </p:sp>
      <p:sp>
        <p:nvSpPr>
          <p:cNvPr id="72" name="PlaceHolder 2"/>
          <p:cNvSpPr>
            <a:spLocks noGrp="1"/>
          </p:cNvSpPr>
          <p:nvPr>
            <p:ph/>
          </p:nvPr>
        </p:nvSpPr>
        <p:spPr>
          <a:xfrm>
            <a:off x="3960000" y="1260000"/>
            <a:ext cx="5757480" cy="3957480"/>
          </a:xfrm>
          <a:prstGeom prst="rect">
            <a:avLst/>
          </a:prstGeom>
          <a:noFill/>
          <a:ln w="0">
            <a:noFill/>
          </a:ln>
        </p:spPr>
        <p:txBody>
          <a:bodyPr lIns="0" rIns="0" tIns="0" bIns="0" anchor="t">
            <a:normAutofit lnSpcReduction="9999"/>
          </a:bodyPr>
          <a:p>
            <a:pPr indent="0">
              <a:lnSpc>
                <a:spcPct val="100000"/>
              </a:lnSpc>
              <a:spcBef>
                <a:spcPts val="1417"/>
              </a:spcBef>
              <a:buNone/>
              <a:tabLst>
                <a:tab algn="l" pos="0"/>
              </a:tabLst>
            </a:pPr>
            <a:r>
              <a:rPr b="0" lang="en-US" sz="1200" strike="noStrike" u="none">
                <a:solidFill>
                  <a:srgbClr val="000000"/>
                </a:solidFill>
                <a:effectLst/>
                <a:uFillTx/>
                <a:latin typeface="Arial"/>
              </a:rPr>
              <a:t>🤔 How does it model KCs?</a:t>
            </a:r>
            <a:endParaRPr b="0" lang="en-AU" sz="1200" strike="noStrike" u="none">
              <a:solidFill>
                <a:srgbClr val="000000"/>
              </a:solidFill>
              <a:effectLst/>
              <a:uFillTx/>
              <a:latin typeface="Arial"/>
            </a:endParaRPr>
          </a:p>
          <a:p>
            <a:pPr marL="432000" indent="-324000">
              <a:lnSpc>
                <a:spcPct val="100000"/>
              </a:lnSpc>
              <a:spcBef>
                <a:spcPts val="1417"/>
              </a:spcBef>
              <a:buClr>
                <a:srgbClr val="000000"/>
              </a:buClr>
              <a:buSzPct val="45000"/>
              <a:buFont typeface="Wingdings" charset="2"/>
              <a:buChar char=""/>
              <a:tabLst>
                <a:tab algn="l" pos="0"/>
              </a:tabLst>
            </a:pPr>
            <a:r>
              <a:rPr b="1" lang="en-US" sz="1200" strike="noStrike" u="none">
                <a:solidFill>
                  <a:srgbClr val="000000"/>
                </a:solidFill>
                <a:effectLst/>
                <a:uFillTx/>
                <a:latin typeface="Arial"/>
              </a:rPr>
              <a:t>Implicitly</a:t>
            </a:r>
            <a:r>
              <a:rPr b="0" lang="en-US" sz="1200" strike="noStrike" u="none">
                <a:solidFill>
                  <a:srgbClr val="000000"/>
                </a:solidFill>
                <a:effectLst/>
                <a:uFillTx/>
                <a:latin typeface="Arial"/>
              </a:rPr>
              <a:t> through Question Embeddings.</a:t>
            </a:r>
            <a:endParaRPr b="0" lang="en-AU" sz="1200" strike="noStrike" u="none">
              <a:solidFill>
                <a:srgbClr val="000000"/>
              </a:solidFill>
              <a:effectLst/>
              <a:uFillTx/>
              <a:latin typeface="Arial"/>
            </a:endParaRPr>
          </a:p>
          <a:p>
            <a:pPr marL="432000" indent="-324000">
              <a:lnSpc>
                <a:spcPct val="100000"/>
              </a:lnSpc>
              <a:spcBef>
                <a:spcPts val="1417"/>
              </a:spcBef>
              <a:buClr>
                <a:srgbClr val="000000"/>
              </a:buClr>
              <a:buSzPct val="45000"/>
              <a:buFont typeface="Wingdings" charset="2"/>
              <a:buChar char=""/>
              <a:tabLst>
                <a:tab algn="l" pos="0"/>
              </a:tabLst>
            </a:pPr>
            <a:r>
              <a:rPr b="0" lang="en-US" sz="1200" strike="noStrike" u="none">
                <a:solidFill>
                  <a:srgbClr val="000000"/>
                </a:solidFill>
                <a:effectLst/>
                <a:uFillTx/>
                <a:latin typeface="Arial"/>
              </a:rPr>
              <a:t>Why implicit? We cannot identify individual KCs in the model.</a:t>
            </a:r>
            <a:endParaRPr b="0" lang="en-AU" sz="1200" strike="noStrike" u="none">
              <a:solidFill>
                <a:srgbClr val="000000"/>
              </a:solidFill>
              <a:effectLst/>
              <a:uFillTx/>
              <a:latin typeface="Arial"/>
            </a:endParaRPr>
          </a:p>
          <a:p>
            <a:pPr marL="432000" indent="-324000">
              <a:lnSpc>
                <a:spcPct val="100000"/>
              </a:lnSpc>
              <a:spcBef>
                <a:spcPts val="1417"/>
              </a:spcBef>
              <a:buClr>
                <a:srgbClr val="000000"/>
              </a:buClr>
              <a:buSzPct val="45000"/>
              <a:buFont typeface="Wingdings" charset="2"/>
              <a:buChar char=""/>
              <a:tabLst>
                <a:tab algn="l" pos="0"/>
              </a:tabLst>
            </a:pPr>
            <a:r>
              <a:rPr b="0" lang="en-US" sz="1200" strike="noStrike" u="none">
                <a:solidFill>
                  <a:srgbClr val="000000"/>
                </a:solidFill>
                <a:effectLst/>
                <a:uFillTx/>
                <a:latin typeface="Arial"/>
              </a:rPr>
              <a:t>Why modelled? Questions with similar KCs may lead to similar embeddings.</a:t>
            </a:r>
            <a:endParaRPr b="0" lang="en-AU" sz="1200" strike="noStrike" u="none">
              <a:solidFill>
                <a:srgbClr val="000000"/>
              </a:solidFill>
              <a:effectLst/>
              <a:uFillTx/>
              <a:latin typeface="Arial"/>
            </a:endParaRPr>
          </a:p>
          <a:p>
            <a:pPr indent="0">
              <a:lnSpc>
                <a:spcPct val="100000"/>
              </a:lnSpc>
              <a:spcBef>
                <a:spcPts val="1417"/>
              </a:spcBef>
              <a:buNone/>
              <a:tabLst>
                <a:tab algn="l" pos="0"/>
              </a:tabLst>
            </a:pPr>
            <a:r>
              <a:rPr b="0" lang="en-US" sz="1200" strike="noStrike" u="none">
                <a:solidFill>
                  <a:srgbClr val="000000"/>
                </a:solidFill>
                <a:effectLst/>
                <a:uFillTx/>
                <a:latin typeface="Arial"/>
              </a:rPr>
              <a:t>🤔 How does it model KC-KC relations?</a:t>
            </a:r>
            <a:endParaRPr b="0" lang="en-AU" sz="1200" strike="noStrike" u="none">
              <a:solidFill>
                <a:srgbClr val="000000"/>
              </a:solidFill>
              <a:effectLst/>
              <a:uFillTx/>
              <a:latin typeface="Arial"/>
            </a:endParaRPr>
          </a:p>
          <a:p>
            <a:pPr marL="432000" indent="-324000">
              <a:lnSpc>
                <a:spcPct val="100000"/>
              </a:lnSpc>
              <a:spcBef>
                <a:spcPts val="1417"/>
              </a:spcBef>
              <a:buClr>
                <a:srgbClr val="000000"/>
              </a:buClr>
              <a:buSzPct val="45000"/>
              <a:buFont typeface="Wingdings" charset="2"/>
              <a:buChar char=""/>
              <a:tabLst>
                <a:tab algn="l" pos="0"/>
              </a:tabLst>
            </a:pPr>
            <a:r>
              <a:rPr b="1" lang="en-US" sz="1200" strike="noStrike" u="none">
                <a:solidFill>
                  <a:srgbClr val="000000"/>
                </a:solidFill>
                <a:effectLst/>
                <a:uFillTx/>
                <a:latin typeface="Arial"/>
              </a:rPr>
              <a:t>Implicitly</a:t>
            </a:r>
            <a:r>
              <a:rPr b="0" lang="en-US" sz="1200" strike="noStrike" u="none">
                <a:solidFill>
                  <a:srgbClr val="000000"/>
                </a:solidFill>
                <a:effectLst/>
                <a:uFillTx/>
                <a:latin typeface="Arial"/>
              </a:rPr>
              <a:t> through Recurrent Weights</a:t>
            </a:r>
            <a:endParaRPr b="0" lang="en-AU" sz="1200" strike="noStrike" u="none">
              <a:solidFill>
                <a:srgbClr val="000000"/>
              </a:solidFill>
              <a:effectLst/>
              <a:uFillTx/>
              <a:latin typeface="Arial"/>
            </a:endParaRPr>
          </a:p>
          <a:p>
            <a:pPr indent="0">
              <a:lnSpc>
                <a:spcPct val="100000"/>
              </a:lnSpc>
              <a:spcBef>
                <a:spcPts val="1417"/>
              </a:spcBef>
              <a:buNone/>
              <a:tabLst>
                <a:tab algn="l" pos="0"/>
              </a:tabLst>
            </a:pPr>
            <a:r>
              <a:rPr b="0" lang="en-US" sz="1200" strike="noStrike" u="none">
                <a:solidFill>
                  <a:srgbClr val="000000"/>
                </a:solidFill>
                <a:effectLst/>
                <a:uFillTx/>
                <a:latin typeface="Arial"/>
              </a:rPr>
              <a:t>🤔 How does it model the learning of KCs?</a:t>
            </a:r>
            <a:endParaRPr b="0" lang="en-AU" sz="1200" strike="noStrike" u="none">
              <a:solidFill>
                <a:srgbClr val="000000"/>
              </a:solidFill>
              <a:effectLst/>
              <a:uFillTx/>
              <a:latin typeface="Arial"/>
            </a:endParaRPr>
          </a:p>
          <a:p>
            <a:pPr marL="432000" indent="-324000">
              <a:lnSpc>
                <a:spcPct val="100000"/>
              </a:lnSpc>
              <a:spcBef>
                <a:spcPts val="1191"/>
              </a:spcBef>
              <a:spcAft>
                <a:spcPts val="992"/>
              </a:spcAft>
              <a:buClr>
                <a:srgbClr val="000000"/>
              </a:buClr>
              <a:buSzPct val="45000"/>
              <a:buFont typeface="Wingdings" charset="2"/>
              <a:buChar char=""/>
              <a:tabLst>
                <a:tab algn="l" pos="0"/>
              </a:tabLst>
            </a:pPr>
            <a:r>
              <a:rPr b="1" lang="en-US" sz="1200" strike="noStrike" u="none">
                <a:solidFill>
                  <a:srgbClr val="000000"/>
                </a:solidFill>
                <a:effectLst/>
                <a:uFillTx/>
                <a:latin typeface="Arial"/>
              </a:rPr>
              <a:t>Implicitly</a:t>
            </a:r>
            <a:r>
              <a:rPr b="0" lang="en-US" sz="1200" strike="noStrike" u="none">
                <a:solidFill>
                  <a:srgbClr val="000000"/>
                </a:solidFill>
                <a:effectLst/>
                <a:uFillTx/>
                <a:latin typeface="Arial"/>
              </a:rPr>
              <a:t> through the Input &amp; Update Gates in the RNN</a:t>
            </a:r>
            <a:endParaRPr b="0" lang="en-AU" sz="1200" strike="noStrike" u="none">
              <a:solidFill>
                <a:srgbClr val="000000"/>
              </a:solidFill>
              <a:effectLst/>
              <a:uFillTx/>
              <a:latin typeface="Arial"/>
            </a:endParaRPr>
          </a:p>
          <a:p>
            <a:pPr indent="0">
              <a:lnSpc>
                <a:spcPct val="100000"/>
              </a:lnSpc>
              <a:spcBef>
                <a:spcPts val="1417"/>
              </a:spcBef>
              <a:buNone/>
              <a:tabLst>
                <a:tab algn="l" pos="0"/>
              </a:tabLst>
            </a:pPr>
            <a:r>
              <a:rPr b="0" lang="en-US" sz="1200" strike="noStrike" u="none">
                <a:solidFill>
                  <a:srgbClr val="000000"/>
                </a:solidFill>
                <a:effectLst/>
                <a:uFillTx/>
                <a:latin typeface="Arial"/>
              </a:rPr>
              <a:t>🤔 How does it model the forgetting of KCs?</a:t>
            </a:r>
            <a:endParaRPr b="0" lang="en-AU" sz="1200" strike="noStrike" u="none">
              <a:solidFill>
                <a:srgbClr val="000000"/>
              </a:solidFill>
              <a:effectLst/>
              <a:uFillTx/>
              <a:latin typeface="Arial"/>
            </a:endParaRPr>
          </a:p>
          <a:p>
            <a:pPr marL="432000" indent="-324000">
              <a:lnSpc>
                <a:spcPct val="100000"/>
              </a:lnSpc>
              <a:spcBef>
                <a:spcPts val="1191"/>
              </a:spcBef>
              <a:spcAft>
                <a:spcPts val="992"/>
              </a:spcAft>
              <a:buClr>
                <a:srgbClr val="000000"/>
              </a:buClr>
              <a:buSzPct val="45000"/>
              <a:buFont typeface="Wingdings" charset="2"/>
              <a:buChar char=""/>
              <a:tabLst>
                <a:tab algn="l" pos="0"/>
              </a:tabLst>
            </a:pPr>
            <a:r>
              <a:rPr b="1" lang="en-US" sz="1200" strike="noStrike" u="none">
                <a:solidFill>
                  <a:srgbClr val="000000"/>
                </a:solidFill>
                <a:effectLst/>
                <a:uFillTx/>
                <a:latin typeface="Arial"/>
              </a:rPr>
              <a:t>Implicitly</a:t>
            </a:r>
            <a:r>
              <a:rPr b="0" lang="en-US" sz="1200" strike="noStrike" u="none">
                <a:solidFill>
                  <a:srgbClr val="000000"/>
                </a:solidFill>
                <a:effectLst/>
                <a:uFillTx/>
                <a:latin typeface="Arial"/>
              </a:rPr>
              <a:t> through the Forget Gate in the RNN</a:t>
            </a:r>
            <a:endParaRPr b="0" lang="en-AU" sz="1200" strike="noStrike" u="none">
              <a:solidFill>
                <a:srgbClr val="000000"/>
              </a:solidFill>
              <a:effectLst/>
              <a:uFillTx/>
              <a:latin typeface="Arial"/>
            </a:endParaRPr>
          </a:p>
          <a:p>
            <a:pPr indent="0">
              <a:lnSpc>
                <a:spcPct val="100000"/>
              </a:lnSpc>
              <a:spcBef>
                <a:spcPts val="1417"/>
              </a:spcBef>
              <a:buNone/>
              <a:tabLst>
                <a:tab algn="l" pos="0"/>
              </a:tabLst>
            </a:pPr>
            <a:r>
              <a:rPr b="0" lang="en-US" sz="1200" strike="noStrike" u="none">
                <a:solidFill>
                  <a:srgbClr val="000000"/>
                </a:solidFill>
                <a:effectLst/>
                <a:uFillTx/>
                <a:latin typeface="Arial"/>
              </a:rPr>
              <a:t>🤔 How does it model the student’s knowledge state?</a:t>
            </a:r>
            <a:endParaRPr b="0" lang="en-AU" sz="1200" strike="noStrike" u="none">
              <a:solidFill>
                <a:srgbClr val="000000"/>
              </a:solidFill>
              <a:effectLst/>
              <a:uFillTx/>
              <a:latin typeface="Arial"/>
            </a:endParaRPr>
          </a:p>
          <a:p>
            <a:pPr marL="432000" indent="-324000">
              <a:lnSpc>
                <a:spcPct val="100000"/>
              </a:lnSpc>
              <a:spcBef>
                <a:spcPts val="1417"/>
              </a:spcBef>
              <a:buClr>
                <a:srgbClr val="000000"/>
              </a:buClr>
              <a:buSzPct val="45000"/>
              <a:buFont typeface="Wingdings" charset="2"/>
              <a:buChar char=""/>
              <a:tabLst>
                <a:tab algn="l" pos="0"/>
              </a:tabLst>
            </a:pPr>
            <a:r>
              <a:rPr b="1" lang="en-US" sz="1200" strike="noStrike" u="none">
                <a:solidFill>
                  <a:srgbClr val="000000"/>
                </a:solidFill>
                <a:effectLst/>
                <a:uFillTx/>
                <a:latin typeface="Arial"/>
              </a:rPr>
              <a:t>Explicitly</a:t>
            </a:r>
            <a:r>
              <a:rPr b="0" lang="en-US" sz="1200" strike="noStrike" u="none">
                <a:solidFill>
                  <a:srgbClr val="000000"/>
                </a:solidFill>
                <a:effectLst/>
                <a:uFillTx/>
                <a:latin typeface="Arial"/>
              </a:rPr>
              <a:t> through a hidden state vector(s)</a:t>
            </a:r>
            <a:endParaRPr b="0" lang="en-AU" sz="1200" strike="noStrike" u="none">
              <a:solidFill>
                <a:srgbClr val="000000"/>
              </a:solidFill>
              <a:effectLst/>
              <a:uFillTx/>
              <a:latin typeface="Arial"/>
            </a:endParaRPr>
          </a:p>
        </p:txBody>
      </p:sp>
      <p:pic>
        <p:nvPicPr>
          <p:cNvPr id="73" name="" descr=""/>
          <p:cNvPicPr/>
          <p:nvPr/>
        </p:nvPicPr>
        <p:blipFill>
          <a:blip r:embed="rId1"/>
          <a:stretch/>
        </p:blipFill>
        <p:spPr>
          <a:xfrm>
            <a:off x="540000" y="360000"/>
            <a:ext cx="2905560" cy="4482360"/>
          </a:xfrm>
          <a:prstGeom prst="rect">
            <a:avLst/>
          </a:prstGeom>
          <a:noFill/>
          <a:ln w="0">
            <a:noFill/>
          </a:ln>
        </p:spPr>
      </p:pic>
      <p:sp>
        <p:nvSpPr>
          <p:cNvPr id="4" name="PlaceHolder 3"/>
          <p:cNvSpPr>
            <a:spLocks noGrp="1"/>
          </p:cNvSpPr>
          <p:nvPr>
            <p:ph type="sldNum" idx="2"/>
          </p:nvPr>
        </p:nvSpPr>
        <p:spPr/>
        <p:txBody>
          <a:bodyPr/>
          <a:p>
            <a:fld id="{15C4B29C-258D-4A4D-9DF6-A4F78E2F585A}" type="slidenum">
              <a:t>15</a:t>
            </a:fld>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4" name="PlaceHolder 1"/>
          <p:cNvSpPr>
            <a:spLocks noGrp="1"/>
          </p:cNvSpPr>
          <p:nvPr>
            <p:ph type="title"/>
          </p:nvPr>
        </p:nvSpPr>
        <p:spPr>
          <a:xfrm>
            <a:off x="504000" y="223560"/>
            <a:ext cx="9069120" cy="948960"/>
          </a:xfrm>
          <a:prstGeom prst="rect">
            <a:avLst/>
          </a:prstGeom>
          <a:noFill/>
          <a:ln w="0">
            <a:noFill/>
          </a:ln>
        </p:spPr>
        <p:txBody>
          <a:bodyPr lIns="0" rIns="0" tIns="0" bIns="0" anchor="ctr">
            <a:spAutoFit/>
          </a:bodyPr>
          <a:p>
            <a:pPr indent="0" algn="ctr">
              <a:lnSpc>
                <a:spcPct val="100000"/>
              </a:lnSpc>
              <a:buNone/>
              <a:tabLst>
                <a:tab algn="l" pos="0"/>
              </a:tabLst>
            </a:pPr>
            <a:r>
              <a:rPr b="0" lang="en-US" sz="4000" strike="noStrike" u="none">
                <a:solidFill>
                  <a:srgbClr val="000000"/>
                </a:solidFill>
                <a:effectLst/>
                <a:uFillTx/>
                <a:latin typeface="Arial"/>
              </a:rPr>
              <a:t>Model Architectures Visited So Far</a:t>
            </a:r>
            <a:endParaRPr b="0" lang="en-AU" sz="4000" strike="noStrike" u="none">
              <a:solidFill>
                <a:srgbClr val="000000"/>
              </a:solidFill>
              <a:effectLst/>
              <a:uFillTx/>
              <a:latin typeface="Arial"/>
            </a:endParaRPr>
          </a:p>
        </p:txBody>
      </p:sp>
      <p:graphicFrame>
        <p:nvGraphicFramePr>
          <p:cNvPr id="75" name=""/>
          <p:cNvGraphicFramePr/>
          <p:nvPr/>
        </p:nvGraphicFramePr>
        <p:xfrm>
          <a:off x="413280" y="1927080"/>
          <a:ext cx="9032040" cy="2303640"/>
        </p:xfrm>
        <a:graphic>
          <a:graphicData uri="http://schemas.openxmlformats.org/drawingml/2006/table">
            <a:tbl>
              <a:tblPr/>
              <a:tblGrid>
                <a:gridCol w="1505520"/>
                <a:gridCol w="1505520"/>
                <a:gridCol w="1505520"/>
                <a:gridCol w="1510560"/>
                <a:gridCol w="1500480"/>
                <a:gridCol w="1504800"/>
              </a:tblGrid>
              <a:tr h="346320">
                <a:tc>
                  <a:txBody>
                    <a:bodyPr lIns="36000" rIns="36000" tIns="36000" bIns="36000" anchor="t">
                      <a:noAutofit/>
                    </a:bodyPr>
                    <a:p>
                      <a:pPr algn="ctr">
                        <a:lnSpc>
                          <a:spcPct val="100000"/>
                        </a:lnSpc>
                        <a:tabLst>
                          <a:tab algn="l" pos="0"/>
                        </a:tabLst>
                      </a:pPr>
                      <a:r>
                        <a:rPr b="0" lang="en-US" sz="1300" strike="noStrike" u="none">
                          <a:solidFill>
                            <a:srgbClr val="000000"/>
                          </a:solidFill>
                          <a:effectLst/>
                          <a:uFillTx/>
                          <a:latin typeface="Arial"/>
                        </a:rPr>
                        <a:t>Architecture</a:t>
                      </a:r>
                      <a:endParaRPr b="0" lang="en-AU" sz="1300" strike="noStrike" u="non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tabLst>
                          <a:tab algn="l" pos="0"/>
                        </a:tabLst>
                      </a:pPr>
                      <a:r>
                        <a:rPr b="0" lang="en-US" sz="1300" strike="noStrike" u="none">
                          <a:solidFill>
                            <a:srgbClr val="000000"/>
                          </a:solidFill>
                          <a:effectLst/>
                          <a:uFillTx/>
                          <a:latin typeface="Arial"/>
                        </a:rPr>
                        <a:t>KCs</a:t>
                      </a:r>
                      <a:endParaRPr b="0" lang="en-AU" sz="1300" strike="noStrike" u="non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tabLst>
                          <a:tab algn="l" pos="0"/>
                        </a:tabLst>
                      </a:pPr>
                      <a:r>
                        <a:rPr b="0" lang="en-US" sz="1300" strike="noStrike" u="none">
                          <a:solidFill>
                            <a:srgbClr val="000000"/>
                          </a:solidFill>
                          <a:effectLst/>
                          <a:uFillTx/>
                          <a:latin typeface="Arial"/>
                        </a:rPr>
                        <a:t>KC-KC Relations</a:t>
                      </a:r>
                      <a:endParaRPr b="0" lang="en-AU" sz="1300" strike="noStrike" u="non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tabLst>
                          <a:tab algn="l" pos="0"/>
                        </a:tabLst>
                      </a:pPr>
                      <a:r>
                        <a:rPr b="0" lang="en-US" sz="1300" strike="noStrike" u="none">
                          <a:solidFill>
                            <a:srgbClr val="000000"/>
                          </a:solidFill>
                          <a:effectLst/>
                          <a:uFillTx/>
                          <a:latin typeface="Arial"/>
                        </a:rPr>
                        <a:t>Leaning of KCs</a:t>
                      </a:r>
                      <a:endParaRPr b="0" lang="en-AU" sz="1300" strike="noStrike" u="non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tabLst>
                          <a:tab algn="l" pos="0"/>
                        </a:tabLst>
                      </a:pPr>
                      <a:r>
                        <a:rPr b="0" lang="en-US" sz="1300" strike="noStrike" u="none">
                          <a:solidFill>
                            <a:srgbClr val="000000"/>
                          </a:solidFill>
                          <a:effectLst/>
                          <a:uFillTx/>
                          <a:latin typeface="Arial"/>
                        </a:rPr>
                        <a:t>Time-Based Forgetting of KCs</a:t>
                      </a:r>
                      <a:endParaRPr b="0" lang="en-AU" sz="1300" strike="noStrike" u="non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tabLst>
                          <a:tab algn="l" pos="0"/>
                        </a:tabLst>
                      </a:pPr>
                      <a:r>
                        <a:rPr b="0" lang="en-US" sz="1300" strike="noStrike" u="none">
                          <a:solidFill>
                            <a:srgbClr val="000000"/>
                          </a:solidFill>
                          <a:effectLst/>
                          <a:uFillTx/>
                          <a:latin typeface="Arial"/>
                        </a:rPr>
                        <a:t>Student’s Knowledge State</a:t>
                      </a:r>
                      <a:endParaRPr b="0" lang="en-AU" sz="1300" strike="noStrike" u="non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r h="698040">
                <a:tc>
                  <a:txBody>
                    <a:bodyPr lIns="36000" rIns="36000" tIns="36000" bIns="36000" anchor="t">
                      <a:noAutofit/>
                    </a:bodyPr>
                    <a:p>
                      <a:pPr algn="ctr">
                        <a:lnSpc>
                          <a:spcPct val="100000"/>
                        </a:lnSpc>
                        <a:tabLst>
                          <a:tab algn="l" pos="0"/>
                        </a:tabLst>
                      </a:pPr>
                      <a:r>
                        <a:rPr b="0" lang="en-US" sz="1300" strike="noStrike" u="none">
                          <a:solidFill>
                            <a:srgbClr val="000000"/>
                          </a:solidFill>
                          <a:effectLst/>
                          <a:uFillTx/>
                          <a:latin typeface="Arial"/>
                        </a:rPr>
                        <a:t>Graph Neural Network</a:t>
                      </a:r>
                      <a:endParaRPr b="0" lang="en-AU" sz="1300" strike="noStrike" u="non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tabLst>
                          <a:tab algn="l" pos="0"/>
                        </a:tabLst>
                      </a:pPr>
                      <a:r>
                        <a:rPr b="1" lang="en-US" sz="1300" strike="noStrike" u="none">
                          <a:solidFill>
                            <a:srgbClr val="000000"/>
                          </a:solidFill>
                          <a:effectLst/>
                          <a:uFillTx/>
                          <a:latin typeface="Arial"/>
                        </a:rPr>
                        <a:t>Explicit</a:t>
                      </a:r>
                      <a:r>
                        <a:rPr b="0" lang="en-US" sz="1300" strike="noStrike" u="none">
                          <a:solidFill>
                            <a:srgbClr val="000000"/>
                          </a:solidFill>
                          <a:effectLst/>
                          <a:uFillTx/>
                          <a:latin typeface="Arial"/>
                        </a:rPr>
                        <a:t> as Nodes</a:t>
                      </a:r>
                      <a:endParaRPr b="0" lang="en-AU" sz="1300" strike="noStrike" u="non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tabLst>
                          <a:tab algn="l" pos="0"/>
                        </a:tabLst>
                      </a:pPr>
                      <a:r>
                        <a:rPr b="1" lang="en-US" sz="1300" strike="noStrike" u="none">
                          <a:solidFill>
                            <a:srgbClr val="000000"/>
                          </a:solidFill>
                          <a:effectLst/>
                          <a:uFillTx/>
                          <a:latin typeface="Arial"/>
                        </a:rPr>
                        <a:t>Explicit</a:t>
                      </a:r>
                      <a:r>
                        <a:rPr b="0" lang="en-US" sz="1300" strike="noStrike" u="none">
                          <a:solidFill>
                            <a:srgbClr val="000000"/>
                          </a:solidFill>
                          <a:effectLst/>
                          <a:uFillTx/>
                          <a:latin typeface="Arial"/>
                        </a:rPr>
                        <a:t> as Edges</a:t>
                      </a:r>
                      <a:endParaRPr b="0" lang="en-AU" sz="1300" strike="noStrike" u="non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tabLst>
                          <a:tab algn="l" pos="0"/>
                        </a:tabLst>
                      </a:pPr>
                      <a:r>
                        <a:rPr b="1" lang="en-US" sz="1300" strike="noStrike" u="none">
                          <a:solidFill>
                            <a:srgbClr val="000000"/>
                          </a:solidFill>
                          <a:effectLst/>
                          <a:uFillTx/>
                          <a:latin typeface="Arial"/>
                        </a:rPr>
                        <a:t>Explicit</a:t>
                      </a:r>
                      <a:r>
                        <a:rPr b="0" lang="en-US" sz="1300" strike="noStrike" u="none">
                          <a:solidFill>
                            <a:srgbClr val="000000"/>
                          </a:solidFill>
                          <a:effectLst/>
                          <a:uFillTx/>
                          <a:latin typeface="Arial"/>
                        </a:rPr>
                        <a:t> via node update + message passing</a:t>
                      </a:r>
                      <a:endParaRPr b="0" lang="en-AU" sz="1300" strike="noStrike" u="non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tabLst>
                          <a:tab algn="l" pos="0"/>
                        </a:tabLst>
                      </a:pPr>
                      <a:r>
                        <a:rPr b="1" lang="en-US" sz="1300" strike="noStrike" u="none">
                          <a:solidFill>
                            <a:srgbClr val="000000"/>
                          </a:solidFill>
                          <a:effectLst/>
                          <a:uFillTx/>
                          <a:latin typeface="Arial"/>
                        </a:rPr>
                        <a:t>Explicit</a:t>
                      </a:r>
                      <a:r>
                        <a:rPr b="0" lang="en-US" sz="1300" strike="noStrike" u="none">
                          <a:solidFill>
                            <a:srgbClr val="000000"/>
                          </a:solidFill>
                          <a:effectLst/>
                          <a:uFillTx/>
                          <a:latin typeface="Arial"/>
                        </a:rPr>
                        <a:t> via Forgetting Functions</a:t>
                      </a:r>
                      <a:endParaRPr b="0" lang="en-AU" sz="1300" strike="noStrike" u="non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tabLst>
                          <a:tab algn="l" pos="0"/>
                        </a:tabLst>
                      </a:pPr>
                      <a:r>
                        <a:rPr b="1" lang="en-US" sz="1300" strike="noStrike" u="none">
                          <a:solidFill>
                            <a:srgbClr val="000000"/>
                          </a:solidFill>
                          <a:effectLst/>
                          <a:uFillTx/>
                          <a:latin typeface="Arial"/>
                        </a:rPr>
                        <a:t>Explicit</a:t>
                      </a:r>
                      <a:r>
                        <a:rPr b="0" lang="en-US" sz="1300" strike="noStrike" u="none">
                          <a:solidFill>
                            <a:srgbClr val="000000"/>
                          </a:solidFill>
                          <a:effectLst/>
                          <a:uFillTx/>
                          <a:latin typeface="Arial"/>
                        </a:rPr>
                        <a:t> as a Graph</a:t>
                      </a:r>
                      <a:endParaRPr b="0" lang="en-AU" sz="1300" strike="noStrike" u="non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r h="346320">
                <a:tc>
                  <a:txBody>
                    <a:bodyPr lIns="36000" rIns="36000" tIns="36000" bIns="36000" anchor="t">
                      <a:noAutofit/>
                    </a:bodyPr>
                    <a:p>
                      <a:pPr algn="ctr">
                        <a:lnSpc>
                          <a:spcPct val="100000"/>
                        </a:lnSpc>
                        <a:tabLst>
                          <a:tab algn="l" pos="0"/>
                        </a:tabLst>
                      </a:pPr>
                      <a:r>
                        <a:rPr b="0" lang="en-US" sz="1300" strike="noStrike" u="none">
                          <a:solidFill>
                            <a:srgbClr val="000000"/>
                          </a:solidFill>
                          <a:effectLst/>
                          <a:uFillTx/>
                          <a:latin typeface="Arial"/>
                        </a:rPr>
                        <a:t>Key-Value Memory Network</a:t>
                      </a:r>
                      <a:endParaRPr b="0" lang="en-AU" sz="1300" strike="noStrike" u="non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tabLst>
                          <a:tab algn="l" pos="0"/>
                        </a:tabLst>
                      </a:pPr>
                      <a:r>
                        <a:rPr b="1" lang="en-US" sz="1300" strike="noStrike" u="none">
                          <a:solidFill>
                            <a:srgbClr val="000000"/>
                          </a:solidFill>
                          <a:effectLst/>
                          <a:uFillTx/>
                          <a:latin typeface="Arial"/>
                        </a:rPr>
                        <a:t>Explicit</a:t>
                      </a:r>
                      <a:r>
                        <a:rPr b="0" lang="en-US" sz="1300" strike="noStrike" u="none">
                          <a:solidFill>
                            <a:srgbClr val="000000"/>
                          </a:solidFill>
                          <a:effectLst/>
                          <a:uFillTx/>
                          <a:latin typeface="Arial"/>
                        </a:rPr>
                        <a:t> as Keys</a:t>
                      </a:r>
                      <a:endParaRPr b="0" lang="en-AU" sz="1300" strike="noStrike" u="non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tabLst>
                          <a:tab algn="l" pos="0"/>
                        </a:tabLst>
                      </a:pPr>
                      <a:r>
                        <a:rPr b="0" lang="en-US" sz="1300" strike="noStrike" u="none">
                          <a:solidFill>
                            <a:srgbClr val="000000"/>
                          </a:solidFill>
                          <a:effectLst/>
                          <a:uFillTx/>
                          <a:latin typeface="Arial"/>
                        </a:rPr>
                        <a:t>---------</a:t>
                      </a:r>
                      <a:endParaRPr b="0" lang="en-AU" sz="1300" strike="noStrike" u="non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tabLst>
                          <a:tab algn="l" pos="0"/>
                        </a:tabLst>
                      </a:pPr>
                      <a:r>
                        <a:rPr b="1" lang="en-US" sz="1300" strike="noStrike" u="none">
                          <a:solidFill>
                            <a:srgbClr val="000000"/>
                          </a:solidFill>
                          <a:effectLst/>
                          <a:uFillTx/>
                          <a:latin typeface="Arial"/>
                        </a:rPr>
                        <a:t>Explicit</a:t>
                      </a:r>
                      <a:r>
                        <a:rPr b="0" lang="en-US" sz="1300" strike="noStrike" u="none">
                          <a:solidFill>
                            <a:srgbClr val="000000"/>
                          </a:solidFill>
                          <a:effectLst/>
                          <a:uFillTx/>
                          <a:latin typeface="Arial"/>
                        </a:rPr>
                        <a:t> via erase-add update</a:t>
                      </a:r>
                      <a:endParaRPr b="0" lang="en-AU" sz="1300" strike="noStrike" u="non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tabLst>
                          <a:tab algn="l" pos="0"/>
                        </a:tabLst>
                      </a:pPr>
                      <a:r>
                        <a:rPr b="0" lang="en-US" sz="1300" strike="noStrike" u="none">
                          <a:solidFill>
                            <a:srgbClr val="000000"/>
                          </a:solidFill>
                          <a:effectLst/>
                          <a:uFillTx/>
                          <a:latin typeface="Arial"/>
                        </a:rPr>
                        <a:t>---------</a:t>
                      </a:r>
                      <a:endParaRPr b="0" lang="en-AU" sz="1300" strike="noStrike" u="non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tabLst>
                          <a:tab algn="l" pos="0"/>
                        </a:tabLst>
                      </a:pPr>
                      <a:r>
                        <a:rPr b="1" lang="en-US" sz="1300" strike="noStrike" u="none">
                          <a:solidFill>
                            <a:srgbClr val="000000"/>
                          </a:solidFill>
                          <a:effectLst/>
                          <a:uFillTx/>
                          <a:latin typeface="Arial"/>
                        </a:rPr>
                        <a:t>Explicit</a:t>
                      </a:r>
                      <a:r>
                        <a:rPr b="0" lang="en-US" sz="1300" strike="noStrike" u="none">
                          <a:solidFill>
                            <a:srgbClr val="000000"/>
                          </a:solidFill>
                          <a:effectLst/>
                          <a:uFillTx/>
                          <a:latin typeface="Arial"/>
                        </a:rPr>
                        <a:t> as a Key-Value Table</a:t>
                      </a:r>
                      <a:endParaRPr b="0" lang="en-AU" sz="1300" strike="noStrike" u="non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r h="346320">
                <a:tc>
                  <a:txBody>
                    <a:bodyPr lIns="36000" rIns="36000" tIns="36000" bIns="36000" anchor="t">
                      <a:noAutofit/>
                    </a:bodyPr>
                    <a:p>
                      <a:pPr algn="ctr">
                        <a:lnSpc>
                          <a:spcPct val="100000"/>
                        </a:lnSpc>
                        <a:tabLst>
                          <a:tab algn="l" pos="0"/>
                        </a:tabLst>
                      </a:pPr>
                      <a:r>
                        <a:rPr b="0" lang="en-US" sz="1300" strike="noStrike" u="none">
                          <a:solidFill>
                            <a:srgbClr val="000000"/>
                          </a:solidFill>
                          <a:effectLst/>
                          <a:uFillTx/>
                          <a:latin typeface="Arial"/>
                        </a:rPr>
                        <a:t>Recurrent Neural Network</a:t>
                      </a:r>
                      <a:endParaRPr b="0" lang="en-AU" sz="1300" strike="noStrike" u="non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tabLst>
                          <a:tab algn="l" pos="0"/>
                        </a:tabLst>
                      </a:pPr>
                      <a:r>
                        <a:rPr b="1" lang="en-US" sz="1300" strike="noStrike" u="none">
                          <a:solidFill>
                            <a:srgbClr val="000000"/>
                          </a:solidFill>
                          <a:effectLst/>
                          <a:uFillTx/>
                          <a:latin typeface="Arial"/>
                        </a:rPr>
                        <a:t>Implicit</a:t>
                      </a:r>
                      <a:r>
                        <a:rPr b="0" lang="en-US" sz="1300" strike="noStrike" u="none">
                          <a:solidFill>
                            <a:srgbClr val="000000"/>
                          </a:solidFill>
                          <a:effectLst/>
                          <a:uFillTx/>
                          <a:latin typeface="Arial"/>
                        </a:rPr>
                        <a:t> through Question Embedding</a:t>
                      </a:r>
                      <a:endParaRPr b="0" lang="en-AU" sz="1300" strike="noStrike" u="non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tabLst>
                          <a:tab algn="l" pos="0"/>
                        </a:tabLst>
                      </a:pPr>
                      <a:r>
                        <a:rPr b="1" lang="en-US" sz="1300" strike="noStrike" u="none">
                          <a:solidFill>
                            <a:srgbClr val="000000"/>
                          </a:solidFill>
                          <a:effectLst/>
                          <a:uFillTx/>
                          <a:latin typeface="Arial"/>
                        </a:rPr>
                        <a:t>Implicit</a:t>
                      </a:r>
                      <a:r>
                        <a:rPr b="0" lang="en-US" sz="1300" strike="noStrike" u="none">
                          <a:solidFill>
                            <a:srgbClr val="000000"/>
                          </a:solidFill>
                          <a:effectLst/>
                          <a:uFillTx/>
                          <a:latin typeface="Arial"/>
                        </a:rPr>
                        <a:t> through Recurrent Weights</a:t>
                      </a:r>
                      <a:endParaRPr b="0" lang="en-AU" sz="1300" strike="noStrike" u="non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spcBef>
                          <a:spcPts val="1191"/>
                        </a:spcBef>
                        <a:spcAft>
                          <a:spcPts val="992"/>
                        </a:spcAft>
                        <a:tabLst>
                          <a:tab algn="l" pos="0"/>
                        </a:tabLst>
                      </a:pPr>
                      <a:r>
                        <a:rPr b="1" lang="en-US" sz="1300" strike="noStrike" u="none">
                          <a:solidFill>
                            <a:srgbClr val="000000"/>
                          </a:solidFill>
                          <a:effectLst/>
                          <a:uFillTx/>
                          <a:latin typeface="Arial"/>
                        </a:rPr>
                        <a:t>Implicit</a:t>
                      </a:r>
                      <a:r>
                        <a:rPr b="0" lang="en-US" sz="1300" strike="noStrike" u="none">
                          <a:solidFill>
                            <a:srgbClr val="000000"/>
                          </a:solidFill>
                          <a:effectLst/>
                          <a:uFillTx/>
                          <a:latin typeface="Arial"/>
                        </a:rPr>
                        <a:t> through the Input &amp; Update Gates</a:t>
                      </a:r>
                      <a:endParaRPr b="0" lang="en-AU" sz="1300" strike="noStrike" u="non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spcBef>
                          <a:spcPts val="1191"/>
                        </a:spcBef>
                        <a:spcAft>
                          <a:spcPts val="992"/>
                        </a:spcAft>
                        <a:tabLst>
                          <a:tab algn="l" pos="0"/>
                        </a:tabLst>
                      </a:pPr>
                      <a:r>
                        <a:rPr b="1" lang="en-US" sz="1300" strike="noStrike" u="none">
                          <a:solidFill>
                            <a:srgbClr val="000000"/>
                          </a:solidFill>
                          <a:effectLst/>
                          <a:uFillTx/>
                          <a:latin typeface="Arial"/>
                        </a:rPr>
                        <a:t>Implicit</a:t>
                      </a:r>
                      <a:r>
                        <a:rPr b="0" lang="en-US" sz="1300" strike="noStrike" u="none">
                          <a:solidFill>
                            <a:srgbClr val="000000"/>
                          </a:solidFill>
                          <a:effectLst/>
                          <a:uFillTx/>
                          <a:latin typeface="Arial"/>
                        </a:rPr>
                        <a:t> through the Forget Gate</a:t>
                      </a:r>
                      <a:endParaRPr b="0" lang="en-AU" sz="1300" strike="noStrike" u="non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spcBef>
                          <a:spcPts val="1417"/>
                        </a:spcBef>
                        <a:tabLst>
                          <a:tab algn="l" pos="0"/>
                        </a:tabLst>
                      </a:pPr>
                      <a:r>
                        <a:rPr b="1" lang="en-US" sz="1300" strike="noStrike" u="none">
                          <a:solidFill>
                            <a:srgbClr val="000000"/>
                          </a:solidFill>
                          <a:effectLst/>
                          <a:uFillTx/>
                          <a:latin typeface="Arial"/>
                        </a:rPr>
                        <a:t>Explicit</a:t>
                      </a:r>
                      <a:r>
                        <a:rPr b="0" lang="en-US" sz="1300" strike="noStrike" u="none">
                          <a:solidFill>
                            <a:srgbClr val="000000"/>
                          </a:solidFill>
                          <a:effectLst/>
                          <a:uFillTx/>
                          <a:latin typeface="Arial"/>
                        </a:rPr>
                        <a:t> as a hidden state vector(s)</a:t>
                      </a:r>
                      <a:endParaRPr b="0" lang="en-AU" sz="1300" strike="noStrike" u="non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bl>
          </a:graphicData>
        </a:graphic>
      </p:graphicFrame>
      <p:sp>
        <p:nvSpPr>
          <p:cNvPr id="3" name="PlaceHolder 2"/>
          <p:cNvSpPr>
            <a:spLocks noGrp="1"/>
          </p:cNvSpPr>
          <p:nvPr>
            <p:ph type="sldNum" idx="2"/>
          </p:nvPr>
        </p:nvSpPr>
        <p:spPr/>
        <p:txBody>
          <a:bodyPr/>
          <a:p>
            <a:fld id="{E78E2EB5-2A67-4B48-ACD4-D129A65A7D70}" type="slidenum">
              <a:t>16</a:t>
            </a:fld>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76" name="" descr=""/>
          <p:cNvPicPr/>
          <p:nvPr/>
        </p:nvPicPr>
        <p:blipFill>
          <a:blip r:embed="rId1"/>
          <a:stretch/>
        </p:blipFill>
        <p:spPr>
          <a:xfrm>
            <a:off x="260280" y="181800"/>
            <a:ext cx="5833080" cy="3595680"/>
          </a:xfrm>
          <a:prstGeom prst="rect">
            <a:avLst/>
          </a:prstGeom>
          <a:noFill/>
          <a:ln w="0">
            <a:noFill/>
          </a:ln>
        </p:spPr>
      </p:pic>
      <p:pic>
        <p:nvPicPr>
          <p:cNvPr id="77" name="" descr=""/>
          <p:cNvPicPr/>
          <p:nvPr/>
        </p:nvPicPr>
        <p:blipFill>
          <a:blip r:embed="rId2"/>
          <a:stretch/>
        </p:blipFill>
        <p:spPr>
          <a:xfrm>
            <a:off x="5580000" y="2958840"/>
            <a:ext cx="4317480" cy="2427480"/>
          </a:xfrm>
          <a:prstGeom prst="rect">
            <a:avLst/>
          </a:prstGeom>
          <a:noFill/>
          <a:ln w="0">
            <a:noFill/>
          </a:ln>
        </p:spPr>
      </p:pic>
      <p:sp>
        <p:nvSpPr>
          <p:cNvPr id="78" name=""/>
          <p:cNvSpPr/>
          <p:nvPr/>
        </p:nvSpPr>
        <p:spPr>
          <a:xfrm>
            <a:off x="6480000" y="479520"/>
            <a:ext cx="3057480" cy="2476800"/>
          </a:xfrm>
          <a:prstGeom prst="rect">
            <a:avLst/>
          </a:prstGeom>
          <a:noFill/>
          <a:ln w="0">
            <a:noFill/>
          </a:ln>
        </p:spPr>
        <p:style>
          <a:lnRef idx="0"/>
          <a:fillRef idx="0"/>
          <a:effectRef idx="0"/>
          <a:fontRef idx="minor"/>
        </p:style>
        <p:txBody>
          <a:bodyPr lIns="90000" rIns="90000" tIns="45000" bIns="45000" anchor="t">
            <a:spAutoFit/>
          </a:bodyPr>
          <a:p>
            <a:pPr marL="216000" indent="-216000">
              <a:lnSpc>
                <a:spcPct val="100000"/>
              </a:lnSpc>
              <a:buClr>
                <a:srgbClr val="000000"/>
              </a:buClr>
              <a:buSzPct val="45000"/>
              <a:buFont typeface="Wingdings" charset="2"/>
              <a:buChar char=""/>
            </a:pPr>
            <a:r>
              <a:rPr b="1" lang="en-US" sz="1200" strike="noStrike" u="none">
                <a:solidFill>
                  <a:srgbClr val="000000"/>
                </a:solidFill>
                <a:effectLst/>
                <a:uFillTx/>
                <a:latin typeface="Arial"/>
                <a:ea typeface="DejaVu Sans"/>
              </a:rPr>
              <a:t>s</a:t>
            </a:r>
            <a:r>
              <a:rPr b="0" lang="en-US" sz="1200" strike="noStrike" u="none">
                <a:solidFill>
                  <a:srgbClr val="000000"/>
                </a:solidFill>
                <a:effectLst/>
                <a:uFillTx/>
                <a:latin typeface="Arial"/>
                <a:ea typeface="DejaVu Sans"/>
              </a:rPr>
              <a:t>: similarity score between two embeddings</a:t>
            </a:r>
            <a:endParaRPr b="0" lang="en-AU" sz="1200" strike="noStrike" u="none">
              <a:solidFill>
                <a:srgbClr val="000000"/>
              </a:solidFill>
              <a:effectLst/>
              <a:uFillTx/>
              <a:latin typeface="Arial"/>
            </a:endParaRPr>
          </a:p>
          <a:p>
            <a:pPr>
              <a:lnSpc>
                <a:spcPct val="100000"/>
              </a:lnSpc>
            </a:pPr>
            <a:endParaRPr b="0" lang="en-AU" sz="1200" strike="noStrike" u="none">
              <a:solidFill>
                <a:srgbClr val="000000"/>
              </a:solidFill>
              <a:effectLst/>
              <a:uFillTx/>
              <a:latin typeface="Arial"/>
            </a:endParaRPr>
          </a:p>
          <a:p>
            <a:pPr marL="216000" indent="-216000">
              <a:lnSpc>
                <a:spcPct val="100000"/>
              </a:lnSpc>
              <a:buClr>
                <a:srgbClr val="000000"/>
              </a:buClr>
              <a:buSzPct val="45000"/>
              <a:buFont typeface="Wingdings" charset="2"/>
              <a:buChar char=""/>
            </a:pPr>
            <a:r>
              <a:rPr b="1" lang="en-US" sz="1200" strike="noStrike" u="none">
                <a:solidFill>
                  <a:srgbClr val="000000"/>
                </a:solidFill>
                <a:effectLst/>
                <a:uFillTx/>
                <a:latin typeface="Arial"/>
                <a:ea typeface="DejaVu Sans"/>
              </a:rPr>
              <a:t>b(Δt)</a:t>
            </a:r>
            <a:r>
              <a:rPr b="0" lang="en-US" sz="1200" strike="noStrike" u="none">
                <a:solidFill>
                  <a:srgbClr val="000000"/>
                </a:solidFill>
                <a:effectLst/>
                <a:uFillTx/>
                <a:latin typeface="Arial"/>
                <a:ea typeface="DejaVu Sans"/>
              </a:rPr>
              <a:t>: forgetting function</a:t>
            </a:r>
            <a:endParaRPr b="0" lang="en-AU" sz="1200" strike="noStrike" u="none">
              <a:solidFill>
                <a:srgbClr val="000000"/>
              </a:solidFill>
              <a:effectLst/>
              <a:uFillTx/>
              <a:latin typeface="Arial"/>
            </a:endParaRPr>
          </a:p>
          <a:p>
            <a:pPr>
              <a:lnSpc>
                <a:spcPct val="100000"/>
              </a:lnSpc>
            </a:pPr>
            <a:endParaRPr b="0" lang="en-AU" sz="1200" strike="noStrike" u="none">
              <a:solidFill>
                <a:srgbClr val="000000"/>
              </a:solidFill>
              <a:effectLst/>
              <a:uFillTx/>
              <a:latin typeface="Arial"/>
            </a:endParaRPr>
          </a:p>
          <a:p>
            <a:pPr marL="216000" indent="-216000">
              <a:lnSpc>
                <a:spcPct val="100000"/>
              </a:lnSpc>
              <a:buClr>
                <a:srgbClr val="000000"/>
              </a:buClr>
              <a:buSzPct val="45000"/>
              <a:buFont typeface="Wingdings" charset="2"/>
              <a:buChar char=""/>
            </a:pPr>
            <a:r>
              <a:rPr b="1" lang="en-US" sz="1200" strike="noStrike" u="none">
                <a:solidFill>
                  <a:srgbClr val="000000"/>
                </a:solidFill>
                <a:effectLst/>
                <a:uFillTx/>
                <a:latin typeface="Arial"/>
                <a:ea typeface="DejaVu Sans"/>
              </a:rPr>
              <a:t>α</a:t>
            </a:r>
            <a:r>
              <a:rPr b="0" lang="en-US" sz="1200" strike="noStrike" u="none">
                <a:solidFill>
                  <a:srgbClr val="000000"/>
                </a:solidFill>
                <a:effectLst/>
                <a:uFillTx/>
                <a:latin typeface="Arial"/>
                <a:ea typeface="DejaVu Sans"/>
              </a:rPr>
              <a:t>: attention weights</a:t>
            </a:r>
            <a:endParaRPr b="0" lang="en-AU" sz="1200" strike="noStrike" u="none">
              <a:solidFill>
                <a:srgbClr val="000000"/>
              </a:solidFill>
              <a:effectLst/>
              <a:uFillTx/>
              <a:latin typeface="Arial"/>
            </a:endParaRPr>
          </a:p>
          <a:p>
            <a:pPr>
              <a:lnSpc>
                <a:spcPct val="100000"/>
              </a:lnSpc>
            </a:pPr>
            <a:endParaRPr b="0" lang="en-AU" sz="1200" strike="noStrike" u="none">
              <a:solidFill>
                <a:srgbClr val="000000"/>
              </a:solidFill>
              <a:effectLst/>
              <a:uFillTx/>
              <a:latin typeface="Arial"/>
            </a:endParaRPr>
          </a:p>
          <a:p>
            <a:pPr marL="216000" indent="-216000">
              <a:lnSpc>
                <a:spcPct val="100000"/>
              </a:lnSpc>
              <a:buClr>
                <a:srgbClr val="000000"/>
              </a:buClr>
              <a:buSzPct val="45000"/>
              <a:buFont typeface="Wingdings" charset="2"/>
              <a:buChar char=""/>
            </a:pPr>
            <a:r>
              <a:rPr b="1" lang="en-US" sz="1200" strike="noStrike" u="none">
                <a:solidFill>
                  <a:srgbClr val="000000"/>
                </a:solidFill>
                <a:effectLst/>
                <a:uFillTx/>
                <a:latin typeface="Arial"/>
                <a:ea typeface="Noto Sans CJK SC"/>
              </a:rPr>
              <a:t>h</a:t>
            </a:r>
            <a:r>
              <a:rPr b="0" lang="en-US" sz="1200" strike="noStrike" u="none">
                <a:solidFill>
                  <a:srgbClr val="000000"/>
                </a:solidFill>
                <a:effectLst/>
                <a:uFillTx/>
                <a:latin typeface="Arial"/>
                <a:ea typeface="Noto Sans CJK SC"/>
              </a:rPr>
              <a:t>: query-conditioned student’s knowledge state</a:t>
            </a:r>
            <a:endParaRPr b="0" lang="en-AU" sz="1200" strike="noStrike" u="none">
              <a:solidFill>
                <a:srgbClr val="000000"/>
              </a:solidFill>
              <a:effectLst/>
              <a:uFillTx/>
              <a:latin typeface="Arial"/>
            </a:endParaRPr>
          </a:p>
          <a:p>
            <a:pPr>
              <a:lnSpc>
                <a:spcPct val="100000"/>
              </a:lnSpc>
            </a:pPr>
            <a:endParaRPr b="0" lang="en-AU" sz="1200" strike="noStrike" u="none">
              <a:solidFill>
                <a:srgbClr val="000000"/>
              </a:solidFill>
              <a:effectLst/>
              <a:uFillTx/>
              <a:latin typeface="Arial"/>
            </a:endParaRPr>
          </a:p>
          <a:p>
            <a:pPr marL="216000" indent="-216000">
              <a:lnSpc>
                <a:spcPct val="100000"/>
              </a:lnSpc>
              <a:buClr>
                <a:srgbClr val="000000"/>
              </a:buClr>
              <a:buSzPct val="45000"/>
              <a:buFont typeface="Wingdings" charset="2"/>
              <a:buChar char=""/>
            </a:pPr>
            <a:r>
              <a:rPr b="1" lang="en-US" sz="1200" strike="noStrike" u="none">
                <a:solidFill>
                  <a:srgbClr val="000000"/>
                </a:solidFill>
                <a:effectLst/>
                <a:uFillTx/>
                <a:latin typeface="Arial"/>
                <a:ea typeface="Noto Sans CJK SC"/>
              </a:rPr>
              <a:t>h4</a:t>
            </a:r>
            <a:r>
              <a:rPr b="0" lang="en-US" sz="1200" strike="noStrike" u="none">
                <a:solidFill>
                  <a:srgbClr val="000000"/>
                </a:solidFill>
                <a:effectLst/>
                <a:uFillTx/>
                <a:latin typeface="Arial"/>
                <a:ea typeface="Noto Sans CJK SC"/>
              </a:rPr>
              <a:t>: the student’s knowledge state for answering q1 at t = 4, given their history [(q1,right) (q3,wrong) (q2,right)]</a:t>
            </a:r>
            <a:endParaRPr b="0" lang="en-AU" sz="1200" strike="noStrike" u="none">
              <a:solidFill>
                <a:srgbClr val="000000"/>
              </a:solidFill>
              <a:effectLst/>
              <a:uFillTx/>
              <a:latin typeface="Arial"/>
            </a:endParaRPr>
          </a:p>
          <a:p>
            <a:pPr>
              <a:lnSpc>
                <a:spcPct val="100000"/>
              </a:lnSpc>
            </a:pPr>
            <a:endParaRPr b="0" lang="en-AU" sz="1200" strike="noStrike" u="none">
              <a:solidFill>
                <a:srgbClr val="000000"/>
              </a:solidFill>
              <a:effectLst/>
              <a:uFillTx/>
              <a:latin typeface="Arial"/>
            </a:endParaRPr>
          </a:p>
        </p:txBody>
      </p:sp>
      <p:sp>
        <p:nvSpPr>
          <p:cNvPr id="79" name=""/>
          <p:cNvSpPr/>
          <p:nvPr/>
        </p:nvSpPr>
        <p:spPr>
          <a:xfrm>
            <a:off x="900000" y="3240000"/>
            <a:ext cx="2337480" cy="465840"/>
          </a:xfrm>
          <a:prstGeom prst="rect">
            <a:avLst/>
          </a:prstGeom>
          <a:noFill/>
          <a:ln w="0">
            <a:noFill/>
          </a:ln>
        </p:spPr>
        <p:style>
          <a:lnRef idx="0"/>
          <a:fillRef idx="0"/>
          <a:effectRef idx="0"/>
          <a:fontRef idx="minor"/>
        </p:style>
        <p:txBody>
          <a:bodyPr lIns="90000" rIns="90000" tIns="45000" bIns="45000" anchor="t" anchorCtr="1">
            <a:spAutoFit/>
          </a:bodyPr>
          <a:p>
            <a:pPr algn="ctr">
              <a:lnSpc>
                <a:spcPct val="100000"/>
              </a:lnSpc>
            </a:pPr>
            <a:r>
              <a:rPr b="0" lang="en-US" sz="2600" strike="noStrike" u="none">
                <a:solidFill>
                  <a:srgbClr val="000000"/>
                </a:solidFill>
                <a:effectLst/>
                <a:uFillTx/>
                <a:latin typeface="Arial"/>
                <a:ea typeface="DejaVu Sans"/>
              </a:rPr>
              <a:t>Transformer</a:t>
            </a:r>
            <a:endParaRPr b="0" lang="en-AU" sz="2600" strike="noStrike" u="none">
              <a:solidFill>
                <a:srgbClr val="000000"/>
              </a:solidFill>
              <a:effectLst/>
              <a:uFillTx/>
              <a:latin typeface="Arial"/>
            </a:endParaRPr>
          </a:p>
        </p:txBody>
      </p:sp>
      <p:sp>
        <p:nvSpPr>
          <p:cNvPr id="80" name=""/>
          <p:cNvSpPr/>
          <p:nvPr/>
        </p:nvSpPr>
        <p:spPr>
          <a:xfrm>
            <a:off x="202680" y="4122360"/>
            <a:ext cx="5014800" cy="1194120"/>
          </a:xfrm>
          <a:prstGeom prst="rect">
            <a:avLst/>
          </a:prstGeom>
          <a:noFill/>
          <a:ln w="36000">
            <a:solidFill>
              <a:srgbClr val="5b277d"/>
            </a:solidFill>
            <a:prstDash val="sysDot"/>
            <a:round/>
          </a:ln>
        </p:spPr>
        <p:style>
          <a:lnRef idx="0"/>
          <a:fillRef idx="0"/>
          <a:effectRef idx="0"/>
          <a:fontRef idx="minor"/>
        </p:style>
        <p:txBody>
          <a:bodyPr lIns="108000" rIns="108000" tIns="63000" bIns="63000" anchor="t">
            <a:spAutoFit/>
          </a:bodyPr>
          <a:p>
            <a:pPr>
              <a:lnSpc>
                <a:spcPct val="100000"/>
              </a:lnSpc>
            </a:pPr>
            <a:r>
              <a:rPr b="1" i="1" lang="en-US" sz="1000" strike="noStrike" u="none">
                <a:solidFill>
                  <a:srgbClr val="000000"/>
                </a:solidFill>
                <a:effectLst/>
                <a:uFillTx/>
                <a:latin typeface="Arial"/>
                <a:ea typeface="DejaVu Sans"/>
              </a:rPr>
              <a:t>Encoder Only (As Above)</a:t>
            </a:r>
            <a:r>
              <a:rPr b="0" i="1" lang="en-US" sz="1000" strike="noStrike" u="none">
                <a:solidFill>
                  <a:srgbClr val="000000"/>
                </a:solidFill>
                <a:effectLst/>
                <a:uFillTx/>
                <a:latin typeface="Arial"/>
                <a:ea typeface="DejaVu Sans"/>
              </a:rPr>
              <a:t> -- Aritra Ghosh, Neil Heffernan, and Andrew S. Lan. 2020. Context-aware attentive knowledge tracing. In SIGKDD.</a:t>
            </a:r>
            <a:endParaRPr b="0" lang="en-AU" sz="1000" strike="noStrike" u="none">
              <a:solidFill>
                <a:srgbClr val="000000"/>
              </a:solidFill>
              <a:effectLst/>
              <a:uFillTx/>
              <a:latin typeface="Arial"/>
            </a:endParaRPr>
          </a:p>
          <a:p>
            <a:pPr>
              <a:lnSpc>
                <a:spcPct val="100000"/>
              </a:lnSpc>
            </a:pPr>
            <a:r>
              <a:rPr b="0" i="1" lang="en-US" sz="1000" strike="noStrike" u="none">
                <a:solidFill>
                  <a:srgbClr val="000000"/>
                </a:solidFill>
                <a:effectLst/>
                <a:uFillTx/>
                <a:latin typeface="Arial"/>
                <a:ea typeface="DejaVu Sans"/>
              </a:rPr>
              <a:t>2330–2339.</a:t>
            </a:r>
            <a:endParaRPr b="0" lang="en-AU" sz="1000" strike="noStrike" u="none">
              <a:solidFill>
                <a:srgbClr val="000000"/>
              </a:solidFill>
              <a:effectLst/>
              <a:uFillTx/>
              <a:latin typeface="Arial"/>
            </a:endParaRPr>
          </a:p>
          <a:p>
            <a:pPr>
              <a:lnSpc>
                <a:spcPct val="100000"/>
              </a:lnSpc>
            </a:pPr>
            <a:endParaRPr b="0" lang="en-AU" sz="1000" strike="noStrike" u="none">
              <a:solidFill>
                <a:srgbClr val="000000"/>
              </a:solidFill>
              <a:effectLst/>
              <a:uFillTx/>
              <a:latin typeface="Arial"/>
            </a:endParaRPr>
          </a:p>
          <a:p>
            <a:pPr>
              <a:lnSpc>
                <a:spcPct val="100000"/>
              </a:lnSpc>
            </a:pPr>
            <a:r>
              <a:rPr b="1" i="1" lang="en-US" sz="1000" strike="noStrike" u="none">
                <a:solidFill>
                  <a:srgbClr val="000000"/>
                </a:solidFill>
                <a:effectLst/>
                <a:uFillTx/>
                <a:latin typeface="Arial"/>
                <a:ea typeface="DejaVu Sans"/>
              </a:rPr>
              <a:t>Encoder-Decoder (Not Discussed Here)</a:t>
            </a:r>
            <a:r>
              <a:rPr b="0" i="1" lang="en-US" sz="1000" strike="noStrike" u="none">
                <a:solidFill>
                  <a:srgbClr val="000000"/>
                </a:solidFill>
                <a:effectLst/>
                <a:uFillTx/>
                <a:latin typeface="Arial"/>
                <a:ea typeface="DejaVu Sans"/>
              </a:rPr>
              <a:t> -- Dongmin Shin, Yugeun Shim, Hangyeol Yu, Seewoo Lee, Byungsoo Kim, and Youngduck Choi. 2021. SAINT+: Inte-</a:t>
            </a:r>
            <a:endParaRPr b="0" lang="en-AU" sz="1000" strike="noStrike" u="none">
              <a:solidFill>
                <a:srgbClr val="000000"/>
              </a:solidFill>
              <a:effectLst/>
              <a:uFillTx/>
              <a:latin typeface="Arial"/>
            </a:endParaRPr>
          </a:p>
          <a:p>
            <a:pPr>
              <a:lnSpc>
                <a:spcPct val="100000"/>
              </a:lnSpc>
            </a:pPr>
            <a:r>
              <a:rPr b="0" i="1" lang="en-US" sz="1000" strike="noStrike" u="none">
                <a:solidFill>
                  <a:srgbClr val="000000"/>
                </a:solidFill>
                <a:effectLst/>
                <a:uFillTx/>
                <a:latin typeface="Arial"/>
                <a:ea typeface="DejaVu Sans"/>
              </a:rPr>
              <a:t>grating temporal features for EdNet correctness prediction. In LAK. 490–496.</a:t>
            </a:r>
            <a:endParaRPr b="0" lang="en-AU" sz="1000" strike="noStrike" u="none">
              <a:solidFill>
                <a:srgbClr val="000000"/>
              </a:solidFill>
              <a:effectLst/>
              <a:uFillTx/>
              <a:latin typeface="Arial"/>
            </a:endParaRPr>
          </a:p>
        </p:txBody>
      </p:sp>
      <p:sp>
        <p:nvSpPr>
          <p:cNvPr id="2" name="PlaceHolder 1"/>
          <p:cNvSpPr>
            <a:spLocks noGrp="1"/>
          </p:cNvSpPr>
          <p:nvPr>
            <p:ph type="sldNum" idx="2"/>
          </p:nvPr>
        </p:nvSpPr>
        <p:spPr/>
        <p:txBody>
          <a:bodyPr/>
          <a:p>
            <a:fld id="{B34C4437-4F72-43D7-BC2B-43D26F4D90FD}" type="slidenum">
              <a:t>17</a:t>
            </a:fld>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81" name="" descr=""/>
          <p:cNvPicPr/>
          <p:nvPr/>
        </p:nvPicPr>
        <p:blipFill>
          <a:blip r:embed="rId1"/>
          <a:stretch/>
        </p:blipFill>
        <p:spPr>
          <a:xfrm>
            <a:off x="284400" y="1440000"/>
            <a:ext cx="5113080" cy="3151800"/>
          </a:xfrm>
          <a:prstGeom prst="rect">
            <a:avLst/>
          </a:prstGeom>
          <a:noFill/>
          <a:ln w="0">
            <a:noFill/>
          </a:ln>
        </p:spPr>
      </p:pic>
      <p:sp>
        <p:nvSpPr>
          <p:cNvPr id="82" name="PlaceHolder 1"/>
          <p:cNvSpPr>
            <a:spLocks noGrp="1"/>
          </p:cNvSpPr>
          <p:nvPr>
            <p:ph type="title"/>
          </p:nvPr>
        </p:nvSpPr>
        <p:spPr>
          <a:xfrm>
            <a:off x="720000" y="357480"/>
            <a:ext cx="3957480" cy="676440"/>
          </a:xfrm>
          <a:prstGeom prst="rect">
            <a:avLst/>
          </a:prstGeom>
          <a:noFill/>
          <a:ln w="0">
            <a:noFill/>
          </a:ln>
        </p:spPr>
        <p:txBody>
          <a:bodyPr lIns="0" rIns="0" tIns="0" bIns="0" anchor="ctr">
            <a:spAutoFit/>
          </a:bodyPr>
          <a:p>
            <a:pPr indent="0" algn="ctr">
              <a:lnSpc>
                <a:spcPct val="100000"/>
              </a:lnSpc>
              <a:buNone/>
              <a:tabLst>
                <a:tab algn="l" pos="0"/>
              </a:tabLst>
            </a:pPr>
            <a:r>
              <a:rPr b="0" lang="en-US" sz="2600" strike="noStrike" u="none">
                <a:solidFill>
                  <a:srgbClr val="000000"/>
                </a:solidFill>
                <a:effectLst/>
                <a:uFillTx/>
                <a:latin typeface="Arial"/>
              </a:rPr>
              <a:t>Transformer (Analysis)</a:t>
            </a:r>
            <a:endParaRPr b="0" lang="en-AU" sz="2600" strike="noStrike" u="none">
              <a:solidFill>
                <a:srgbClr val="000000"/>
              </a:solidFill>
              <a:effectLst/>
              <a:uFillTx/>
              <a:latin typeface="Arial"/>
            </a:endParaRPr>
          </a:p>
        </p:txBody>
      </p:sp>
      <p:sp>
        <p:nvSpPr>
          <p:cNvPr id="83" name="PlaceHolder 2"/>
          <p:cNvSpPr>
            <a:spLocks noGrp="1"/>
          </p:cNvSpPr>
          <p:nvPr>
            <p:ph/>
          </p:nvPr>
        </p:nvSpPr>
        <p:spPr>
          <a:xfrm>
            <a:off x="5580000" y="720000"/>
            <a:ext cx="4137480" cy="4497480"/>
          </a:xfrm>
          <a:prstGeom prst="rect">
            <a:avLst/>
          </a:prstGeom>
          <a:noFill/>
          <a:ln w="0">
            <a:noFill/>
          </a:ln>
        </p:spPr>
        <p:txBody>
          <a:bodyPr lIns="0" rIns="0" tIns="0" bIns="0" anchor="t">
            <a:normAutofit fontScale="85000" lnSpcReduction="19999"/>
          </a:bodyPr>
          <a:p>
            <a:pPr indent="0">
              <a:lnSpc>
                <a:spcPct val="100000"/>
              </a:lnSpc>
              <a:spcBef>
                <a:spcPts val="1417"/>
              </a:spcBef>
              <a:buNone/>
              <a:tabLst>
                <a:tab algn="l" pos="0"/>
              </a:tabLst>
            </a:pPr>
            <a:r>
              <a:rPr b="0" lang="en-US" sz="1400" strike="noStrike" u="none">
                <a:solidFill>
                  <a:srgbClr val="000000"/>
                </a:solidFill>
                <a:effectLst/>
                <a:uFillTx/>
                <a:latin typeface="Arial"/>
              </a:rPr>
              <a:t>🤔 How does it model KCs?</a:t>
            </a:r>
            <a:endParaRPr b="0" lang="en-AU" sz="1400" strike="noStrike" u="none">
              <a:solidFill>
                <a:srgbClr val="000000"/>
              </a:solidFill>
              <a:effectLst/>
              <a:uFillTx/>
              <a:latin typeface="Arial"/>
            </a:endParaRPr>
          </a:p>
          <a:p>
            <a:pPr marL="432000" indent="-324000">
              <a:lnSpc>
                <a:spcPct val="100000"/>
              </a:lnSpc>
              <a:spcBef>
                <a:spcPts val="1417"/>
              </a:spcBef>
              <a:buClr>
                <a:srgbClr val="000000"/>
              </a:buClr>
              <a:buSzPct val="45000"/>
              <a:buFont typeface="Wingdings" charset="2"/>
              <a:buChar char=""/>
              <a:tabLst>
                <a:tab algn="l" pos="0"/>
              </a:tabLst>
            </a:pPr>
            <a:r>
              <a:rPr b="1" lang="en-US" sz="1400" strike="noStrike" u="none">
                <a:solidFill>
                  <a:srgbClr val="000000"/>
                </a:solidFill>
                <a:effectLst/>
                <a:uFillTx/>
                <a:latin typeface="Arial"/>
              </a:rPr>
              <a:t>Implicitly</a:t>
            </a:r>
            <a:r>
              <a:rPr b="0" lang="en-US" sz="1400" strike="noStrike" u="none">
                <a:solidFill>
                  <a:srgbClr val="000000"/>
                </a:solidFill>
                <a:effectLst/>
                <a:uFillTx/>
                <a:latin typeface="Arial"/>
              </a:rPr>
              <a:t> through embeddings</a:t>
            </a:r>
            <a:endParaRPr b="0" lang="en-AU" sz="1400" strike="noStrike" u="none">
              <a:solidFill>
                <a:srgbClr val="000000"/>
              </a:solidFill>
              <a:effectLst/>
              <a:uFillTx/>
              <a:latin typeface="Arial"/>
            </a:endParaRPr>
          </a:p>
          <a:p>
            <a:pPr indent="0">
              <a:lnSpc>
                <a:spcPct val="100000"/>
              </a:lnSpc>
              <a:spcBef>
                <a:spcPts val="1417"/>
              </a:spcBef>
              <a:buNone/>
              <a:tabLst>
                <a:tab algn="l" pos="0"/>
              </a:tabLst>
            </a:pPr>
            <a:r>
              <a:rPr b="0" lang="en-US" sz="1400" strike="noStrike" u="none">
                <a:solidFill>
                  <a:srgbClr val="000000"/>
                </a:solidFill>
                <a:effectLst/>
                <a:uFillTx/>
                <a:latin typeface="Arial"/>
              </a:rPr>
              <a:t>🤔 How does it model KC-KC relations?</a:t>
            </a:r>
            <a:endParaRPr b="0" lang="en-AU" sz="1400" strike="noStrike" u="none">
              <a:solidFill>
                <a:srgbClr val="000000"/>
              </a:solidFill>
              <a:effectLst/>
              <a:uFillTx/>
              <a:latin typeface="Arial"/>
            </a:endParaRPr>
          </a:p>
          <a:p>
            <a:pPr marL="432000" indent="-324000">
              <a:lnSpc>
                <a:spcPct val="100000"/>
              </a:lnSpc>
              <a:spcBef>
                <a:spcPts val="1417"/>
              </a:spcBef>
              <a:buClr>
                <a:srgbClr val="000000"/>
              </a:buClr>
              <a:buSzPct val="45000"/>
              <a:buFont typeface="Wingdings" charset="2"/>
              <a:buChar char=""/>
              <a:tabLst>
                <a:tab algn="l" pos="0"/>
              </a:tabLst>
            </a:pPr>
            <a:r>
              <a:rPr b="1" lang="en-US" sz="1400" strike="noStrike" u="none">
                <a:solidFill>
                  <a:srgbClr val="000000"/>
                </a:solidFill>
                <a:effectLst/>
                <a:uFillTx/>
                <a:latin typeface="Arial"/>
              </a:rPr>
              <a:t>Implicitly</a:t>
            </a:r>
            <a:r>
              <a:rPr b="0" lang="en-US" sz="1400" strike="noStrike" u="none">
                <a:solidFill>
                  <a:srgbClr val="000000"/>
                </a:solidFill>
                <a:effectLst/>
                <a:uFillTx/>
                <a:latin typeface="Arial"/>
              </a:rPr>
              <a:t> through attention weights</a:t>
            </a:r>
            <a:endParaRPr b="0" lang="en-AU" sz="1400" strike="noStrike" u="none">
              <a:solidFill>
                <a:srgbClr val="000000"/>
              </a:solidFill>
              <a:effectLst/>
              <a:uFillTx/>
              <a:latin typeface="Arial"/>
            </a:endParaRPr>
          </a:p>
          <a:p>
            <a:pPr marL="432000" indent="-324000">
              <a:lnSpc>
                <a:spcPct val="100000"/>
              </a:lnSpc>
              <a:spcBef>
                <a:spcPts val="1417"/>
              </a:spcBef>
              <a:buClr>
                <a:srgbClr val="000000"/>
              </a:buClr>
              <a:buSzPct val="45000"/>
              <a:buFont typeface="Wingdings" charset="2"/>
              <a:buChar char=""/>
              <a:tabLst>
                <a:tab algn="l" pos="0"/>
              </a:tabLst>
            </a:pPr>
            <a:r>
              <a:rPr b="0" lang="en-US" sz="1400" strike="noStrike" u="none">
                <a:solidFill>
                  <a:srgbClr val="000000"/>
                </a:solidFill>
                <a:effectLst/>
                <a:uFillTx/>
                <a:latin typeface="Arial"/>
              </a:rPr>
              <a:t>Historical questions with hidden KCs relevant to the KCs in the query question may be attended more.</a:t>
            </a:r>
            <a:endParaRPr b="0" lang="en-AU" sz="1400" strike="noStrike" u="none">
              <a:solidFill>
                <a:srgbClr val="000000"/>
              </a:solidFill>
              <a:effectLst/>
              <a:uFillTx/>
              <a:latin typeface="Arial"/>
            </a:endParaRPr>
          </a:p>
          <a:p>
            <a:pPr indent="0">
              <a:lnSpc>
                <a:spcPct val="100000"/>
              </a:lnSpc>
              <a:spcBef>
                <a:spcPts val="1417"/>
              </a:spcBef>
              <a:buNone/>
              <a:tabLst>
                <a:tab algn="l" pos="0"/>
              </a:tabLst>
            </a:pPr>
            <a:r>
              <a:rPr b="0" lang="en-US" sz="1400" strike="noStrike" u="none">
                <a:solidFill>
                  <a:srgbClr val="000000"/>
                </a:solidFill>
                <a:effectLst/>
                <a:uFillTx/>
                <a:latin typeface="Arial"/>
              </a:rPr>
              <a:t>🤔 How does it model the learning of KCs?</a:t>
            </a:r>
            <a:endParaRPr b="0" lang="en-AU" sz="1400" strike="noStrike" u="none">
              <a:solidFill>
                <a:srgbClr val="000000"/>
              </a:solidFill>
              <a:effectLst/>
              <a:uFillTx/>
              <a:latin typeface="Arial"/>
            </a:endParaRPr>
          </a:p>
          <a:p>
            <a:pPr marL="432000" indent="-324000">
              <a:lnSpc>
                <a:spcPct val="100000"/>
              </a:lnSpc>
              <a:spcBef>
                <a:spcPts val="1191"/>
              </a:spcBef>
              <a:spcAft>
                <a:spcPts val="992"/>
              </a:spcAft>
              <a:buClr>
                <a:srgbClr val="000000"/>
              </a:buClr>
              <a:buSzPct val="45000"/>
              <a:buFont typeface="Wingdings" charset="2"/>
              <a:buChar char=""/>
              <a:tabLst>
                <a:tab algn="l" pos="0"/>
              </a:tabLst>
            </a:pPr>
            <a:r>
              <a:rPr b="1" lang="en-US" sz="1400" strike="noStrike" u="none">
                <a:solidFill>
                  <a:srgbClr val="000000"/>
                </a:solidFill>
                <a:effectLst/>
                <a:uFillTx/>
                <a:latin typeface="Arial"/>
              </a:rPr>
              <a:t>Implicitly</a:t>
            </a:r>
            <a:r>
              <a:rPr b="0" lang="en-US" sz="1400" strike="noStrike" u="none">
                <a:solidFill>
                  <a:srgbClr val="000000"/>
                </a:solidFill>
                <a:effectLst/>
                <a:uFillTx/>
                <a:latin typeface="Arial"/>
              </a:rPr>
              <a:t> through attention mechanism.</a:t>
            </a:r>
            <a:endParaRPr b="0" lang="en-AU" sz="1400" strike="noStrike" u="none">
              <a:solidFill>
                <a:srgbClr val="000000"/>
              </a:solidFill>
              <a:effectLst/>
              <a:uFillTx/>
              <a:latin typeface="Arial"/>
            </a:endParaRPr>
          </a:p>
          <a:p>
            <a:pPr marL="432000" indent="-324000">
              <a:lnSpc>
                <a:spcPct val="100000"/>
              </a:lnSpc>
              <a:spcBef>
                <a:spcPts val="1191"/>
              </a:spcBef>
              <a:spcAft>
                <a:spcPts val="992"/>
              </a:spcAft>
              <a:buClr>
                <a:srgbClr val="000000"/>
              </a:buClr>
              <a:buSzPct val="45000"/>
              <a:buFont typeface="Wingdings" charset="2"/>
              <a:buChar char=""/>
              <a:tabLst>
                <a:tab algn="l" pos="0"/>
              </a:tabLst>
            </a:pPr>
            <a:r>
              <a:rPr b="0" lang="en-US" sz="1400" strike="noStrike" u="none">
                <a:solidFill>
                  <a:srgbClr val="000000"/>
                </a:solidFill>
                <a:effectLst/>
                <a:uFillTx/>
                <a:latin typeface="Arial"/>
              </a:rPr>
              <a:t>How much information each past interaction contributes to the next prediction?</a:t>
            </a:r>
            <a:endParaRPr b="0" lang="en-AU" sz="1400" strike="noStrike" u="none">
              <a:solidFill>
                <a:srgbClr val="000000"/>
              </a:solidFill>
              <a:effectLst/>
              <a:uFillTx/>
              <a:latin typeface="Arial"/>
            </a:endParaRPr>
          </a:p>
          <a:p>
            <a:pPr indent="0">
              <a:lnSpc>
                <a:spcPct val="100000"/>
              </a:lnSpc>
              <a:spcBef>
                <a:spcPts val="1417"/>
              </a:spcBef>
              <a:buNone/>
              <a:tabLst>
                <a:tab algn="l" pos="0"/>
              </a:tabLst>
            </a:pPr>
            <a:r>
              <a:rPr b="0" lang="en-US" sz="1400" strike="noStrike" u="none">
                <a:solidFill>
                  <a:srgbClr val="000000"/>
                </a:solidFill>
                <a:effectLst/>
                <a:uFillTx/>
                <a:latin typeface="Arial"/>
              </a:rPr>
              <a:t>🤔 How does it model the forgetting of KCs?</a:t>
            </a:r>
            <a:endParaRPr b="0" lang="en-AU" sz="1400" strike="noStrike" u="none">
              <a:solidFill>
                <a:srgbClr val="000000"/>
              </a:solidFill>
              <a:effectLst/>
              <a:uFillTx/>
              <a:latin typeface="Arial"/>
            </a:endParaRPr>
          </a:p>
          <a:p>
            <a:pPr marL="432000" indent="-324000">
              <a:lnSpc>
                <a:spcPct val="100000"/>
              </a:lnSpc>
              <a:spcBef>
                <a:spcPts val="1191"/>
              </a:spcBef>
              <a:spcAft>
                <a:spcPts val="992"/>
              </a:spcAft>
              <a:buClr>
                <a:srgbClr val="000000"/>
              </a:buClr>
              <a:buSzPct val="45000"/>
              <a:buFont typeface="Wingdings" charset="2"/>
              <a:buChar char=""/>
              <a:tabLst>
                <a:tab algn="l" pos="0"/>
              </a:tabLst>
            </a:pPr>
            <a:r>
              <a:rPr b="1" lang="en-US" sz="1400" strike="noStrike" u="none">
                <a:solidFill>
                  <a:srgbClr val="000000"/>
                </a:solidFill>
                <a:effectLst/>
                <a:uFillTx/>
                <a:latin typeface="Arial"/>
              </a:rPr>
              <a:t>Explicitly</a:t>
            </a:r>
            <a:r>
              <a:rPr b="0" lang="en-US" sz="1400" strike="noStrike" u="none">
                <a:solidFill>
                  <a:srgbClr val="000000"/>
                </a:solidFill>
                <a:effectLst/>
                <a:uFillTx/>
                <a:latin typeface="Arial"/>
              </a:rPr>
              <a:t> through forgetting functions</a:t>
            </a:r>
            <a:endParaRPr b="0" lang="en-AU" sz="1400" strike="noStrike" u="none">
              <a:solidFill>
                <a:srgbClr val="000000"/>
              </a:solidFill>
              <a:effectLst/>
              <a:uFillTx/>
              <a:latin typeface="Arial"/>
            </a:endParaRPr>
          </a:p>
          <a:p>
            <a:pPr indent="0">
              <a:lnSpc>
                <a:spcPct val="100000"/>
              </a:lnSpc>
              <a:spcBef>
                <a:spcPts val="1417"/>
              </a:spcBef>
              <a:buNone/>
              <a:tabLst>
                <a:tab algn="l" pos="0"/>
              </a:tabLst>
            </a:pPr>
            <a:r>
              <a:rPr b="0" lang="en-US" sz="1400" strike="noStrike" u="none">
                <a:solidFill>
                  <a:srgbClr val="000000"/>
                </a:solidFill>
                <a:effectLst/>
                <a:uFillTx/>
                <a:latin typeface="Arial"/>
              </a:rPr>
              <a:t>🤔 How does it model the student’s knowledge state?</a:t>
            </a:r>
            <a:endParaRPr b="0" lang="en-AU" sz="1400" strike="noStrike" u="none">
              <a:solidFill>
                <a:srgbClr val="000000"/>
              </a:solidFill>
              <a:effectLst/>
              <a:uFillTx/>
              <a:latin typeface="Arial"/>
            </a:endParaRPr>
          </a:p>
          <a:p>
            <a:pPr marL="432000" indent="-324000">
              <a:lnSpc>
                <a:spcPct val="100000"/>
              </a:lnSpc>
              <a:spcBef>
                <a:spcPts val="1417"/>
              </a:spcBef>
              <a:buClr>
                <a:srgbClr val="000000"/>
              </a:buClr>
              <a:buSzPct val="45000"/>
              <a:buFont typeface="Wingdings" charset="2"/>
              <a:buChar char=""/>
              <a:tabLst>
                <a:tab algn="l" pos="0"/>
              </a:tabLst>
            </a:pPr>
            <a:r>
              <a:rPr b="0" lang="en-US" sz="1400" strike="noStrike" u="none">
                <a:solidFill>
                  <a:srgbClr val="000000"/>
                </a:solidFill>
                <a:effectLst/>
                <a:uFillTx/>
                <a:latin typeface="Arial"/>
              </a:rPr>
              <a:t>The student’s global knowledge state is </a:t>
            </a:r>
            <a:r>
              <a:rPr b="1" lang="en-US" sz="1400" strike="noStrike" u="none">
                <a:solidFill>
                  <a:srgbClr val="000000"/>
                </a:solidFill>
                <a:effectLst/>
                <a:uFillTx/>
                <a:latin typeface="Arial"/>
              </a:rPr>
              <a:t>implicit</a:t>
            </a:r>
            <a:endParaRPr b="0" lang="en-AU" sz="1400" strike="noStrike" u="none">
              <a:solidFill>
                <a:srgbClr val="000000"/>
              </a:solidFill>
              <a:effectLst/>
              <a:uFillTx/>
              <a:latin typeface="Arial"/>
            </a:endParaRPr>
          </a:p>
          <a:p>
            <a:pPr marL="432000" indent="-324000">
              <a:lnSpc>
                <a:spcPct val="100000"/>
              </a:lnSpc>
              <a:spcBef>
                <a:spcPts val="1417"/>
              </a:spcBef>
              <a:buClr>
                <a:srgbClr val="000000"/>
              </a:buClr>
              <a:buSzPct val="45000"/>
              <a:buFont typeface="Wingdings" charset="2"/>
              <a:buChar char=""/>
              <a:tabLst>
                <a:tab algn="l" pos="0"/>
              </a:tabLst>
            </a:pPr>
            <a:r>
              <a:rPr b="0" lang="en-US" sz="1400" strike="noStrike" u="none">
                <a:solidFill>
                  <a:srgbClr val="000000"/>
                </a:solidFill>
                <a:effectLst/>
                <a:uFillTx/>
                <a:latin typeface="Arial"/>
              </a:rPr>
              <a:t>The query-conditioned knowledge state is</a:t>
            </a:r>
            <a:endParaRPr b="0" lang="en-AU" sz="1400" strike="noStrike" u="none">
              <a:solidFill>
                <a:srgbClr val="000000"/>
              </a:solidFill>
              <a:effectLst/>
              <a:uFillTx/>
              <a:latin typeface="Arial"/>
            </a:endParaRPr>
          </a:p>
          <a:p>
            <a:pPr marL="432000" indent="0">
              <a:lnSpc>
                <a:spcPct val="100000"/>
              </a:lnSpc>
              <a:spcBef>
                <a:spcPts val="1417"/>
              </a:spcBef>
              <a:buNone/>
              <a:tabLst>
                <a:tab algn="l" pos="0"/>
              </a:tabLst>
            </a:pPr>
            <a:r>
              <a:rPr b="0" lang="en-US" sz="1400" strike="noStrike" u="none">
                <a:solidFill>
                  <a:srgbClr val="000000"/>
                </a:solidFill>
                <a:effectLst/>
                <a:uFillTx/>
                <a:latin typeface="Arial"/>
              </a:rPr>
              <a:t>modelled </a:t>
            </a:r>
            <a:r>
              <a:rPr b="1" lang="en-US" sz="1400" strike="noStrike" u="none">
                <a:solidFill>
                  <a:srgbClr val="000000"/>
                </a:solidFill>
                <a:effectLst/>
                <a:uFillTx/>
                <a:latin typeface="Arial"/>
              </a:rPr>
              <a:t>explicitly</a:t>
            </a:r>
            <a:r>
              <a:rPr b="0" lang="en-US" sz="1400" strike="noStrike" u="none">
                <a:solidFill>
                  <a:srgbClr val="000000"/>
                </a:solidFill>
                <a:effectLst/>
                <a:uFillTx/>
                <a:latin typeface="Arial"/>
              </a:rPr>
              <a:t> as a vector embedding.</a:t>
            </a:r>
            <a:endParaRPr b="0" lang="en-AU" sz="1400" strike="noStrike" u="none">
              <a:solidFill>
                <a:srgbClr val="000000"/>
              </a:solidFill>
              <a:effectLst/>
              <a:uFillTx/>
              <a:latin typeface="Arial"/>
            </a:endParaRPr>
          </a:p>
          <a:p>
            <a:pPr marL="432000" indent="0">
              <a:lnSpc>
                <a:spcPct val="100000"/>
              </a:lnSpc>
              <a:spcBef>
                <a:spcPts val="1417"/>
              </a:spcBef>
              <a:buNone/>
              <a:tabLst>
                <a:tab algn="l" pos="0"/>
              </a:tabLst>
            </a:pPr>
            <a:endParaRPr b="0" lang="en-AU" sz="1400" strike="noStrike" u="none">
              <a:solidFill>
                <a:srgbClr val="000000"/>
              </a:solidFill>
              <a:effectLst/>
              <a:uFillTx/>
              <a:latin typeface="Arial"/>
            </a:endParaRPr>
          </a:p>
        </p:txBody>
      </p:sp>
      <p:sp>
        <p:nvSpPr>
          <p:cNvPr id="4" name="PlaceHolder 3"/>
          <p:cNvSpPr>
            <a:spLocks noGrp="1"/>
          </p:cNvSpPr>
          <p:nvPr>
            <p:ph type="sldNum" idx="2"/>
          </p:nvPr>
        </p:nvSpPr>
        <p:spPr/>
        <p:txBody>
          <a:bodyPr/>
          <a:p>
            <a:fld id="{B8C32680-B346-4E46-8303-CC4E31DF18DA}" type="slidenum">
              <a:t>18</a:t>
            </a:fld>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4" name="PlaceHolder 1"/>
          <p:cNvSpPr>
            <a:spLocks noGrp="1"/>
          </p:cNvSpPr>
          <p:nvPr>
            <p:ph type="title"/>
          </p:nvPr>
        </p:nvSpPr>
        <p:spPr>
          <a:xfrm>
            <a:off x="504000" y="223560"/>
            <a:ext cx="9069120" cy="948960"/>
          </a:xfrm>
          <a:prstGeom prst="rect">
            <a:avLst/>
          </a:prstGeom>
          <a:noFill/>
          <a:ln w="0">
            <a:noFill/>
          </a:ln>
        </p:spPr>
        <p:txBody>
          <a:bodyPr lIns="0" rIns="0" tIns="0" bIns="0" anchor="ctr">
            <a:spAutoFit/>
          </a:bodyPr>
          <a:p>
            <a:pPr indent="0" algn="ctr">
              <a:lnSpc>
                <a:spcPct val="100000"/>
              </a:lnSpc>
              <a:buNone/>
              <a:tabLst>
                <a:tab algn="l" pos="0"/>
              </a:tabLst>
            </a:pPr>
            <a:r>
              <a:rPr b="0" lang="en-US" sz="4000" strike="noStrike" u="none">
                <a:solidFill>
                  <a:srgbClr val="000000"/>
                </a:solidFill>
                <a:effectLst/>
                <a:uFillTx/>
                <a:latin typeface="Arial"/>
              </a:rPr>
              <a:t>Model Architectures Visited So Far</a:t>
            </a:r>
            <a:endParaRPr b="0" lang="en-AU" sz="4000" strike="noStrike" u="none">
              <a:solidFill>
                <a:srgbClr val="000000"/>
              </a:solidFill>
              <a:effectLst/>
              <a:uFillTx/>
              <a:latin typeface="Arial"/>
            </a:endParaRPr>
          </a:p>
        </p:txBody>
      </p:sp>
      <p:graphicFrame>
        <p:nvGraphicFramePr>
          <p:cNvPr id="85" name=""/>
          <p:cNvGraphicFramePr/>
          <p:nvPr/>
        </p:nvGraphicFramePr>
        <p:xfrm>
          <a:off x="413280" y="1927080"/>
          <a:ext cx="9032040" cy="2971080"/>
        </p:xfrm>
        <a:graphic>
          <a:graphicData uri="http://schemas.openxmlformats.org/drawingml/2006/table">
            <a:tbl>
              <a:tblPr/>
              <a:tblGrid>
                <a:gridCol w="1505520"/>
                <a:gridCol w="1505520"/>
                <a:gridCol w="1505520"/>
                <a:gridCol w="1510560"/>
                <a:gridCol w="1500480"/>
                <a:gridCol w="1504800"/>
              </a:tblGrid>
              <a:tr h="346320">
                <a:tc>
                  <a:txBody>
                    <a:bodyPr lIns="36000" rIns="36000" tIns="36000" bIns="36000" anchor="t">
                      <a:noAutofit/>
                    </a:bodyPr>
                    <a:p>
                      <a:pPr algn="ctr">
                        <a:lnSpc>
                          <a:spcPct val="100000"/>
                        </a:lnSpc>
                        <a:tabLst>
                          <a:tab algn="l" pos="0"/>
                        </a:tabLst>
                      </a:pPr>
                      <a:r>
                        <a:rPr b="0" lang="en-US" sz="1300" strike="noStrike" u="none">
                          <a:solidFill>
                            <a:srgbClr val="000000"/>
                          </a:solidFill>
                          <a:effectLst/>
                          <a:uFillTx/>
                          <a:latin typeface="Arial"/>
                        </a:rPr>
                        <a:t>Architecture</a:t>
                      </a:r>
                      <a:endParaRPr b="0" lang="en-AU" sz="1300" strike="noStrike" u="non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tabLst>
                          <a:tab algn="l" pos="0"/>
                        </a:tabLst>
                      </a:pPr>
                      <a:r>
                        <a:rPr b="0" lang="en-US" sz="1300" strike="noStrike" u="none">
                          <a:solidFill>
                            <a:srgbClr val="000000"/>
                          </a:solidFill>
                          <a:effectLst/>
                          <a:uFillTx/>
                          <a:latin typeface="Arial"/>
                        </a:rPr>
                        <a:t>KCs</a:t>
                      </a:r>
                      <a:endParaRPr b="0" lang="en-AU" sz="1300" strike="noStrike" u="non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tabLst>
                          <a:tab algn="l" pos="0"/>
                        </a:tabLst>
                      </a:pPr>
                      <a:r>
                        <a:rPr b="0" lang="en-US" sz="1300" strike="noStrike" u="none">
                          <a:solidFill>
                            <a:srgbClr val="000000"/>
                          </a:solidFill>
                          <a:effectLst/>
                          <a:uFillTx/>
                          <a:latin typeface="Arial"/>
                        </a:rPr>
                        <a:t>KC-KC Relations</a:t>
                      </a:r>
                      <a:endParaRPr b="0" lang="en-AU" sz="1300" strike="noStrike" u="non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tabLst>
                          <a:tab algn="l" pos="0"/>
                        </a:tabLst>
                      </a:pPr>
                      <a:r>
                        <a:rPr b="0" lang="en-US" sz="1300" strike="noStrike" u="none">
                          <a:solidFill>
                            <a:srgbClr val="000000"/>
                          </a:solidFill>
                          <a:effectLst/>
                          <a:uFillTx/>
                          <a:latin typeface="Arial"/>
                        </a:rPr>
                        <a:t>Leaning of KCs</a:t>
                      </a:r>
                      <a:endParaRPr b="0" lang="en-AU" sz="1300" strike="noStrike" u="non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tabLst>
                          <a:tab algn="l" pos="0"/>
                        </a:tabLst>
                      </a:pPr>
                      <a:r>
                        <a:rPr b="0" lang="en-US" sz="1300" strike="noStrike" u="none">
                          <a:solidFill>
                            <a:srgbClr val="000000"/>
                          </a:solidFill>
                          <a:effectLst/>
                          <a:uFillTx/>
                          <a:latin typeface="Arial"/>
                        </a:rPr>
                        <a:t>Time-Based Forgetting of KCs</a:t>
                      </a:r>
                      <a:endParaRPr b="0" lang="en-AU" sz="1300" strike="noStrike" u="non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tabLst>
                          <a:tab algn="l" pos="0"/>
                        </a:tabLst>
                      </a:pPr>
                      <a:r>
                        <a:rPr b="0" lang="en-US" sz="1300" strike="noStrike" u="none">
                          <a:solidFill>
                            <a:srgbClr val="000000"/>
                          </a:solidFill>
                          <a:effectLst/>
                          <a:uFillTx/>
                          <a:latin typeface="Arial"/>
                        </a:rPr>
                        <a:t>Student’s Knowledge State</a:t>
                      </a:r>
                      <a:endParaRPr b="0" lang="en-AU" sz="1300" strike="noStrike" u="non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r h="698040">
                <a:tc>
                  <a:txBody>
                    <a:bodyPr lIns="36000" rIns="36000" tIns="36000" bIns="36000" anchor="t">
                      <a:noAutofit/>
                    </a:bodyPr>
                    <a:p>
                      <a:pPr algn="ctr">
                        <a:lnSpc>
                          <a:spcPct val="100000"/>
                        </a:lnSpc>
                        <a:tabLst>
                          <a:tab algn="l" pos="0"/>
                        </a:tabLst>
                      </a:pPr>
                      <a:r>
                        <a:rPr b="0" lang="en-US" sz="1300" strike="noStrike" u="none">
                          <a:solidFill>
                            <a:srgbClr val="000000"/>
                          </a:solidFill>
                          <a:effectLst/>
                          <a:uFillTx/>
                          <a:latin typeface="Arial"/>
                        </a:rPr>
                        <a:t>Graph Neural Network</a:t>
                      </a:r>
                      <a:endParaRPr b="0" lang="en-AU" sz="1300" strike="noStrike" u="non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tabLst>
                          <a:tab algn="l" pos="0"/>
                        </a:tabLst>
                      </a:pPr>
                      <a:r>
                        <a:rPr b="1" lang="en-US" sz="1300" strike="noStrike" u="none">
                          <a:solidFill>
                            <a:srgbClr val="000000"/>
                          </a:solidFill>
                          <a:effectLst/>
                          <a:uFillTx/>
                          <a:latin typeface="Arial"/>
                        </a:rPr>
                        <a:t>Explicit</a:t>
                      </a:r>
                      <a:r>
                        <a:rPr b="0" lang="en-US" sz="1300" strike="noStrike" u="none">
                          <a:solidFill>
                            <a:srgbClr val="000000"/>
                          </a:solidFill>
                          <a:effectLst/>
                          <a:uFillTx/>
                          <a:latin typeface="Arial"/>
                        </a:rPr>
                        <a:t> as Nodes</a:t>
                      </a:r>
                      <a:endParaRPr b="0" lang="en-AU" sz="1300" strike="noStrike" u="non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tabLst>
                          <a:tab algn="l" pos="0"/>
                        </a:tabLst>
                      </a:pPr>
                      <a:r>
                        <a:rPr b="1" lang="en-US" sz="1300" strike="noStrike" u="none">
                          <a:solidFill>
                            <a:srgbClr val="000000"/>
                          </a:solidFill>
                          <a:effectLst/>
                          <a:uFillTx/>
                          <a:latin typeface="Arial"/>
                        </a:rPr>
                        <a:t>Explicit</a:t>
                      </a:r>
                      <a:r>
                        <a:rPr b="0" lang="en-US" sz="1300" strike="noStrike" u="none">
                          <a:solidFill>
                            <a:srgbClr val="000000"/>
                          </a:solidFill>
                          <a:effectLst/>
                          <a:uFillTx/>
                          <a:latin typeface="Arial"/>
                        </a:rPr>
                        <a:t> as Edges</a:t>
                      </a:r>
                      <a:endParaRPr b="0" lang="en-AU" sz="1300" strike="noStrike" u="non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tabLst>
                          <a:tab algn="l" pos="0"/>
                        </a:tabLst>
                      </a:pPr>
                      <a:r>
                        <a:rPr b="1" lang="en-US" sz="1300" strike="noStrike" u="none">
                          <a:solidFill>
                            <a:srgbClr val="000000"/>
                          </a:solidFill>
                          <a:effectLst/>
                          <a:uFillTx/>
                          <a:latin typeface="Arial"/>
                        </a:rPr>
                        <a:t>Explicit</a:t>
                      </a:r>
                      <a:r>
                        <a:rPr b="0" lang="en-US" sz="1300" strike="noStrike" u="none">
                          <a:solidFill>
                            <a:srgbClr val="000000"/>
                          </a:solidFill>
                          <a:effectLst/>
                          <a:uFillTx/>
                          <a:latin typeface="Arial"/>
                        </a:rPr>
                        <a:t> via node update + message passing</a:t>
                      </a:r>
                      <a:endParaRPr b="0" lang="en-AU" sz="1300" strike="noStrike" u="non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tabLst>
                          <a:tab algn="l" pos="0"/>
                        </a:tabLst>
                      </a:pPr>
                      <a:r>
                        <a:rPr b="1" lang="en-US" sz="1300" strike="noStrike" u="none">
                          <a:solidFill>
                            <a:srgbClr val="000000"/>
                          </a:solidFill>
                          <a:effectLst/>
                          <a:uFillTx/>
                          <a:latin typeface="Arial"/>
                        </a:rPr>
                        <a:t>Explicit</a:t>
                      </a:r>
                      <a:r>
                        <a:rPr b="0" lang="en-US" sz="1300" strike="noStrike" u="none">
                          <a:solidFill>
                            <a:srgbClr val="000000"/>
                          </a:solidFill>
                          <a:effectLst/>
                          <a:uFillTx/>
                          <a:latin typeface="Arial"/>
                        </a:rPr>
                        <a:t> via Forgetting Functions</a:t>
                      </a:r>
                      <a:endParaRPr b="0" lang="en-AU" sz="1300" strike="noStrike" u="non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tabLst>
                          <a:tab algn="l" pos="0"/>
                        </a:tabLst>
                      </a:pPr>
                      <a:r>
                        <a:rPr b="1" lang="en-US" sz="1300" strike="noStrike" u="none">
                          <a:solidFill>
                            <a:srgbClr val="000000"/>
                          </a:solidFill>
                          <a:effectLst/>
                          <a:uFillTx/>
                          <a:latin typeface="Arial"/>
                        </a:rPr>
                        <a:t>Explicit</a:t>
                      </a:r>
                      <a:r>
                        <a:rPr b="0" lang="en-US" sz="1300" strike="noStrike" u="none">
                          <a:solidFill>
                            <a:srgbClr val="000000"/>
                          </a:solidFill>
                          <a:effectLst/>
                          <a:uFillTx/>
                          <a:latin typeface="Arial"/>
                        </a:rPr>
                        <a:t> as a Graph</a:t>
                      </a:r>
                      <a:endParaRPr b="0" lang="en-AU" sz="1300" strike="noStrike" u="non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r h="346320">
                <a:tc>
                  <a:txBody>
                    <a:bodyPr lIns="36000" rIns="36000" tIns="36000" bIns="36000" anchor="t">
                      <a:noAutofit/>
                    </a:bodyPr>
                    <a:p>
                      <a:pPr algn="ctr">
                        <a:lnSpc>
                          <a:spcPct val="100000"/>
                        </a:lnSpc>
                        <a:tabLst>
                          <a:tab algn="l" pos="0"/>
                        </a:tabLst>
                      </a:pPr>
                      <a:r>
                        <a:rPr b="0" lang="en-US" sz="1300" strike="noStrike" u="none">
                          <a:solidFill>
                            <a:srgbClr val="000000"/>
                          </a:solidFill>
                          <a:effectLst/>
                          <a:uFillTx/>
                          <a:latin typeface="Arial"/>
                        </a:rPr>
                        <a:t>Key-Value Memory Network</a:t>
                      </a:r>
                      <a:endParaRPr b="0" lang="en-AU" sz="1300" strike="noStrike" u="non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tabLst>
                          <a:tab algn="l" pos="0"/>
                        </a:tabLst>
                      </a:pPr>
                      <a:r>
                        <a:rPr b="1" lang="en-US" sz="1300" strike="noStrike" u="none">
                          <a:solidFill>
                            <a:srgbClr val="000000"/>
                          </a:solidFill>
                          <a:effectLst/>
                          <a:uFillTx/>
                          <a:latin typeface="Arial"/>
                        </a:rPr>
                        <a:t>Explicit</a:t>
                      </a:r>
                      <a:r>
                        <a:rPr b="0" lang="en-US" sz="1300" strike="noStrike" u="none">
                          <a:solidFill>
                            <a:srgbClr val="000000"/>
                          </a:solidFill>
                          <a:effectLst/>
                          <a:uFillTx/>
                          <a:latin typeface="Arial"/>
                        </a:rPr>
                        <a:t> as Keys</a:t>
                      </a:r>
                      <a:endParaRPr b="0" lang="en-AU" sz="1300" strike="noStrike" u="non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tabLst>
                          <a:tab algn="l" pos="0"/>
                        </a:tabLst>
                      </a:pPr>
                      <a:r>
                        <a:rPr b="0" lang="en-US" sz="1300" strike="noStrike" u="none">
                          <a:solidFill>
                            <a:srgbClr val="000000"/>
                          </a:solidFill>
                          <a:effectLst/>
                          <a:uFillTx/>
                          <a:latin typeface="Arial"/>
                        </a:rPr>
                        <a:t>---------</a:t>
                      </a:r>
                      <a:endParaRPr b="0" lang="en-AU" sz="1300" strike="noStrike" u="non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tabLst>
                          <a:tab algn="l" pos="0"/>
                        </a:tabLst>
                      </a:pPr>
                      <a:r>
                        <a:rPr b="1" lang="en-US" sz="1300" strike="noStrike" u="none">
                          <a:solidFill>
                            <a:srgbClr val="000000"/>
                          </a:solidFill>
                          <a:effectLst/>
                          <a:uFillTx/>
                          <a:latin typeface="Arial"/>
                        </a:rPr>
                        <a:t>Explicit</a:t>
                      </a:r>
                      <a:r>
                        <a:rPr b="0" lang="en-US" sz="1300" strike="noStrike" u="none">
                          <a:solidFill>
                            <a:srgbClr val="000000"/>
                          </a:solidFill>
                          <a:effectLst/>
                          <a:uFillTx/>
                          <a:latin typeface="Arial"/>
                        </a:rPr>
                        <a:t> via erase-add update</a:t>
                      </a:r>
                      <a:endParaRPr b="0" lang="en-AU" sz="1300" strike="noStrike" u="non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tabLst>
                          <a:tab algn="l" pos="0"/>
                        </a:tabLst>
                      </a:pPr>
                      <a:r>
                        <a:rPr b="0" lang="en-US" sz="1300" strike="noStrike" u="none">
                          <a:solidFill>
                            <a:srgbClr val="000000"/>
                          </a:solidFill>
                          <a:effectLst/>
                          <a:uFillTx/>
                          <a:latin typeface="Arial"/>
                        </a:rPr>
                        <a:t>---------</a:t>
                      </a:r>
                      <a:endParaRPr b="0" lang="en-AU" sz="1300" strike="noStrike" u="non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tabLst>
                          <a:tab algn="l" pos="0"/>
                        </a:tabLst>
                      </a:pPr>
                      <a:r>
                        <a:rPr b="1" lang="en-US" sz="1300" strike="noStrike" u="none">
                          <a:solidFill>
                            <a:srgbClr val="000000"/>
                          </a:solidFill>
                          <a:effectLst/>
                          <a:uFillTx/>
                          <a:latin typeface="Arial"/>
                        </a:rPr>
                        <a:t>Explicit</a:t>
                      </a:r>
                      <a:r>
                        <a:rPr b="0" lang="en-US" sz="1300" strike="noStrike" u="none">
                          <a:solidFill>
                            <a:srgbClr val="000000"/>
                          </a:solidFill>
                          <a:effectLst/>
                          <a:uFillTx/>
                          <a:latin typeface="Arial"/>
                        </a:rPr>
                        <a:t> as a Key-Value Table</a:t>
                      </a:r>
                      <a:endParaRPr b="0" lang="en-AU" sz="1300" strike="noStrike" u="non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r h="346320">
                <a:tc>
                  <a:txBody>
                    <a:bodyPr lIns="36000" rIns="36000" tIns="36000" bIns="36000" anchor="t">
                      <a:noAutofit/>
                    </a:bodyPr>
                    <a:p>
                      <a:pPr algn="ctr">
                        <a:lnSpc>
                          <a:spcPct val="100000"/>
                        </a:lnSpc>
                        <a:tabLst>
                          <a:tab algn="l" pos="0"/>
                        </a:tabLst>
                      </a:pPr>
                      <a:r>
                        <a:rPr b="0" lang="en-US" sz="1300" strike="noStrike" u="none">
                          <a:solidFill>
                            <a:srgbClr val="000000"/>
                          </a:solidFill>
                          <a:effectLst/>
                          <a:uFillTx/>
                          <a:latin typeface="Arial"/>
                        </a:rPr>
                        <a:t>Recurrent Neural Network</a:t>
                      </a:r>
                      <a:endParaRPr b="0" lang="en-AU" sz="1300" strike="noStrike" u="non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tabLst>
                          <a:tab algn="l" pos="0"/>
                        </a:tabLst>
                      </a:pPr>
                      <a:r>
                        <a:rPr b="1" lang="en-US" sz="1300" strike="noStrike" u="none">
                          <a:solidFill>
                            <a:srgbClr val="000000"/>
                          </a:solidFill>
                          <a:effectLst/>
                          <a:uFillTx/>
                          <a:latin typeface="Arial"/>
                        </a:rPr>
                        <a:t>Implicit</a:t>
                      </a:r>
                      <a:r>
                        <a:rPr b="0" lang="en-US" sz="1300" strike="noStrike" u="none">
                          <a:solidFill>
                            <a:srgbClr val="000000"/>
                          </a:solidFill>
                          <a:effectLst/>
                          <a:uFillTx/>
                          <a:latin typeface="Arial"/>
                        </a:rPr>
                        <a:t> as Question Embedding</a:t>
                      </a:r>
                      <a:endParaRPr b="0" lang="en-AU" sz="1300" strike="noStrike" u="non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tabLst>
                          <a:tab algn="l" pos="0"/>
                        </a:tabLst>
                      </a:pPr>
                      <a:r>
                        <a:rPr b="1" lang="en-US" sz="1300" strike="noStrike" u="none">
                          <a:solidFill>
                            <a:srgbClr val="000000"/>
                          </a:solidFill>
                          <a:effectLst/>
                          <a:uFillTx/>
                          <a:latin typeface="Arial"/>
                        </a:rPr>
                        <a:t>Implicit</a:t>
                      </a:r>
                      <a:r>
                        <a:rPr b="0" lang="en-US" sz="1300" strike="noStrike" u="none">
                          <a:solidFill>
                            <a:srgbClr val="000000"/>
                          </a:solidFill>
                          <a:effectLst/>
                          <a:uFillTx/>
                          <a:latin typeface="Arial"/>
                        </a:rPr>
                        <a:t> as Recurrent Weights</a:t>
                      </a:r>
                      <a:endParaRPr b="0" lang="en-AU" sz="1300" strike="noStrike" u="non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spcBef>
                          <a:spcPts val="1191"/>
                        </a:spcBef>
                        <a:spcAft>
                          <a:spcPts val="992"/>
                        </a:spcAft>
                        <a:tabLst>
                          <a:tab algn="l" pos="0"/>
                        </a:tabLst>
                      </a:pPr>
                      <a:r>
                        <a:rPr b="1" lang="en-US" sz="1300" strike="noStrike" u="none">
                          <a:solidFill>
                            <a:srgbClr val="000000"/>
                          </a:solidFill>
                          <a:effectLst/>
                          <a:uFillTx/>
                          <a:latin typeface="Arial"/>
                        </a:rPr>
                        <a:t>Implicit</a:t>
                      </a:r>
                      <a:r>
                        <a:rPr b="0" lang="en-US" sz="1300" strike="noStrike" u="none">
                          <a:solidFill>
                            <a:srgbClr val="000000"/>
                          </a:solidFill>
                          <a:effectLst/>
                          <a:uFillTx/>
                          <a:latin typeface="Arial"/>
                        </a:rPr>
                        <a:t> via the Input &amp; Update Gates</a:t>
                      </a:r>
                      <a:endParaRPr b="0" lang="en-AU" sz="1300" strike="noStrike" u="non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spcBef>
                          <a:spcPts val="1191"/>
                        </a:spcBef>
                        <a:spcAft>
                          <a:spcPts val="992"/>
                        </a:spcAft>
                        <a:tabLst>
                          <a:tab algn="l" pos="0"/>
                        </a:tabLst>
                      </a:pPr>
                      <a:r>
                        <a:rPr b="1" lang="en-US" sz="1300" strike="noStrike" u="none">
                          <a:solidFill>
                            <a:srgbClr val="000000"/>
                          </a:solidFill>
                          <a:effectLst/>
                          <a:uFillTx/>
                          <a:latin typeface="Arial"/>
                        </a:rPr>
                        <a:t>Implicit</a:t>
                      </a:r>
                      <a:r>
                        <a:rPr b="0" lang="en-US" sz="1300" strike="noStrike" u="none">
                          <a:solidFill>
                            <a:srgbClr val="000000"/>
                          </a:solidFill>
                          <a:effectLst/>
                          <a:uFillTx/>
                          <a:latin typeface="Arial"/>
                        </a:rPr>
                        <a:t> via the Forget Gate</a:t>
                      </a:r>
                      <a:endParaRPr b="0" lang="en-AU" sz="1300" strike="noStrike" u="non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spcBef>
                          <a:spcPts val="1417"/>
                        </a:spcBef>
                        <a:tabLst>
                          <a:tab algn="l" pos="0"/>
                        </a:tabLst>
                      </a:pPr>
                      <a:r>
                        <a:rPr b="1" lang="en-US" sz="1300" strike="noStrike" u="none">
                          <a:solidFill>
                            <a:srgbClr val="000000"/>
                          </a:solidFill>
                          <a:effectLst/>
                          <a:uFillTx/>
                          <a:latin typeface="Arial"/>
                        </a:rPr>
                        <a:t>Explicit</a:t>
                      </a:r>
                      <a:r>
                        <a:rPr b="0" lang="en-US" sz="1300" strike="noStrike" u="none">
                          <a:solidFill>
                            <a:srgbClr val="000000"/>
                          </a:solidFill>
                          <a:effectLst/>
                          <a:uFillTx/>
                          <a:latin typeface="Arial"/>
                        </a:rPr>
                        <a:t> as a hidden state vector(s)</a:t>
                      </a:r>
                      <a:endParaRPr b="0" lang="en-AU" sz="1300" strike="noStrike" u="non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r h="346320">
                <a:tc>
                  <a:txBody>
                    <a:bodyPr lIns="36000" rIns="36000" tIns="36000" bIns="36000" anchor="t">
                      <a:noAutofit/>
                    </a:bodyPr>
                    <a:p>
                      <a:pPr algn="ctr">
                        <a:lnSpc>
                          <a:spcPct val="100000"/>
                        </a:lnSpc>
                        <a:tabLst>
                          <a:tab algn="l" pos="0"/>
                        </a:tabLst>
                      </a:pPr>
                      <a:r>
                        <a:rPr b="0" lang="en-US" sz="1300" strike="noStrike" u="none">
                          <a:solidFill>
                            <a:srgbClr val="000000"/>
                          </a:solidFill>
                          <a:effectLst/>
                          <a:uFillTx/>
                          <a:latin typeface="Arial"/>
                        </a:rPr>
                        <a:t>Transformer</a:t>
                      </a:r>
                      <a:endParaRPr b="0" lang="en-AU" sz="1300" strike="noStrike" u="non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spcBef>
                          <a:spcPts val="1417"/>
                        </a:spcBef>
                        <a:tabLst>
                          <a:tab algn="l" pos="0"/>
                        </a:tabLst>
                      </a:pPr>
                      <a:r>
                        <a:rPr b="1" lang="en-US" sz="1300" strike="noStrike" u="none">
                          <a:solidFill>
                            <a:srgbClr val="000000"/>
                          </a:solidFill>
                          <a:effectLst/>
                          <a:uFillTx/>
                          <a:latin typeface="Arial"/>
                        </a:rPr>
                        <a:t>Implicit</a:t>
                      </a:r>
                      <a:r>
                        <a:rPr b="0" lang="en-US" sz="1300" strike="noStrike" u="none">
                          <a:solidFill>
                            <a:srgbClr val="000000"/>
                          </a:solidFill>
                          <a:effectLst/>
                          <a:uFillTx/>
                          <a:latin typeface="Arial"/>
                        </a:rPr>
                        <a:t> as Embeddings</a:t>
                      </a:r>
                      <a:endParaRPr b="0" lang="en-AU" sz="1300" strike="noStrike" u="non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spcBef>
                          <a:spcPts val="1417"/>
                        </a:spcBef>
                        <a:tabLst>
                          <a:tab algn="l" pos="0"/>
                        </a:tabLst>
                      </a:pPr>
                      <a:r>
                        <a:rPr b="1" lang="en-US" sz="1300" strike="noStrike" u="none">
                          <a:solidFill>
                            <a:srgbClr val="000000"/>
                          </a:solidFill>
                          <a:effectLst/>
                          <a:uFillTx/>
                          <a:latin typeface="Arial"/>
                        </a:rPr>
                        <a:t>Implicit</a:t>
                      </a:r>
                      <a:r>
                        <a:rPr b="0" lang="en-US" sz="1300" strike="noStrike" u="none">
                          <a:solidFill>
                            <a:srgbClr val="000000"/>
                          </a:solidFill>
                          <a:effectLst/>
                          <a:uFillTx/>
                          <a:latin typeface="Arial"/>
                        </a:rPr>
                        <a:t> as attention weights</a:t>
                      </a:r>
                      <a:endParaRPr b="0" lang="en-AU" sz="1300" strike="noStrike" u="non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spcBef>
                          <a:spcPts val="1191"/>
                        </a:spcBef>
                        <a:spcAft>
                          <a:spcPts val="992"/>
                        </a:spcAft>
                        <a:tabLst>
                          <a:tab algn="l" pos="0"/>
                        </a:tabLst>
                      </a:pPr>
                      <a:r>
                        <a:rPr b="1" lang="en-US" sz="1300" strike="noStrike" u="none">
                          <a:solidFill>
                            <a:srgbClr val="000000"/>
                          </a:solidFill>
                          <a:effectLst/>
                          <a:uFillTx/>
                          <a:latin typeface="Arial"/>
                        </a:rPr>
                        <a:t>Implicit</a:t>
                      </a:r>
                      <a:r>
                        <a:rPr b="0" lang="en-US" sz="1300" strike="noStrike" u="none">
                          <a:solidFill>
                            <a:srgbClr val="000000"/>
                          </a:solidFill>
                          <a:effectLst/>
                          <a:uFillTx/>
                          <a:latin typeface="Arial"/>
                        </a:rPr>
                        <a:t> via attention mechanism</a:t>
                      </a:r>
                      <a:endParaRPr b="0" lang="en-AU" sz="1300" strike="noStrike" u="non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spcBef>
                          <a:spcPts val="1191"/>
                        </a:spcBef>
                        <a:spcAft>
                          <a:spcPts val="992"/>
                        </a:spcAft>
                        <a:tabLst>
                          <a:tab algn="l" pos="0"/>
                        </a:tabLst>
                      </a:pPr>
                      <a:r>
                        <a:rPr b="1" lang="en-US" sz="1300" strike="noStrike" u="none">
                          <a:solidFill>
                            <a:srgbClr val="000000"/>
                          </a:solidFill>
                          <a:effectLst/>
                          <a:uFillTx/>
                          <a:latin typeface="Arial"/>
                        </a:rPr>
                        <a:t>Explicitly</a:t>
                      </a:r>
                      <a:r>
                        <a:rPr b="0" lang="en-US" sz="1300" strike="noStrike" u="none">
                          <a:solidFill>
                            <a:srgbClr val="000000"/>
                          </a:solidFill>
                          <a:effectLst/>
                          <a:uFillTx/>
                          <a:latin typeface="Arial"/>
                        </a:rPr>
                        <a:t> through forgetting functions</a:t>
                      </a:r>
                      <a:endParaRPr b="0" lang="en-AU" sz="1300" strike="noStrike" u="non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spcBef>
                          <a:spcPts val="1417"/>
                        </a:spcBef>
                        <a:tabLst>
                          <a:tab algn="l" pos="0"/>
                        </a:tabLst>
                      </a:pPr>
                      <a:r>
                        <a:rPr b="0" lang="en-US" sz="1300" strike="noStrike" u="none">
                          <a:solidFill>
                            <a:srgbClr val="000000"/>
                          </a:solidFill>
                          <a:effectLst/>
                          <a:uFillTx/>
                          <a:latin typeface="Arial"/>
                        </a:rPr>
                        <a:t>Full knowledge state is </a:t>
                      </a:r>
                      <a:r>
                        <a:rPr b="1" lang="en-US" sz="1300" strike="noStrike" u="none">
                          <a:solidFill>
                            <a:srgbClr val="000000"/>
                          </a:solidFill>
                          <a:effectLst/>
                          <a:uFillTx/>
                          <a:latin typeface="Arial"/>
                        </a:rPr>
                        <a:t>implicit</a:t>
                      </a:r>
                      <a:endParaRPr b="0" lang="en-AU" sz="1300" strike="noStrike" u="non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bl>
          </a:graphicData>
        </a:graphic>
      </p:graphicFrame>
      <p:sp>
        <p:nvSpPr>
          <p:cNvPr id="3" name="PlaceHolder 2"/>
          <p:cNvSpPr>
            <a:spLocks noGrp="1"/>
          </p:cNvSpPr>
          <p:nvPr>
            <p:ph type="sldNum" idx="2"/>
          </p:nvPr>
        </p:nvSpPr>
        <p:spPr/>
        <p:txBody>
          <a:bodyPr/>
          <a:p>
            <a:fld id="{EAA88B15-9E59-4DE0-BC49-0D68DAF31F1C}" type="slidenum">
              <a:t>19</a:t>
            </a:fld>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6" name="PlaceHolder 1"/>
          <p:cNvSpPr>
            <a:spLocks noGrp="1"/>
          </p:cNvSpPr>
          <p:nvPr>
            <p:ph type="title"/>
          </p:nvPr>
        </p:nvSpPr>
        <p:spPr>
          <a:xfrm>
            <a:off x="504000" y="187200"/>
            <a:ext cx="9069120" cy="1252800"/>
          </a:xfrm>
          <a:prstGeom prst="rect">
            <a:avLst/>
          </a:prstGeom>
          <a:noFill/>
          <a:ln w="0">
            <a:noFill/>
          </a:ln>
        </p:spPr>
        <p:txBody>
          <a:bodyPr lIns="0" rIns="0" tIns="0" bIns="0" anchor="ctr">
            <a:spAutoFit/>
          </a:bodyPr>
          <a:p>
            <a:pPr indent="0" algn="ctr">
              <a:lnSpc>
                <a:spcPct val="100000"/>
              </a:lnSpc>
              <a:buNone/>
              <a:tabLst>
                <a:tab algn="l" pos="0"/>
              </a:tabLst>
            </a:pPr>
            <a:r>
              <a:rPr b="0" lang="en-US" sz="4000" strike="noStrike" u="none">
                <a:solidFill>
                  <a:srgbClr val="000000"/>
                </a:solidFill>
                <a:effectLst/>
                <a:uFillTx/>
                <a:latin typeface="Arial"/>
              </a:rPr>
              <a:t>Which knowledge states are more interpretable?</a:t>
            </a:r>
            <a:endParaRPr b="0" lang="en-AU" sz="4000" strike="noStrike" u="none">
              <a:solidFill>
                <a:srgbClr val="000000"/>
              </a:solidFill>
              <a:effectLst/>
              <a:uFillTx/>
              <a:latin typeface="Arial"/>
            </a:endParaRPr>
          </a:p>
        </p:txBody>
      </p:sp>
      <p:pic>
        <p:nvPicPr>
          <p:cNvPr id="87" name="" descr=""/>
          <p:cNvPicPr/>
          <p:nvPr/>
        </p:nvPicPr>
        <p:blipFill>
          <a:blip r:embed="rId1"/>
          <a:srcRect l="0" t="9522" r="0" b="17458"/>
          <a:stretch/>
        </p:blipFill>
        <p:spPr>
          <a:xfrm>
            <a:off x="360000" y="1565640"/>
            <a:ext cx="9334080" cy="3831840"/>
          </a:xfrm>
          <a:prstGeom prst="rect">
            <a:avLst/>
          </a:prstGeom>
          <a:noFill/>
          <a:ln w="0">
            <a:noFill/>
          </a:ln>
        </p:spPr>
      </p:pic>
      <p:sp>
        <p:nvSpPr>
          <p:cNvPr id="3" name="PlaceHolder 2"/>
          <p:cNvSpPr>
            <a:spLocks noGrp="1"/>
          </p:cNvSpPr>
          <p:nvPr>
            <p:ph type="sldNum" idx="2"/>
          </p:nvPr>
        </p:nvSpPr>
        <p:spPr/>
        <p:txBody>
          <a:bodyPr/>
          <a:p>
            <a:fld id="{292352D2-8F05-4C67-913C-8EDB70DBF239}" type="slidenum">
              <a:t>20</a:t>
            </a:fld>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88" name="" descr=""/>
          <p:cNvPicPr/>
          <p:nvPr/>
        </p:nvPicPr>
        <p:blipFill>
          <a:blip r:embed="rId1"/>
          <a:stretch/>
        </p:blipFill>
        <p:spPr>
          <a:xfrm>
            <a:off x="459360" y="717840"/>
            <a:ext cx="8817480" cy="4958640"/>
          </a:xfrm>
          <a:prstGeom prst="rect">
            <a:avLst/>
          </a:prstGeom>
          <a:noFill/>
          <a:ln w="0">
            <a:noFill/>
          </a:ln>
        </p:spPr>
      </p:pic>
      <p:sp>
        <p:nvSpPr>
          <p:cNvPr id="89" name="PlaceHolder 1"/>
          <p:cNvSpPr>
            <a:spLocks noGrp="1"/>
          </p:cNvSpPr>
          <p:nvPr>
            <p:ph type="title"/>
          </p:nvPr>
        </p:nvSpPr>
        <p:spPr>
          <a:xfrm>
            <a:off x="540000" y="177480"/>
            <a:ext cx="9357480" cy="712800"/>
          </a:xfrm>
          <a:prstGeom prst="rect">
            <a:avLst/>
          </a:prstGeom>
          <a:noFill/>
          <a:ln w="0">
            <a:noFill/>
          </a:ln>
        </p:spPr>
        <p:txBody>
          <a:bodyPr lIns="0" rIns="0" tIns="0" bIns="0" anchor="ctr">
            <a:spAutoFit/>
          </a:bodyPr>
          <a:p>
            <a:pPr indent="0" algn="ctr">
              <a:lnSpc>
                <a:spcPct val="100000"/>
              </a:lnSpc>
              <a:buNone/>
              <a:tabLst>
                <a:tab algn="l" pos="0"/>
              </a:tabLst>
            </a:pPr>
            <a:r>
              <a:rPr b="0" lang="en-US" sz="2800" strike="noStrike" u="none">
                <a:solidFill>
                  <a:srgbClr val="000000"/>
                </a:solidFill>
                <a:effectLst/>
                <a:uFillTx/>
                <a:latin typeface="Arial"/>
              </a:rPr>
              <a:t>Why should we bother interpretable knowledge states?</a:t>
            </a:r>
            <a:endParaRPr b="0" lang="en-AU" sz="2800" strike="noStrike" u="none">
              <a:solidFill>
                <a:srgbClr val="000000"/>
              </a:solidFill>
              <a:effectLst/>
              <a:uFillTx/>
              <a:latin typeface="Arial"/>
            </a:endParaRPr>
          </a:p>
        </p:txBody>
      </p:sp>
      <p:sp>
        <p:nvSpPr>
          <p:cNvPr id="3" name="PlaceHolder 2"/>
          <p:cNvSpPr>
            <a:spLocks noGrp="1"/>
          </p:cNvSpPr>
          <p:nvPr>
            <p:ph type="sldNum" idx="2"/>
          </p:nvPr>
        </p:nvSpPr>
        <p:spPr/>
        <p:txBody>
          <a:bodyPr/>
          <a:p>
            <a:fld id="{51BBBB0C-0D22-4FA5-BB98-56AA1F9AFAA5}" type="slidenum">
              <a:t>21</a:t>
            </a:fld>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90" name="" descr=""/>
          <p:cNvPicPr/>
          <p:nvPr/>
        </p:nvPicPr>
        <p:blipFill>
          <a:blip r:embed="rId1"/>
          <a:stretch/>
        </p:blipFill>
        <p:spPr>
          <a:xfrm>
            <a:off x="703800" y="598320"/>
            <a:ext cx="8653680" cy="4866480"/>
          </a:xfrm>
          <a:prstGeom prst="rect">
            <a:avLst/>
          </a:prstGeom>
          <a:noFill/>
          <a:ln w="0">
            <a:noFill/>
          </a:ln>
        </p:spPr>
      </p:pic>
      <p:sp>
        <p:nvSpPr>
          <p:cNvPr id="91" name="PlaceHolder 1"/>
          <p:cNvSpPr>
            <a:spLocks noGrp="1"/>
          </p:cNvSpPr>
          <p:nvPr>
            <p:ph type="title"/>
          </p:nvPr>
        </p:nvSpPr>
        <p:spPr>
          <a:xfrm>
            <a:off x="504000" y="177480"/>
            <a:ext cx="9069120" cy="676440"/>
          </a:xfrm>
          <a:prstGeom prst="rect">
            <a:avLst/>
          </a:prstGeom>
          <a:noFill/>
          <a:ln w="0">
            <a:noFill/>
          </a:ln>
        </p:spPr>
        <p:txBody>
          <a:bodyPr lIns="0" rIns="0" tIns="0" bIns="0" anchor="ctr">
            <a:spAutoFit/>
          </a:bodyPr>
          <a:p>
            <a:pPr indent="0" algn="ctr">
              <a:lnSpc>
                <a:spcPct val="100000"/>
              </a:lnSpc>
              <a:buNone/>
              <a:tabLst>
                <a:tab algn="l" pos="0"/>
              </a:tabLst>
            </a:pPr>
            <a:r>
              <a:rPr b="0" lang="en-US" sz="2800" strike="noStrike" u="none">
                <a:solidFill>
                  <a:srgbClr val="000000"/>
                </a:solidFill>
                <a:effectLst/>
                <a:uFillTx/>
                <a:latin typeface="Arial"/>
              </a:rPr>
              <a:t>Is it interpretable enough?</a:t>
            </a:r>
            <a:endParaRPr b="0" lang="en-AU" sz="2800" strike="noStrike" u="none">
              <a:solidFill>
                <a:srgbClr val="000000"/>
              </a:solidFill>
              <a:effectLst/>
              <a:uFillTx/>
              <a:latin typeface="Arial"/>
            </a:endParaRPr>
          </a:p>
        </p:txBody>
      </p:sp>
      <p:sp>
        <p:nvSpPr>
          <p:cNvPr id="92" name=""/>
          <p:cNvSpPr/>
          <p:nvPr/>
        </p:nvSpPr>
        <p:spPr>
          <a:xfrm>
            <a:off x="360000" y="4860000"/>
            <a:ext cx="8817480" cy="674280"/>
          </a:xfrm>
          <a:prstGeom prst="rect">
            <a:avLst/>
          </a:prstGeom>
          <a:noFill/>
          <a:ln w="36000">
            <a:solidFill>
              <a:srgbClr val="5b277d"/>
            </a:solidFill>
            <a:prstDash val="sysDot"/>
            <a:round/>
          </a:ln>
        </p:spPr>
        <p:style>
          <a:lnRef idx="0"/>
          <a:fillRef idx="0"/>
          <a:effectRef idx="0"/>
          <a:fontRef idx="minor"/>
        </p:style>
        <p:txBody>
          <a:bodyPr lIns="108000" rIns="108000" tIns="63000" bIns="63000" anchor="t">
            <a:spAutoFit/>
          </a:bodyPr>
          <a:p>
            <a:pPr>
              <a:lnSpc>
                <a:spcPct val="100000"/>
              </a:lnSpc>
            </a:pPr>
            <a:r>
              <a:rPr b="0" lang="en-US" sz="1200" strike="noStrike" u="none">
                <a:solidFill>
                  <a:srgbClr val="000000"/>
                </a:solidFill>
                <a:effectLst/>
                <a:uFillTx/>
                <a:latin typeface="Arial"/>
                <a:ea typeface="DejaVu Sans"/>
              </a:rPr>
              <a:t>It is reasonable that the nodes in the KC graph created by current GNN are implicit, instead of some real-world KCs. This is because the model have not yet access to the text of the questions. What if the model can now access to the question text. Can we map the implicit KC node embedding back to some real-world KCs?</a:t>
            </a:r>
            <a:endParaRPr b="0" lang="en-AU" sz="1200" strike="noStrike" u="none">
              <a:solidFill>
                <a:srgbClr val="000000"/>
              </a:solidFill>
              <a:effectLst/>
              <a:uFillTx/>
              <a:latin typeface="Arial"/>
            </a:endParaRPr>
          </a:p>
        </p:txBody>
      </p:sp>
      <p:sp>
        <p:nvSpPr>
          <p:cNvPr id="3" name="PlaceHolder 2"/>
          <p:cNvSpPr>
            <a:spLocks noGrp="1"/>
          </p:cNvSpPr>
          <p:nvPr>
            <p:ph type="sldNum" idx="2"/>
          </p:nvPr>
        </p:nvSpPr>
        <p:spPr/>
        <p:txBody>
          <a:bodyPr/>
          <a:p>
            <a:fld id="{A3BAD8DE-AE51-4E16-BD6F-16D3F51F0EC6}" type="slidenum">
              <a:t>22</a:t>
            </a:fld>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3" name="PlaceHolder 1"/>
          <p:cNvSpPr>
            <a:spLocks noGrp="1"/>
          </p:cNvSpPr>
          <p:nvPr>
            <p:ph type="title"/>
          </p:nvPr>
        </p:nvSpPr>
        <p:spPr>
          <a:xfrm>
            <a:off x="468360" y="71640"/>
            <a:ext cx="9069120" cy="1008360"/>
          </a:xfrm>
          <a:prstGeom prst="rect">
            <a:avLst/>
          </a:prstGeom>
          <a:noFill/>
          <a:ln w="0">
            <a:noFill/>
          </a:ln>
        </p:spPr>
        <p:txBody>
          <a:bodyPr lIns="0" rIns="0" tIns="0" bIns="0" anchor="ctr">
            <a:spAutoFit/>
          </a:bodyPr>
          <a:p>
            <a:pPr indent="0" algn="ctr">
              <a:lnSpc>
                <a:spcPct val="100000"/>
              </a:lnSpc>
              <a:buNone/>
              <a:tabLst>
                <a:tab algn="l" pos="0"/>
              </a:tabLst>
            </a:pPr>
            <a:r>
              <a:rPr b="0" lang="en-US" sz="2800" strike="noStrike" u="none">
                <a:solidFill>
                  <a:srgbClr val="000000"/>
                </a:solidFill>
                <a:effectLst/>
                <a:uFillTx/>
                <a:latin typeface="Arial"/>
              </a:rPr>
              <a:t>Challenges of making things explicit and interpretable</a:t>
            </a:r>
            <a:br>
              <a:rPr sz="2800"/>
            </a:br>
            <a:r>
              <a:rPr b="0" lang="en-US" sz="2800" strike="noStrike" u="none">
                <a:solidFill>
                  <a:srgbClr val="000000"/>
                </a:solidFill>
                <a:effectLst/>
                <a:uFillTx/>
                <a:latin typeface="Arial"/>
              </a:rPr>
              <a:t> </a:t>
            </a:r>
            <a:r>
              <a:rPr b="1" lang="en-US" sz="2800" strike="noStrike" u="none">
                <a:solidFill>
                  <a:srgbClr val="000000"/>
                </a:solidFill>
                <a:effectLst/>
                <a:uFillTx/>
                <a:latin typeface="Arial"/>
              </a:rPr>
              <a:t>Explicitness</a:t>
            </a:r>
            <a:r>
              <a:rPr b="0" lang="en-US" sz="2800" strike="noStrike" u="none">
                <a:solidFill>
                  <a:srgbClr val="000000"/>
                </a:solidFill>
                <a:effectLst/>
                <a:uFillTx/>
                <a:latin typeface="Arial"/>
              </a:rPr>
              <a:t> vs. </a:t>
            </a:r>
            <a:r>
              <a:rPr b="1" lang="en-US" sz="2800" strike="noStrike" u="none">
                <a:solidFill>
                  <a:srgbClr val="000000"/>
                </a:solidFill>
                <a:effectLst/>
                <a:uFillTx/>
                <a:latin typeface="Arial"/>
              </a:rPr>
              <a:t>Flexibility</a:t>
            </a:r>
            <a:endParaRPr b="0" lang="en-AU" sz="2800" strike="noStrike" u="none">
              <a:solidFill>
                <a:srgbClr val="000000"/>
              </a:solidFill>
              <a:effectLst/>
              <a:uFillTx/>
              <a:latin typeface="Arial"/>
            </a:endParaRPr>
          </a:p>
        </p:txBody>
      </p:sp>
      <p:sp>
        <p:nvSpPr>
          <p:cNvPr id="94" name="PlaceHolder 2"/>
          <p:cNvSpPr>
            <a:spLocks noGrp="1"/>
          </p:cNvSpPr>
          <p:nvPr>
            <p:ph/>
          </p:nvPr>
        </p:nvSpPr>
        <p:spPr>
          <a:xfrm>
            <a:off x="469800" y="1172160"/>
            <a:ext cx="9069120" cy="4497480"/>
          </a:xfrm>
          <a:prstGeom prst="rect">
            <a:avLst/>
          </a:prstGeom>
          <a:noFill/>
          <a:ln w="0">
            <a:noFill/>
          </a:ln>
        </p:spPr>
        <p:txBody>
          <a:bodyPr lIns="0" rIns="0" tIns="0" bIns="0" anchor="t">
            <a:normAutofit lnSpcReduction="9999"/>
          </a:bodyPr>
          <a:p>
            <a:pPr indent="0">
              <a:lnSpc>
                <a:spcPct val="100000"/>
              </a:lnSpc>
              <a:spcBef>
                <a:spcPts val="1191"/>
              </a:spcBef>
              <a:spcAft>
                <a:spcPts val="992"/>
              </a:spcAft>
              <a:buNone/>
              <a:tabLst>
                <a:tab algn="l" pos="0"/>
              </a:tabLst>
            </a:pPr>
            <a:r>
              <a:rPr b="0" lang="en-US" sz="1400" strike="noStrike" u="none">
                <a:solidFill>
                  <a:srgbClr val="000000"/>
                </a:solidFill>
                <a:effectLst/>
                <a:uFillTx/>
                <a:latin typeface="Arial"/>
              </a:rPr>
              <a:t>Consider a function σ(q) which can convert an interaction into its latent knowledge state representation.</a:t>
            </a:r>
            <a:endParaRPr b="0" lang="en-AU" sz="1400" strike="noStrike" u="none">
              <a:solidFill>
                <a:srgbClr val="000000"/>
              </a:solidFill>
              <a:effectLst/>
              <a:uFillTx/>
              <a:latin typeface="Arial"/>
            </a:endParaRPr>
          </a:p>
          <a:p>
            <a:pPr indent="0">
              <a:lnSpc>
                <a:spcPct val="100000"/>
              </a:lnSpc>
              <a:spcBef>
                <a:spcPts val="1191"/>
              </a:spcBef>
              <a:spcAft>
                <a:spcPts val="992"/>
              </a:spcAft>
              <a:buNone/>
              <a:tabLst>
                <a:tab algn="l" pos="0"/>
              </a:tabLst>
            </a:pPr>
            <a:r>
              <a:rPr b="1" lang="en-US" sz="1400" strike="noStrike" u="none">
                <a:solidFill>
                  <a:srgbClr val="000000"/>
                </a:solidFill>
                <a:effectLst/>
                <a:uFillTx/>
                <a:latin typeface="Arial"/>
              </a:rPr>
              <a:t>What does GNN/RNN do conceptually?</a:t>
            </a:r>
            <a:endParaRPr b="0" lang="en-AU" sz="1400" strike="noStrike" u="none">
              <a:solidFill>
                <a:srgbClr val="000000"/>
              </a:solidFill>
              <a:effectLst/>
              <a:uFillTx/>
              <a:latin typeface="Arial"/>
            </a:endParaRPr>
          </a:p>
          <a:p>
            <a:pPr indent="0">
              <a:lnSpc>
                <a:spcPct val="100000"/>
              </a:lnSpc>
              <a:spcBef>
                <a:spcPts val="1191"/>
              </a:spcBef>
              <a:spcAft>
                <a:spcPts val="992"/>
              </a:spcAft>
              <a:buNone/>
              <a:tabLst>
                <a:tab algn="l" pos="0"/>
              </a:tabLst>
            </a:pPr>
            <a:r>
              <a:rPr b="0" lang="en-US" sz="1400" strike="noStrike" u="none">
                <a:solidFill>
                  <a:srgbClr val="000000"/>
                </a:solidFill>
                <a:effectLst/>
                <a:uFillTx/>
                <a:latin typeface="Arial"/>
                <a:ea typeface="Noto Sans CJK SC"/>
              </a:rPr>
              <a:t>Transforms both the student history and the query question into its latent knowledge state representation. h = σ(student’s history) and h_query = σ(query question). Makes prediction based on how well h aligns with h_query, e.g., (h ⋅ h_query).</a:t>
            </a:r>
            <a:endParaRPr b="0" lang="en-AU" sz="1400" strike="noStrike" u="none">
              <a:solidFill>
                <a:srgbClr val="000000"/>
              </a:solidFill>
              <a:effectLst/>
              <a:uFillTx/>
              <a:latin typeface="Arial"/>
            </a:endParaRPr>
          </a:p>
          <a:p>
            <a:pPr indent="0">
              <a:lnSpc>
                <a:spcPct val="100000"/>
              </a:lnSpc>
              <a:spcBef>
                <a:spcPts val="1191"/>
              </a:spcBef>
              <a:spcAft>
                <a:spcPts val="992"/>
              </a:spcAft>
              <a:buNone/>
              <a:tabLst>
                <a:tab algn="l" pos="0"/>
              </a:tabLst>
            </a:pPr>
            <a:r>
              <a:rPr b="1" lang="en-US" sz="1400" strike="noStrike" u="none">
                <a:solidFill>
                  <a:srgbClr val="000000"/>
                </a:solidFill>
                <a:effectLst/>
                <a:uFillTx/>
                <a:latin typeface="Arial"/>
                <a:ea typeface="Noto Sans CJK SC"/>
              </a:rPr>
              <a:t>Kernel Trick</a:t>
            </a:r>
            <a:endParaRPr b="0" lang="en-AU" sz="1400" strike="noStrike" u="none">
              <a:solidFill>
                <a:srgbClr val="000000"/>
              </a:solidFill>
              <a:effectLst/>
              <a:uFillTx/>
              <a:latin typeface="Arial"/>
            </a:endParaRPr>
          </a:p>
          <a:p>
            <a:pPr indent="0">
              <a:lnSpc>
                <a:spcPct val="100000"/>
              </a:lnSpc>
              <a:spcBef>
                <a:spcPts val="1191"/>
              </a:spcBef>
              <a:spcAft>
                <a:spcPts val="992"/>
              </a:spcAft>
              <a:buNone/>
              <a:tabLst>
                <a:tab algn="l" pos="0"/>
              </a:tabLst>
            </a:pPr>
            <a:r>
              <a:rPr b="0" lang="en-US" sz="1400" strike="noStrike" u="sng">
                <a:solidFill>
                  <a:srgbClr val="000000"/>
                </a:solidFill>
                <a:effectLst/>
                <a:uFillTx/>
                <a:latin typeface="Arial"/>
                <a:ea typeface="Noto Sans CJK SC"/>
              </a:rPr>
              <a:t>(h ⋅ h_query) = σ(student’s history) ⋅ σ(query question) = K(student’s history, query question)</a:t>
            </a:r>
            <a:r>
              <a:rPr b="0" lang="en-US" sz="1400" strike="noStrike" u="none">
                <a:solidFill>
                  <a:srgbClr val="000000"/>
                </a:solidFill>
                <a:effectLst/>
                <a:uFillTx/>
                <a:latin typeface="Arial"/>
                <a:ea typeface="Noto Sans CJK SC"/>
              </a:rPr>
              <a:t>, for some kernel function K. We don’t actually need to transform them into latent knowledge state. We can learn a kernel function K and compare the student’s history and query question directly. </a:t>
            </a:r>
            <a:r>
              <a:rPr b="0" lang="en-US" sz="1400" strike="noStrike" u="sng">
                <a:solidFill>
                  <a:srgbClr val="000000"/>
                </a:solidFill>
                <a:effectLst/>
                <a:uFillTx/>
                <a:latin typeface="Arial"/>
                <a:ea typeface="Noto Sans CJK SC"/>
              </a:rPr>
              <a:t>This is basically how </a:t>
            </a:r>
            <a:r>
              <a:rPr b="1" lang="en-US" sz="1400" strike="noStrike" u="sng">
                <a:solidFill>
                  <a:srgbClr val="000000"/>
                </a:solidFill>
                <a:effectLst/>
                <a:uFillTx/>
                <a:latin typeface="Arial"/>
                <a:ea typeface="Noto Sans CJK SC"/>
              </a:rPr>
              <a:t>transformers</a:t>
            </a:r>
            <a:r>
              <a:rPr b="0" lang="en-US" sz="1400" strike="noStrike" u="sng">
                <a:solidFill>
                  <a:srgbClr val="000000"/>
                </a:solidFill>
                <a:effectLst/>
                <a:uFillTx/>
                <a:latin typeface="Arial"/>
                <a:ea typeface="Noto Sans CJK SC"/>
              </a:rPr>
              <a:t> do KT?</a:t>
            </a:r>
            <a:endParaRPr b="0" lang="en-AU" sz="1400" strike="noStrike" u="none">
              <a:solidFill>
                <a:srgbClr val="000000"/>
              </a:solidFill>
              <a:effectLst/>
              <a:uFillTx/>
              <a:latin typeface="Arial"/>
            </a:endParaRPr>
          </a:p>
          <a:p>
            <a:pPr indent="0">
              <a:lnSpc>
                <a:spcPct val="100000"/>
              </a:lnSpc>
              <a:spcBef>
                <a:spcPts val="1191"/>
              </a:spcBef>
              <a:spcAft>
                <a:spcPts val="992"/>
              </a:spcAft>
              <a:buNone/>
              <a:tabLst>
                <a:tab algn="l" pos="0"/>
              </a:tabLst>
            </a:pPr>
            <a:r>
              <a:rPr b="1" lang="en-US" sz="1400" strike="noStrike" u="none">
                <a:solidFill>
                  <a:srgbClr val="000000"/>
                </a:solidFill>
                <a:effectLst/>
                <a:uFillTx/>
                <a:latin typeface="Arial"/>
                <a:ea typeface="Noto Sans CJK SC"/>
              </a:rPr>
              <a:t>Benefits of being implicit</a:t>
            </a:r>
            <a:endParaRPr b="0" lang="en-AU" sz="1400" strike="noStrike" u="none">
              <a:solidFill>
                <a:srgbClr val="000000"/>
              </a:solidFill>
              <a:effectLst/>
              <a:uFillTx/>
              <a:latin typeface="Arial"/>
            </a:endParaRPr>
          </a:p>
          <a:p>
            <a:pPr indent="0">
              <a:lnSpc>
                <a:spcPct val="100000"/>
              </a:lnSpc>
              <a:spcBef>
                <a:spcPts val="1191"/>
              </a:spcBef>
              <a:spcAft>
                <a:spcPts val="992"/>
              </a:spcAft>
              <a:buNone/>
              <a:tabLst>
                <a:tab algn="l" pos="0"/>
              </a:tabLst>
            </a:pPr>
            <a:r>
              <a:rPr b="0" lang="en-US" sz="1400" strike="noStrike" u="none">
                <a:solidFill>
                  <a:srgbClr val="000000"/>
                </a:solidFill>
                <a:effectLst/>
                <a:uFillTx/>
                <a:latin typeface="Arial"/>
                <a:ea typeface="Noto Sans CJK SC"/>
              </a:rPr>
              <a:t>Without explicitly representing the knowledge state, the knowledge state can then be arbitrarily complex. A classical example in Machine Learning: RBF kernel (equivalent to the dot product of two latent variables with infinite number of dimensions! )</a:t>
            </a:r>
            <a:endParaRPr b="0" lang="en-AU" sz="1400" strike="noStrike" u="none">
              <a:solidFill>
                <a:srgbClr val="000000"/>
              </a:solidFill>
              <a:effectLst/>
              <a:uFillTx/>
              <a:latin typeface="Arial"/>
            </a:endParaRPr>
          </a:p>
          <a:p>
            <a:pPr indent="0">
              <a:lnSpc>
                <a:spcPct val="100000"/>
              </a:lnSpc>
              <a:spcBef>
                <a:spcPts val="1191"/>
              </a:spcBef>
              <a:spcAft>
                <a:spcPts val="992"/>
              </a:spcAft>
              <a:buNone/>
              <a:tabLst>
                <a:tab algn="l" pos="0"/>
              </a:tabLst>
            </a:pPr>
            <a:endParaRPr b="0" lang="en-AU" sz="1400" strike="noStrike" u="none">
              <a:solidFill>
                <a:srgbClr val="000000"/>
              </a:solidFill>
              <a:effectLst/>
              <a:uFillTx/>
              <a:latin typeface="Arial"/>
            </a:endParaRPr>
          </a:p>
          <a:p>
            <a:pPr indent="0">
              <a:lnSpc>
                <a:spcPct val="100000"/>
              </a:lnSpc>
              <a:spcBef>
                <a:spcPts val="1191"/>
              </a:spcBef>
              <a:spcAft>
                <a:spcPts val="992"/>
              </a:spcAft>
              <a:buNone/>
              <a:tabLst>
                <a:tab algn="l" pos="0"/>
              </a:tabLst>
            </a:pPr>
            <a:endParaRPr b="0" lang="en-AU" sz="1400" strike="noStrike" u="none">
              <a:solidFill>
                <a:srgbClr val="000000"/>
              </a:solidFill>
              <a:effectLst/>
              <a:uFillTx/>
              <a:latin typeface="Arial"/>
            </a:endParaRPr>
          </a:p>
          <a:p>
            <a:pPr indent="0">
              <a:lnSpc>
                <a:spcPct val="100000"/>
              </a:lnSpc>
              <a:spcBef>
                <a:spcPts val="1191"/>
              </a:spcBef>
              <a:spcAft>
                <a:spcPts val="992"/>
              </a:spcAft>
              <a:buNone/>
              <a:tabLst>
                <a:tab algn="l" pos="0"/>
              </a:tabLst>
            </a:pPr>
            <a:endParaRPr b="0" lang="en-AU" sz="1400" strike="noStrike" u="none">
              <a:solidFill>
                <a:srgbClr val="000000"/>
              </a:solidFill>
              <a:effectLst/>
              <a:uFillTx/>
              <a:latin typeface="Arial"/>
            </a:endParaRPr>
          </a:p>
          <a:p>
            <a:pPr indent="0">
              <a:lnSpc>
                <a:spcPct val="100000"/>
              </a:lnSpc>
              <a:spcBef>
                <a:spcPts val="1191"/>
              </a:spcBef>
              <a:spcAft>
                <a:spcPts val="992"/>
              </a:spcAft>
              <a:buNone/>
              <a:tabLst>
                <a:tab algn="l" pos="0"/>
              </a:tabLst>
            </a:pPr>
            <a:endParaRPr b="0" lang="en-AU" sz="1400" strike="noStrike" u="none">
              <a:solidFill>
                <a:srgbClr val="000000"/>
              </a:solidFill>
              <a:effectLst/>
              <a:uFillTx/>
              <a:latin typeface="Arial"/>
            </a:endParaRPr>
          </a:p>
        </p:txBody>
      </p:sp>
      <p:pic>
        <p:nvPicPr>
          <p:cNvPr id="95" name="" descr=""/>
          <p:cNvPicPr/>
          <p:nvPr/>
        </p:nvPicPr>
        <p:blipFill>
          <a:blip r:embed="rId1"/>
          <a:stretch/>
        </p:blipFill>
        <p:spPr>
          <a:xfrm>
            <a:off x="3240000" y="5040000"/>
            <a:ext cx="2877480" cy="540360"/>
          </a:xfrm>
          <a:prstGeom prst="rect">
            <a:avLst/>
          </a:prstGeom>
          <a:noFill/>
          <a:ln w="0">
            <a:noFill/>
          </a:ln>
        </p:spPr>
      </p:pic>
      <p:sp>
        <p:nvSpPr>
          <p:cNvPr id="4" name="PlaceHolder 3"/>
          <p:cNvSpPr>
            <a:spLocks noGrp="1"/>
          </p:cNvSpPr>
          <p:nvPr>
            <p:ph type="sldNum" idx="2"/>
          </p:nvPr>
        </p:nvSpPr>
        <p:spPr/>
        <p:txBody>
          <a:bodyPr/>
          <a:p>
            <a:fld id="{731A2041-7405-43B3-A6F5-68A9989A628C}" type="slidenum">
              <a:t>23</a:t>
            </a:fld>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6" name="PlaceHolder 1"/>
          <p:cNvSpPr>
            <a:spLocks noGrp="1"/>
          </p:cNvSpPr>
          <p:nvPr>
            <p:ph type="title"/>
          </p:nvPr>
        </p:nvSpPr>
        <p:spPr>
          <a:xfrm>
            <a:off x="504000" y="223560"/>
            <a:ext cx="9069120" cy="948960"/>
          </a:xfrm>
          <a:prstGeom prst="rect">
            <a:avLst/>
          </a:prstGeom>
          <a:noFill/>
          <a:ln w="0">
            <a:noFill/>
          </a:ln>
        </p:spPr>
        <p:txBody>
          <a:bodyPr lIns="0" rIns="0" tIns="0" bIns="0" anchor="ctr">
            <a:spAutoFit/>
          </a:bodyPr>
          <a:p>
            <a:pPr indent="0" algn="ctr">
              <a:lnSpc>
                <a:spcPct val="100000"/>
              </a:lnSpc>
              <a:buNone/>
              <a:tabLst>
                <a:tab algn="l" pos="0"/>
              </a:tabLst>
            </a:pPr>
            <a:r>
              <a:rPr b="0" lang="en-US" sz="4400" strike="noStrike" u="none">
                <a:solidFill>
                  <a:srgbClr val="000000"/>
                </a:solidFill>
                <a:effectLst/>
                <a:uFillTx/>
                <a:latin typeface="Arial"/>
              </a:rPr>
              <a:t>Research Question</a:t>
            </a:r>
            <a:endParaRPr b="0" lang="en-AU" sz="4400" strike="noStrike" u="none">
              <a:solidFill>
                <a:srgbClr val="000000"/>
              </a:solidFill>
              <a:effectLst/>
              <a:uFillTx/>
              <a:latin typeface="Arial"/>
            </a:endParaRPr>
          </a:p>
        </p:txBody>
      </p:sp>
      <p:sp>
        <p:nvSpPr>
          <p:cNvPr id="97" name="PlaceHolder 2"/>
          <p:cNvSpPr>
            <a:spLocks noGrp="1"/>
          </p:cNvSpPr>
          <p:nvPr>
            <p:ph/>
          </p:nvPr>
        </p:nvSpPr>
        <p:spPr>
          <a:xfrm>
            <a:off x="504000" y="2160000"/>
            <a:ext cx="9069120" cy="2452320"/>
          </a:xfrm>
          <a:prstGeom prst="rect">
            <a:avLst/>
          </a:prstGeom>
          <a:noFill/>
          <a:ln w="0">
            <a:noFill/>
          </a:ln>
        </p:spPr>
        <p:txBody>
          <a:bodyPr lIns="0" rIns="0" tIns="0" bIns="0" anchor="t">
            <a:normAutofit/>
          </a:bodyPr>
          <a:p>
            <a:pPr indent="0">
              <a:lnSpc>
                <a:spcPct val="100000"/>
              </a:lnSpc>
              <a:spcBef>
                <a:spcPts val="1191"/>
              </a:spcBef>
              <a:spcAft>
                <a:spcPts val="992"/>
              </a:spcAft>
              <a:buNone/>
              <a:tabLst>
                <a:tab algn="l" pos="0"/>
              </a:tabLst>
            </a:pPr>
            <a:r>
              <a:rPr b="0" i="1" lang="en-US" sz="2100" strike="noStrike" u="none">
                <a:solidFill>
                  <a:srgbClr val="000000"/>
                </a:solidFill>
                <a:effectLst/>
                <a:uFillTx/>
                <a:latin typeface="Arial"/>
              </a:rPr>
              <a:t>How can we make Knowledge Tracing models, especially Graph-based KT, more explicit and interpretable — enabling human teachers to understand students’ knowledge states — without severely sacrificing flexibility?</a:t>
            </a:r>
            <a:endParaRPr b="0" lang="en-AU" sz="2100" strike="noStrike" u="none">
              <a:solidFill>
                <a:srgbClr val="000000"/>
              </a:solidFill>
              <a:effectLst/>
              <a:uFillTx/>
              <a:latin typeface="Arial"/>
            </a:endParaRPr>
          </a:p>
        </p:txBody>
      </p:sp>
      <p:sp>
        <p:nvSpPr>
          <p:cNvPr id="4" name="PlaceHolder 3"/>
          <p:cNvSpPr>
            <a:spLocks noGrp="1"/>
          </p:cNvSpPr>
          <p:nvPr>
            <p:ph type="sldNum" idx="2"/>
          </p:nvPr>
        </p:nvSpPr>
        <p:spPr/>
        <p:txBody>
          <a:bodyPr/>
          <a:p>
            <a:fld id="{16B65B09-6C31-4A5A-9183-F64144EADFCE}" type="slidenum">
              <a:t>24</a:t>
            </a:fld>
          </a:p>
        </p:txBody>
      </p:sp>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8" name="PlaceHolder 1"/>
          <p:cNvSpPr>
            <a:spLocks noGrp="1"/>
          </p:cNvSpPr>
          <p:nvPr>
            <p:ph type="title"/>
          </p:nvPr>
        </p:nvSpPr>
        <p:spPr>
          <a:xfrm>
            <a:off x="540000" y="367200"/>
            <a:ext cx="9069120" cy="1252800"/>
          </a:xfrm>
          <a:prstGeom prst="rect">
            <a:avLst/>
          </a:prstGeom>
          <a:noFill/>
          <a:ln w="0">
            <a:noFill/>
          </a:ln>
        </p:spPr>
        <p:txBody>
          <a:bodyPr lIns="0" rIns="0" tIns="0" bIns="0" anchor="ctr">
            <a:spAutoFit/>
          </a:bodyPr>
          <a:p>
            <a:pPr indent="0" algn="ctr">
              <a:lnSpc>
                <a:spcPct val="100000"/>
              </a:lnSpc>
              <a:buNone/>
              <a:tabLst>
                <a:tab algn="l" pos="0"/>
              </a:tabLst>
            </a:pPr>
            <a:r>
              <a:rPr b="0" lang="en-US" sz="4400" strike="noStrike" u="none">
                <a:solidFill>
                  <a:srgbClr val="000000"/>
                </a:solidFill>
                <a:effectLst/>
                <a:uFillTx/>
                <a:latin typeface="Arial"/>
              </a:rPr>
              <a:t>Research Plan: </a:t>
            </a:r>
            <a:br>
              <a:rPr sz="4400"/>
            </a:br>
            <a:r>
              <a:rPr b="0" lang="en-US" sz="4400" strike="noStrike" u="none">
                <a:solidFill>
                  <a:srgbClr val="000000"/>
                </a:solidFill>
                <a:effectLst/>
                <a:uFillTx/>
                <a:latin typeface="Arial"/>
              </a:rPr>
              <a:t>Two Stages/Directions</a:t>
            </a:r>
            <a:endParaRPr b="0" lang="en-AU" sz="4400" strike="noStrike" u="none">
              <a:solidFill>
                <a:srgbClr val="000000"/>
              </a:solidFill>
              <a:effectLst/>
              <a:uFillTx/>
              <a:latin typeface="Arial"/>
            </a:endParaRPr>
          </a:p>
        </p:txBody>
      </p:sp>
      <p:sp>
        <p:nvSpPr>
          <p:cNvPr id="99" name="PlaceHolder 2"/>
          <p:cNvSpPr>
            <a:spLocks noGrp="1"/>
          </p:cNvSpPr>
          <p:nvPr>
            <p:ph/>
          </p:nvPr>
        </p:nvSpPr>
        <p:spPr>
          <a:xfrm>
            <a:off x="900000" y="2225160"/>
            <a:ext cx="8457480" cy="2092320"/>
          </a:xfrm>
          <a:prstGeom prst="rect">
            <a:avLst/>
          </a:prstGeom>
          <a:noFill/>
          <a:ln w="0">
            <a:noFill/>
          </a:ln>
        </p:spPr>
        <p:txBody>
          <a:bodyPr lIns="0" rIns="0" tIns="0" bIns="0" anchor="t">
            <a:normAutofit fontScale="70000" lnSpcReduction="19999"/>
          </a:bodyPr>
          <a:p>
            <a:pPr indent="0">
              <a:lnSpc>
                <a:spcPct val="100000"/>
              </a:lnSpc>
              <a:spcBef>
                <a:spcPts val="1417"/>
              </a:spcBef>
              <a:buNone/>
              <a:tabLst>
                <a:tab algn="l" pos="0"/>
              </a:tabLst>
            </a:pPr>
            <a:r>
              <a:rPr b="1" lang="en-US" sz="2400" strike="noStrike" u="none">
                <a:solidFill>
                  <a:srgbClr val="000000"/>
                </a:solidFill>
                <a:effectLst/>
                <a:uFillTx/>
                <a:latin typeface="Arial"/>
              </a:rPr>
              <a:t>Stage 1</a:t>
            </a:r>
            <a:r>
              <a:rPr b="0" lang="en-US" sz="2400" strike="noStrike" u="none">
                <a:solidFill>
                  <a:srgbClr val="000000"/>
                </a:solidFill>
                <a:effectLst/>
                <a:uFillTx/>
                <a:latin typeface="Arial"/>
              </a:rPr>
              <a:t>: (Build an interpretable KT model right away, by scarifying some flexibility) </a:t>
            </a:r>
            <a:endParaRPr b="0" lang="en-AU" sz="2400" strike="noStrike" u="none">
              <a:solidFill>
                <a:srgbClr val="000000"/>
              </a:solidFill>
              <a:effectLst/>
              <a:uFillTx/>
              <a:latin typeface="Arial"/>
            </a:endParaRPr>
          </a:p>
          <a:p>
            <a:pPr indent="0">
              <a:lnSpc>
                <a:spcPct val="100000"/>
              </a:lnSpc>
              <a:spcBef>
                <a:spcPts val="1417"/>
              </a:spcBef>
              <a:buNone/>
              <a:tabLst>
                <a:tab algn="l" pos="0"/>
              </a:tabLst>
            </a:pPr>
            <a:r>
              <a:rPr b="0" lang="en-US" sz="2400" strike="noStrike" u="none">
                <a:solidFill>
                  <a:srgbClr val="000000"/>
                </a:solidFill>
                <a:effectLst/>
                <a:uFillTx/>
                <a:latin typeface="Arial"/>
              </a:rPr>
              <a:t>Use a language model to generate human-readable KCs to initialise and train a Graph-KT model.</a:t>
            </a:r>
            <a:endParaRPr b="0" lang="en-AU" sz="2400" strike="noStrike" u="none">
              <a:solidFill>
                <a:srgbClr val="000000"/>
              </a:solidFill>
              <a:effectLst/>
              <a:uFillTx/>
              <a:latin typeface="Arial"/>
            </a:endParaRPr>
          </a:p>
          <a:p>
            <a:pPr indent="0">
              <a:lnSpc>
                <a:spcPct val="100000"/>
              </a:lnSpc>
              <a:spcBef>
                <a:spcPts val="1417"/>
              </a:spcBef>
              <a:buNone/>
              <a:tabLst>
                <a:tab algn="l" pos="0"/>
              </a:tabLst>
            </a:pPr>
            <a:endParaRPr b="0" lang="en-AU" sz="2400" strike="noStrike" u="none">
              <a:solidFill>
                <a:srgbClr val="000000"/>
              </a:solidFill>
              <a:effectLst/>
              <a:uFillTx/>
              <a:latin typeface="Arial"/>
            </a:endParaRPr>
          </a:p>
          <a:p>
            <a:pPr indent="0">
              <a:lnSpc>
                <a:spcPct val="100000"/>
              </a:lnSpc>
              <a:spcBef>
                <a:spcPts val="1417"/>
              </a:spcBef>
              <a:buNone/>
              <a:tabLst>
                <a:tab algn="l" pos="0"/>
              </a:tabLst>
            </a:pPr>
            <a:r>
              <a:rPr b="1" lang="en-US" sz="2400" strike="noStrike" u="none">
                <a:solidFill>
                  <a:srgbClr val="000000"/>
                </a:solidFill>
                <a:effectLst/>
                <a:uFillTx/>
                <a:latin typeface="Arial"/>
              </a:rPr>
              <a:t>Stage 2</a:t>
            </a:r>
            <a:r>
              <a:rPr b="0" lang="en-US" sz="2400" strike="noStrike" u="none">
                <a:solidFill>
                  <a:srgbClr val="000000"/>
                </a:solidFill>
                <a:effectLst/>
                <a:uFillTx/>
                <a:latin typeface="Arial"/>
              </a:rPr>
              <a:t>: (Make a flexible KT model interpretable as well) </a:t>
            </a:r>
            <a:endParaRPr b="0" lang="en-AU" sz="2400" strike="noStrike" u="none">
              <a:solidFill>
                <a:srgbClr val="000000"/>
              </a:solidFill>
              <a:effectLst/>
              <a:uFillTx/>
              <a:latin typeface="Arial"/>
            </a:endParaRPr>
          </a:p>
          <a:p>
            <a:pPr indent="0">
              <a:lnSpc>
                <a:spcPct val="100000"/>
              </a:lnSpc>
              <a:spcBef>
                <a:spcPts val="1417"/>
              </a:spcBef>
              <a:buNone/>
              <a:tabLst>
                <a:tab algn="l" pos="0"/>
              </a:tabLst>
            </a:pPr>
            <a:r>
              <a:rPr b="0" lang="en-US" sz="2400" strike="noStrike" u="none">
                <a:solidFill>
                  <a:srgbClr val="000000"/>
                </a:solidFill>
                <a:effectLst/>
                <a:uFillTx/>
                <a:latin typeface="Arial"/>
              </a:rPr>
              <a:t>Given a trained Graph-KT model, map its implicit KC nodes embedding to some meaningful and human-interpretable KCs / text.</a:t>
            </a:r>
            <a:endParaRPr b="0" lang="en-AU" sz="2400" strike="noStrike" u="none">
              <a:solidFill>
                <a:srgbClr val="000000"/>
              </a:solidFill>
              <a:effectLst/>
              <a:uFillTx/>
              <a:latin typeface="Arial"/>
            </a:endParaRPr>
          </a:p>
        </p:txBody>
      </p:sp>
      <p:sp>
        <p:nvSpPr>
          <p:cNvPr id="4" name="PlaceHolder 3"/>
          <p:cNvSpPr>
            <a:spLocks noGrp="1"/>
          </p:cNvSpPr>
          <p:nvPr>
            <p:ph type="sldNum" idx="2"/>
          </p:nvPr>
        </p:nvSpPr>
        <p:spPr/>
        <p:txBody>
          <a:bodyPr/>
          <a:p>
            <a:fld id="{60FFC4AE-23F2-4794-9281-DE9710C2FC6F}" type="slidenum">
              <a:t>25</a:t>
            </a:fld>
          </a:p>
        </p:txBody>
      </p:sp>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0" name="PlaceHolder 1"/>
          <p:cNvSpPr>
            <a:spLocks noGrp="1"/>
          </p:cNvSpPr>
          <p:nvPr>
            <p:ph type="title"/>
          </p:nvPr>
        </p:nvSpPr>
        <p:spPr>
          <a:xfrm>
            <a:off x="360000" y="177480"/>
            <a:ext cx="4173480" cy="948960"/>
          </a:xfrm>
          <a:prstGeom prst="rect">
            <a:avLst/>
          </a:prstGeom>
          <a:noFill/>
          <a:ln w="0">
            <a:noFill/>
          </a:ln>
        </p:spPr>
        <p:txBody>
          <a:bodyPr lIns="0" rIns="0" tIns="0" bIns="0" anchor="ctr">
            <a:spAutoFit/>
          </a:bodyPr>
          <a:p>
            <a:pPr indent="0" algn="ctr">
              <a:lnSpc>
                <a:spcPct val="100000"/>
              </a:lnSpc>
              <a:buNone/>
              <a:tabLst>
                <a:tab algn="l" pos="0"/>
              </a:tabLst>
            </a:pPr>
            <a:r>
              <a:rPr b="0" lang="en-US" sz="2600" strike="noStrike" u="none">
                <a:solidFill>
                  <a:srgbClr val="000000"/>
                </a:solidFill>
                <a:effectLst/>
                <a:uFillTx/>
                <a:latin typeface="Arial"/>
              </a:rPr>
              <a:t>Stage 1: LLM for GNN Initialisation</a:t>
            </a:r>
            <a:endParaRPr b="0" lang="en-AU" sz="2600" strike="noStrike" u="none">
              <a:solidFill>
                <a:srgbClr val="000000"/>
              </a:solidFill>
              <a:effectLst/>
              <a:uFillTx/>
              <a:latin typeface="Arial"/>
            </a:endParaRPr>
          </a:p>
        </p:txBody>
      </p:sp>
      <p:sp>
        <p:nvSpPr>
          <p:cNvPr id="101" name="PlaceHolder 2"/>
          <p:cNvSpPr>
            <a:spLocks noGrp="1"/>
          </p:cNvSpPr>
          <p:nvPr>
            <p:ph/>
          </p:nvPr>
        </p:nvSpPr>
        <p:spPr>
          <a:xfrm>
            <a:off x="360000" y="1391760"/>
            <a:ext cx="4353480" cy="3825720"/>
          </a:xfrm>
          <a:prstGeom prst="rect">
            <a:avLst/>
          </a:prstGeom>
          <a:noFill/>
          <a:ln w="0">
            <a:noFill/>
          </a:ln>
        </p:spPr>
        <p:txBody>
          <a:bodyPr lIns="0" rIns="0" tIns="0" bIns="0" anchor="t">
            <a:normAutofit fontScale="92500" lnSpcReduction="9999"/>
          </a:bodyPr>
          <a:p>
            <a:pPr indent="0">
              <a:lnSpc>
                <a:spcPct val="100000"/>
              </a:lnSpc>
              <a:spcBef>
                <a:spcPts val="1417"/>
              </a:spcBef>
              <a:buNone/>
              <a:tabLst>
                <a:tab algn="l" pos="0"/>
              </a:tabLst>
            </a:pPr>
            <a:r>
              <a:rPr b="0" lang="en-US" sz="1400" strike="noStrike" u="none">
                <a:solidFill>
                  <a:srgbClr val="000000"/>
                </a:solidFill>
                <a:effectLst/>
                <a:uFillTx/>
                <a:latin typeface="Arial"/>
              </a:rPr>
              <a:t>Given the student history [(Question ID, Question Text, Result)]</a:t>
            </a:r>
            <a:endParaRPr b="0" lang="en-AU" sz="1400" strike="noStrike" u="none">
              <a:solidFill>
                <a:srgbClr val="000000"/>
              </a:solidFill>
              <a:effectLst/>
              <a:uFillTx/>
              <a:latin typeface="Arial"/>
            </a:endParaRPr>
          </a:p>
          <a:p>
            <a:pPr marL="432000" indent="-324000">
              <a:lnSpc>
                <a:spcPct val="100000"/>
              </a:lnSpc>
              <a:spcBef>
                <a:spcPts val="1417"/>
              </a:spcBef>
              <a:buClr>
                <a:srgbClr val="000000"/>
              </a:buClr>
              <a:buFont typeface="OpenSymbol"/>
              <a:buAutoNum type="arabicParenR"/>
              <a:tabLst>
                <a:tab algn="l" pos="0"/>
              </a:tabLst>
            </a:pPr>
            <a:r>
              <a:rPr b="0" lang="en-US" sz="1400" strike="noStrike" u="none">
                <a:solidFill>
                  <a:srgbClr val="000000"/>
                </a:solidFill>
                <a:effectLst/>
                <a:uFillTx/>
                <a:latin typeface="Arial"/>
              </a:rPr>
              <a:t>Train a language model to generate all possible real-world KCs from the question text.</a:t>
            </a:r>
            <a:endParaRPr b="0" lang="en-AU" sz="1400" strike="noStrike" u="none">
              <a:solidFill>
                <a:srgbClr val="000000"/>
              </a:solidFill>
              <a:effectLst/>
              <a:uFillTx/>
              <a:latin typeface="Arial"/>
            </a:endParaRPr>
          </a:p>
          <a:p>
            <a:pPr marL="432000" indent="-324000">
              <a:lnSpc>
                <a:spcPct val="100000"/>
              </a:lnSpc>
              <a:spcBef>
                <a:spcPts val="1417"/>
              </a:spcBef>
              <a:buClr>
                <a:srgbClr val="000000"/>
              </a:buClr>
              <a:buFont typeface="OpenSymbol"/>
              <a:buAutoNum type="arabicParenR"/>
              <a:tabLst>
                <a:tab algn="l" pos="0"/>
              </a:tabLst>
            </a:pPr>
            <a:r>
              <a:rPr b="0" lang="en-US" sz="1400" strike="noStrike" u="none">
                <a:solidFill>
                  <a:srgbClr val="000000"/>
                </a:solidFill>
                <a:effectLst/>
                <a:uFillTx/>
                <a:latin typeface="Arial"/>
              </a:rPr>
              <a:t>Use them to initialise the nodes of a Graph-KT Models. </a:t>
            </a:r>
            <a:endParaRPr b="0" lang="en-AU" sz="1400" strike="noStrike" u="none">
              <a:solidFill>
                <a:srgbClr val="000000"/>
              </a:solidFill>
              <a:effectLst/>
              <a:uFillTx/>
              <a:latin typeface="Arial"/>
            </a:endParaRPr>
          </a:p>
          <a:p>
            <a:pPr marL="432000" indent="-324000">
              <a:lnSpc>
                <a:spcPct val="100000"/>
              </a:lnSpc>
              <a:spcBef>
                <a:spcPts val="1417"/>
              </a:spcBef>
              <a:buClr>
                <a:srgbClr val="000000"/>
              </a:buClr>
              <a:buFont typeface="OpenSymbol"/>
              <a:buAutoNum type="arabicParenR"/>
              <a:tabLst>
                <a:tab algn="l" pos="0"/>
              </a:tabLst>
            </a:pPr>
            <a:r>
              <a:rPr b="0" lang="en-US" sz="1400" strike="noStrike" u="none">
                <a:solidFill>
                  <a:srgbClr val="000000"/>
                </a:solidFill>
                <a:effectLst/>
                <a:uFillTx/>
                <a:latin typeface="Arial"/>
              </a:rPr>
              <a:t>Fix the nodes as well as the mapping between questions and KC nodes during training.</a:t>
            </a:r>
            <a:endParaRPr b="0" lang="en-AU" sz="1400" strike="noStrike" u="none">
              <a:solidFill>
                <a:srgbClr val="000000"/>
              </a:solidFill>
              <a:effectLst/>
              <a:uFillTx/>
              <a:latin typeface="Arial"/>
            </a:endParaRPr>
          </a:p>
          <a:p>
            <a:pPr marL="432000" indent="-324000">
              <a:lnSpc>
                <a:spcPct val="100000"/>
              </a:lnSpc>
              <a:spcBef>
                <a:spcPts val="1417"/>
              </a:spcBef>
              <a:buClr>
                <a:srgbClr val="000000"/>
              </a:buClr>
              <a:buFont typeface="OpenSymbol"/>
              <a:buAutoNum type="arabicParenR"/>
              <a:tabLst>
                <a:tab algn="l" pos="0"/>
              </a:tabLst>
            </a:pPr>
            <a:r>
              <a:rPr b="0" lang="en-US" sz="1400" strike="noStrike" u="none">
                <a:solidFill>
                  <a:srgbClr val="000000"/>
                </a:solidFill>
                <a:effectLst/>
                <a:uFillTx/>
                <a:latin typeface="Arial"/>
                <a:ea typeface="Noto Sans CJK SC"/>
              </a:rPr>
              <a:t>The trained KT model should inherently contain explicit and interpretable KCs</a:t>
            </a:r>
            <a:endParaRPr b="0" lang="en-AU" sz="1400" strike="noStrike" u="none">
              <a:solidFill>
                <a:srgbClr val="000000"/>
              </a:solidFill>
              <a:effectLst/>
              <a:uFillTx/>
              <a:latin typeface="Arial"/>
            </a:endParaRPr>
          </a:p>
          <a:p>
            <a:pPr indent="0">
              <a:lnSpc>
                <a:spcPct val="100000"/>
              </a:lnSpc>
              <a:spcBef>
                <a:spcPts val="1417"/>
              </a:spcBef>
              <a:buNone/>
              <a:tabLst>
                <a:tab algn="l" pos="0"/>
              </a:tabLst>
            </a:pPr>
            <a:r>
              <a:rPr b="0" lang="en-US" sz="1400" strike="noStrike" u="none">
                <a:solidFill>
                  <a:srgbClr val="000000"/>
                </a:solidFill>
                <a:effectLst/>
                <a:uFillTx/>
                <a:latin typeface="Arial"/>
                <a:ea typeface="Noto Sans CJK SC"/>
              </a:rPr>
              <a:t>Limitation:</a:t>
            </a:r>
            <a:endParaRPr b="0" lang="en-AU" sz="1400" strike="noStrike" u="none">
              <a:solidFill>
                <a:srgbClr val="000000"/>
              </a:solidFill>
              <a:effectLst/>
              <a:uFillTx/>
              <a:latin typeface="Arial"/>
            </a:endParaRPr>
          </a:p>
          <a:p>
            <a:pPr indent="0">
              <a:lnSpc>
                <a:spcPct val="100000"/>
              </a:lnSpc>
              <a:spcBef>
                <a:spcPts val="1417"/>
              </a:spcBef>
              <a:buNone/>
              <a:tabLst>
                <a:tab algn="l" pos="0"/>
              </a:tabLst>
            </a:pPr>
            <a:r>
              <a:rPr b="0" lang="en-US" sz="1400" strike="noStrike" u="none">
                <a:solidFill>
                  <a:srgbClr val="000000"/>
                </a:solidFill>
                <a:effectLst/>
                <a:uFillTx/>
                <a:latin typeface="Arial"/>
                <a:ea typeface="Noto Sans CJK SC"/>
              </a:rPr>
              <a:t>We can no longer model complex KCs and their relations, e.g., hierarchical KCs, if we does not explicitly do so, since they are fixed during training.</a:t>
            </a:r>
            <a:endParaRPr b="0" lang="en-AU" sz="1400" strike="noStrike" u="none">
              <a:solidFill>
                <a:srgbClr val="000000"/>
              </a:solidFill>
              <a:effectLst/>
              <a:uFillTx/>
              <a:latin typeface="Arial"/>
            </a:endParaRPr>
          </a:p>
          <a:p>
            <a:pPr indent="0">
              <a:lnSpc>
                <a:spcPct val="100000"/>
              </a:lnSpc>
              <a:spcBef>
                <a:spcPts val="1417"/>
              </a:spcBef>
              <a:buNone/>
              <a:tabLst>
                <a:tab algn="l" pos="0"/>
              </a:tabLst>
            </a:pPr>
            <a:r>
              <a:rPr b="0" lang="en-US" sz="1400" strike="noStrike" u="none">
                <a:solidFill>
                  <a:srgbClr val="000000"/>
                </a:solidFill>
                <a:effectLst/>
                <a:uFillTx/>
                <a:latin typeface="Arial"/>
                <a:ea typeface="Noto Sans CJK SC"/>
              </a:rPr>
              <a:t>Explicitness ⬆️  Interpretability ⬆️  Flexibility ⬇️ </a:t>
            </a:r>
            <a:endParaRPr b="0" lang="en-AU" sz="1400" strike="noStrike" u="none">
              <a:solidFill>
                <a:srgbClr val="000000"/>
              </a:solidFill>
              <a:effectLst/>
              <a:uFillTx/>
              <a:latin typeface="Arial"/>
            </a:endParaRPr>
          </a:p>
          <a:p>
            <a:pPr indent="0">
              <a:lnSpc>
                <a:spcPct val="100000"/>
              </a:lnSpc>
              <a:spcBef>
                <a:spcPts val="1417"/>
              </a:spcBef>
              <a:buNone/>
              <a:tabLst>
                <a:tab algn="l" pos="0"/>
              </a:tabLst>
            </a:pPr>
            <a:endParaRPr b="0" lang="en-AU" sz="1400" strike="noStrike" u="none">
              <a:solidFill>
                <a:srgbClr val="000000"/>
              </a:solidFill>
              <a:effectLst/>
              <a:uFillTx/>
              <a:latin typeface="Arial"/>
            </a:endParaRPr>
          </a:p>
          <a:p>
            <a:pPr indent="0">
              <a:lnSpc>
                <a:spcPct val="100000"/>
              </a:lnSpc>
              <a:spcBef>
                <a:spcPts val="1417"/>
              </a:spcBef>
              <a:buNone/>
              <a:tabLst>
                <a:tab algn="l" pos="0"/>
              </a:tabLst>
            </a:pPr>
            <a:endParaRPr b="0" lang="en-AU" sz="1400" strike="noStrike" u="none">
              <a:solidFill>
                <a:srgbClr val="000000"/>
              </a:solidFill>
              <a:effectLst/>
              <a:uFillTx/>
              <a:latin typeface="Arial"/>
            </a:endParaRPr>
          </a:p>
          <a:p>
            <a:pPr indent="0">
              <a:lnSpc>
                <a:spcPct val="100000"/>
              </a:lnSpc>
              <a:spcBef>
                <a:spcPts val="1417"/>
              </a:spcBef>
              <a:buNone/>
              <a:tabLst>
                <a:tab algn="l" pos="0"/>
              </a:tabLst>
            </a:pPr>
            <a:endParaRPr b="0" lang="en-AU" sz="1400" strike="noStrike" u="none">
              <a:solidFill>
                <a:srgbClr val="000000"/>
              </a:solidFill>
              <a:effectLst/>
              <a:uFillTx/>
              <a:latin typeface="Arial"/>
            </a:endParaRPr>
          </a:p>
          <a:p>
            <a:pPr indent="0">
              <a:lnSpc>
                <a:spcPct val="100000"/>
              </a:lnSpc>
              <a:spcBef>
                <a:spcPts val="1417"/>
              </a:spcBef>
              <a:buNone/>
              <a:tabLst>
                <a:tab algn="l" pos="0"/>
              </a:tabLst>
            </a:pPr>
            <a:endParaRPr b="0" lang="en-AU" sz="1400" strike="noStrike" u="none">
              <a:solidFill>
                <a:srgbClr val="000000"/>
              </a:solidFill>
              <a:effectLst/>
              <a:uFillTx/>
              <a:latin typeface="Arial"/>
            </a:endParaRPr>
          </a:p>
          <a:p>
            <a:pPr indent="0">
              <a:lnSpc>
                <a:spcPct val="100000"/>
              </a:lnSpc>
              <a:spcBef>
                <a:spcPts val="1417"/>
              </a:spcBef>
              <a:buNone/>
              <a:tabLst>
                <a:tab algn="l" pos="0"/>
              </a:tabLst>
            </a:pPr>
            <a:endParaRPr b="0" lang="en-AU" sz="1400" strike="noStrike" u="none">
              <a:solidFill>
                <a:srgbClr val="000000"/>
              </a:solidFill>
              <a:effectLst/>
              <a:uFillTx/>
              <a:latin typeface="Arial"/>
            </a:endParaRPr>
          </a:p>
          <a:p>
            <a:pPr indent="0">
              <a:lnSpc>
                <a:spcPct val="100000"/>
              </a:lnSpc>
              <a:spcBef>
                <a:spcPts val="1417"/>
              </a:spcBef>
              <a:buNone/>
              <a:tabLst>
                <a:tab algn="l" pos="0"/>
              </a:tabLst>
            </a:pPr>
            <a:endParaRPr b="0" lang="en-AU" sz="1400" strike="noStrike" u="none">
              <a:solidFill>
                <a:srgbClr val="000000"/>
              </a:solidFill>
              <a:effectLst/>
              <a:uFillTx/>
              <a:latin typeface="Arial"/>
            </a:endParaRPr>
          </a:p>
          <a:p>
            <a:pPr indent="0">
              <a:lnSpc>
                <a:spcPct val="100000"/>
              </a:lnSpc>
              <a:spcBef>
                <a:spcPts val="1417"/>
              </a:spcBef>
              <a:buNone/>
              <a:tabLst>
                <a:tab algn="l" pos="0"/>
              </a:tabLst>
            </a:pPr>
            <a:endParaRPr b="0" lang="en-AU" sz="1400" strike="noStrike" u="none">
              <a:solidFill>
                <a:srgbClr val="000000"/>
              </a:solidFill>
              <a:effectLst/>
              <a:uFillTx/>
              <a:latin typeface="Arial"/>
            </a:endParaRPr>
          </a:p>
          <a:p>
            <a:pPr indent="0">
              <a:lnSpc>
                <a:spcPct val="100000"/>
              </a:lnSpc>
              <a:spcBef>
                <a:spcPts val="1417"/>
              </a:spcBef>
              <a:buNone/>
              <a:tabLst>
                <a:tab algn="l" pos="0"/>
              </a:tabLst>
            </a:pPr>
            <a:endParaRPr b="0" lang="en-AU" sz="1400" strike="noStrike" u="none">
              <a:solidFill>
                <a:srgbClr val="000000"/>
              </a:solidFill>
              <a:effectLst/>
              <a:uFillTx/>
              <a:latin typeface="Arial"/>
            </a:endParaRPr>
          </a:p>
          <a:p>
            <a:pPr indent="0">
              <a:lnSpc>
                <a:spcPct val="100000"/>
              </a:lnSpc>
              <a:spcBef>
                <a:spcPts val="1417"/>
              </a:spcBef>
              <a:buNone/>
              <a:tabLst>
                <a:tab algn="l" pos="0"/>
              </a:tabLst>
            </a:pPr>
            <a:endParaRPr b="0" lang="en-AU" sz="1400" strike="noStrike" u="none">
              <a:solidFill>
                <a:srgbClr val="000000"/>
              </a:solidFill>
              <a:effectLst/>
              <a:uFillTx/>
              <a:latin typeface="Arial"/>
            </a:endParaRPr>
          </a:p>
          <a:p>
            <a:pPr indent="0">
              <a:lnSpc>
                <a:spcPct val="100000"/>
              </a:lnSpc>
              <a:spcBef>
                <a:spcPts val="1417"/>
              </a:spcBef>
              <a:buNone/>
              <a:tabLst>
                <a:tab algn="l" pos="0"/>
              </a:tabLst>
            </a:pPr>
            <a:endParaRPr b="0" lang="en-AU" sz="2400" strike="noStrike" u="none">
              <a:solidFill>
                <a:srgbClr val="000000"/>
              </a:solidFill>
              <a:effectLst/>
              <a:uFillTx/>
              <a:latin typeface="Arial"/>
            </a:endParaRPr>
          </a:p>
          <a:p>
            <a:pPr indent="0">
              <a:lnSpc>
                <a:spcPct val="100000"/>
              </a:lnSpc>
              <a:spcBef>
                <a:spcPts val="1417"/>
              </a:spcBef>
              <a:buNone/>
              <a:tabLst>
                <a:tab algn="l" pos="0"/>
              </a:tabLst>
            </a:pPr>
            <a:endParaRPr b="0" lang="en-AU" sz="2400" strike="noStrike" u="none">
              <a:solidFill>
                <a:srgbClr val="000000"/>
              </a:solidFill>
              <a:effectLst/>
              <a:uFillTx/>
              <a:latin typeface="Arial"/>
            </a:endParaRPr>
          </a:p>
          <a:p>
            <a:pPr marL="432000" indent="0">
              <a:lnSpc>
                <a:spcPct val="100000"/>
              </a:lnSpc>
              <a:spcBef>
                <a:spcPts val="1417"/>
              </a:spcBef>
              <a:buNone/>
              <a:tabLst>
                <a:tab algn="l" pos="0"/>
              </a:tabLst>
            </a:pPr>
            <a:endParaRPr b="0" lang="en-AU" sz="2400" strike="noStrike" u="none">
              <a:solidFill>
                <a:srgbClr val="000000"/>
              </a:solidFill>
              <a:effectLst/>
              <a:uFillTx/>
              <a:latin typeface="Arial"/>
            </a:endParaRPr>
          </a:p>
          <a:p>
            <a:pPr marL="432000" indent="0">
              <a:lnSpc>
                <a:spcPct val="100000"/>
              </a:lnSpc>
              <a:spcBef>
                <a:spcPts val="1417"/>
              </a:spcBef>
              <a:buNone/>
              <a:tabLst>
                <a:tab algn="l" pos="0"/>
              </a:tabLst>
            </a:pPr>
            <a:endParaRPr b="0" lang="en-AU" sz="2400" strike="noStrike" u="none">
              <a:solidFill>
                <a:srgbClr val="000000"/>
              </a:solidFill>
              <a:effectLst/>
              <a:uFillTx/>
              <a:latin typeface="Arial"/>
            </a:endParaRPr>
          </a:p>
          <a:p>
            <a:pPr marL="432000" indent="0">
              <a:lnSpc>
                <a:spcPct val="100000"/>
              </a:lnSpc>
              <a:spcBef>
                <a:spcPts val="1417"/>
              </a:spcBef>
              <a:buNone/>
              <a:tabLst>
                <a:tab algn="l" pos="0"/>
              </a:tabLst>
            </a:pPr>
            <a:endParaRPr b="0" lang="en-AU" sz="2400" strike="noStrike" u="none">
              <a:solidFill>
                <a:srgbClr val="000000"/>
              </a:solidFill>
              <a:effectLst/>
              <a:uFillTx/>
              <a:latin typeface="Arial"/>
            </a:endParaRPr>
          </a:p>
          <a:p>
            <a:pPr marL="432000" indent="0">
              <a:lnSpc>
                <a:spcPct val="100000"/>
              </a:lnSpc>
              <a:spcBef>
                <a:spcPts val="1417"/>
              </a:spcBef>
              <a:buNone/>
              <a:tabLst>
                <a:tab algn="l" pos="0"/>
              </a:tabLst>
            </a:pPr>
            <a:endParaRPr b="0" lang="en-AU" sz="2400" strike="noStrike" u="none">
              <a:solidFill>
                <a:srgbClr val="000000"/>
              </a:solidFill>
              <a:effectLst/>
              <a:uFillTx/>
              <a:latin typeface="Arial"/>
            </a:endParaRPr>
          </a:p>
        </p:txBody>
      </p:sp>
      <p:pic>
        <p:nvPicPr>
          <p:cNvPr id="102" name="" descr=""/>
          <p:cNvPicPr/>
          <p:nvPr/>
        </p:nvPicPr>
        <p:blipFill>
          <a:blip r:embed="rId1"/>
          <a:stretch/>
        </p:blipFill>
        <p:spPr>
          <a:xfrm>
            <a:off x="5040000" y="180000"/>
            <a:ext cx="3417480" cy="5291640"/>
          </a:xfrm>
          <a:prstGeom prst="rect">
            <a:avLst/>
          </a:prstGeom>
          <a:noFill/>
          <a:ln w="0">
            <a:noFill/>
          </a:ln>
        </p:spPr>
      </p:pic>
      <p:sp>
        <p:nvSpPr>
          <p:cNvPr id="103" name=""/>
          <p:cNvSpPr/>
          <p:nvPr/>
        </p:nvSpPr>
        <p:spPr>
          <a:xfrm>
            <a:off x="7740000" y="3420000"/>
            <a:ext cx="2157480" cy="179424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en-US" sz="1200" strike="noStrike" u="none">
                <a:solidFill>
                  <a:srgbClr val="ff0000"/>
                </a:solidFill>
                <a:effectLst/>
                <a:uFillTx/>
                <a:latin typeface="Arial"/>
                <a:ea typeface="DejaVu Sans"/>
              </a:rPr>
              <a:t>Dynamically Initialised.</a:t>
            </a:r>
            <a:endParaRPr b="0" lang="en-AU" sz="1200" strike="noStrike" u="none">
              <a:solidFill>
                <a:srgbClr val="000000"/>
              </a:solidFill>
              <a:effectLst/>
              <a:uFillTx/>
              <a:latin typeface="Arial"/>
            </a:endParaRPr>
          </a:p>
          <a:p>
            <a:pPr>
              <a:lnSpc>
                <a:spcPct val="100000"/>
              </a:lnSpc>
            </a:pPr>
            <a:r>
              <a:rPr b="0" lang="en-US" sz="1200" strike="noStrike" u="none">
                <a:solidFill>
                  <a:srgbClr val="ff0000"/>
                </a:solidFill>
                <a:effectLst/>
                <a:uFillTx/>
                <a:latin typeface="Arial"/>
                <a:ea typeface="DejaVu Sans"/>
              </a:rPr>
              <a:t>Fixed during Training.</a:t>
            </a:r>
            <a:endParaRPr b="0" lang="en-AU" sz="1200" strike="noStrike" u="none">
              <a:solidFill>
                <a:srgbClr val="000000"/>
              </a:solidFill>
              <a:effectLst/>
              <a:uFillTx/>
              <a:latin typeface="Arial"/>
            </a:endParaRPr>
          </a:p>
          <a:p>
            <a:pPr>
              <a:lnSpc>
                <a:spcPct val="100000"/>
              </a:lnSpc>
            </a:pPr>
            <a:endParaRPr b="0" lang="en-AU" sz="1200" strike="noStrike" u="none">
              <a:solidFill>
                <a:srgbClr val="000000"/>
              </a:solidFill>
              <a:effectLst/>
              <a:uFillTx/>
              <a:latin typeface="Arial"/>
            </a:endParaRPr>
          </a:p>
          <a:p>
            <a:pPr>
              <a:lnSpc>
                <a:spcPct val="100000"/>
              </a:lnSpc>
            </a:pPr>
            <a:r>
              <a:rPr b="0" lang="en-US" sz="1200" strike="noStrike" u="none">
                <a:solidFill>
                  <a:srgbClr val="2a6099"/>
                </a:solidFill>
                <a:effectLst/>
                <a:uFillTx/>
                <a:latin typeface="Arial"/>
                <a:ea typeface="DejaVu Sans"/>
              </a:rPr>
              <a:t>Static/global parameters</a:t>
            </a:r>
            <a:endParaRPr b="0" lang="en-AU" sz="1200" strike="noStrike" u="none">
              <a:solidFill>
                <a:srgbClr val="000000"/>
              </a:solidFill>
              <a:effectLst/>
              <a:uFillTx/>
              <a:latin typeface="Arial"/>
            </a:endParaRPr>
          </a:p>
          <a:p>
            <a:pPr>
              <a:lnSpc>
                <a:spcPct val="100000"/>
              </a:lnSpc>
            </a:pPr>
            <a:r>
              <a:rPr b="0" lang="en-US" sz="1200" strike="noStrike" u="none">
                <a:solidFill>
                  <a:srgbClr val="000000"/>
                </a:solidFill>
                <a:effectLst/>
                <a:uFillTx/>
                <a:latin typeface="Arial"/>
                <a:ea typeface="DejaVu Sans"/>
              </a:rPr>
              <a:t>Learned during training</a:t>
            </a:r>
            <a:endParaRPr b="0" lang="en-AU" sz="1200" strike="noStrike" u="none">
              <a:solidFill>
                <a:srgbClr val="000000"/>
              </a:solidFill>
              <a:effectLst/>
              <a:uFillTx/>
              <a:latin typeface="Arial"/>
            </a:endParaRPr>
          </a:p>
          <a:p>
            <a:pPr>
              <a:lnSpc>
                <a:spcPct val="100000"/>
              </a:lnSpc>
            </a:pPr>
            <a:r>
              <a:rPr b="0" lang="en-US" sz="1200" strike="noStrike" u="none">
                <a:solidFill>
                  <a:srgbClr val="000000"/>
                </a:solidFill>
                <a:effectLst/>
                <a:uFillTx/>
                <a:latin typeface="Arial"/>
                <a:ea typeface="DejaVu Sans"/>
              </a:rPr>
              <a:t>Fixed at inference</a:t>
            </a:r>
            <a:endParaRPr b="0" lang="en-AU" sz="1200" strike="noStrike" u="none">
              <a:solidFill>
                <a:srgbClr val="000000"/>
              </a:solidFill>
              <a:effectLst/>
              <a:uFillTx/>
              <a:latin typeface="Arial"/>
            </a:endParaRPr>
          </a:p>
          <a:p>
            <a:pPr>
              <a:lnSpc>
                <a:spcPct val="100000"/>
              </a:lnSpc>
            </a:pPr>
            <a:endParaRPr b="0" lang="en-AU" sz="1200" strike="noStrike" u="none">
              <a:solidFill>
                <a:srgbClr val="000000"/>
              </a:solidFill>
              <a:effectLst/>
              <a:uFillTx/>
              <a:latin typeface="Arial"/>
            </a:endParaRPr>
          </a:p>
          <a:p>
            <a:pPr>
              <a:lnSpc>
                <a:spcPct val="100000"/>
              </a:lnSpc>
            </a:pPr>
            <a:r>
              <a:rPr b="0" lang="en-US" sz="1200" strike="noStrike" u="none">
                <a:solidFill>
                  <a:srgbClr val="00a933"/>
                </a:solidFill>
                <a:effectLst/>
                <a:uFillTx/>
                <a:latin typeface="Arial"/>
                <a:ea typeface="DejaVu Sans"/>
              </a:rPr>
              <a:t>Dynamic/online parameters</a:t>
            </a:r>
            <a:r>
              <a:rPr b="0" lang="en-US" sz="1200" strike="noStrike" u="none">
                <a:solidFill>
                  <a:srgbClr val="000000"/>
                </a:solidFill>
                <a:effectLst/>
                <a:uFillTx/>
                <a:latin typeface="Arial"/>
                <a:ea typeface="DejaVu Sans"/>
              </a:rPr>
              <a:t> </a:t>
            </a:r>
            <a:endParaRPr b="0" lang="en-AU" sz="1200" strike="noStrike" u="none">
              <a:solidFill>
                <a:srgbClr val="000000"/>
              </a:solidFill>
              <a:effectLst/>
              <a:uFillTx/>
              <a:latin typeface="Arial"/>
            </a:endParaRPr>
          </a:p>
          <a:p>
            <a:pPr>
              <a:lnSpc>
                <a:spcPct val="100000"/>
              </a:lnSpc>
            </a:pPr>
            <a:r>
              <a:rPr b="0" lang="en-US" sz="1200" strike="noStrike" u="none">
                <a:solidFill>
                  <a:srgbClr val="000000"/>
                </a:solidFill>
                <a:effectLst/>
                <a:uFillTx/>
                <a:latin typeface="Arial"/>
                <a:ea typeface="DejaVu Sans"/>
              </a:rPr>
              <a:t>Update during inference</a:t>
            </a:r>
            <a:endParaRPr b="0" lang="en-AU" sz="1200" strike="noStrike" u="none">
              <a:solidFill>
                <a:srgbClr val="000000"/>
              </a:solidFill>
              <a:effectLst/>
              <a:uFillTx/>
              <a:latin typeface="Arial"/>
            </a:endParaRPr>
          </a:p>
        </p:txBody>
      </p:sp>
      <p:sp>
        <p:nvSpPr>
          <p:cNvPr id="4" name="PlaceHolder 3"/>
          <p:cNvSpPr>
            <a:spLocks noGrp="1"/>
          </p:cNvSpPr>
          <p:nvPr>
            <p:ph type="sldNum" idx="2"/>
          </p:nvPr>
        </p:nvSpPr>
        <p:spPr/>
        <p:txBody>
          <a:bodyPr/>
          <a:p>
            <a:fld id="{7C56F164-99D4-405D-81A5-181A569DF132}" type="slidenum">
              <a:t>26</a:t>
            </a:fld>
          </a:p>
        </p:txBody>
      </p:sp>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4" name=""/>
          <p:cNvSpPr/>
          <p:nvPr/>
        </p:nvSpPr>
        <p:spPr>
          <a:xfrm>
            <a:off x="360000" y="260280"/>
            <a:ext cx="4137480" cy="45720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en-US" sz="2600" strike="noStrike" u="none">
                <a:solidFill>
                  <a:srgbClr val="000000"/>
                </a:solidFill>
                <a:effectLst/>
                <a:uFillTx/>
                <a:latin typeface="Arial"/>
                <a:ea typeface="DejaVu Sans"/>
              </a:rPr>
              <a:t>Stage 2: LLM-GNN Fusion</a:t>
            </a:r>
            <a:endParaRPr b="0" lang="en-AU" sz="2600" strike="noStrike" u="none">
              <a:solidFill>
                <a:srgbClr val="000000"/>
              </a:solidFill>
              <a:effectLst/>
              <a:uFillTx/>
              <a:latin typeface="Arial"/>
            </a:endParaRPr>
          </a:p>
        </p:txBody>
      </p:sp>
      <p:pic>
        <p:nvPicPr>
          <p:cNvPr id="105" name="" descr=""/>
          <p:cNvPicPr/>
          <p:nvPr/>
        </p:nvPicPr>
        <p:blipFill>
          <a:blip r:embed="rId1"/>
          <a:stretch/>
        </p:blipFill>
        <p:spPr>
          <a:xfrm>
            <a:off x="5465520" y="180000"/>
            <a:ext cx="3531960" cy="5294880"/>
          </a:xfrm>
          <a:prstGeom prst="rect">
            <a:avLst/>
          </a:prstGeom>
          <a:noFill/>
          <a:ln w="0">
            <a:noFill/>
          </a:ln>
        </p:spPr>
      </p:pic>
      <p:sp>
        <p:nvSpPr>
          <p:cNvPr id="106" name="PlaceHolder 1"/>
          <p:cNvSpPr>
            <a:spLocks noGrp="1"/>
          </p:cNvSpPr>
          <p:nvPr>
            <p:ph/>
          </p:nvPr>
        </p:nvSpPr>
        <p:spPr>
          <a:xfrm>
            <a:off x="360000" y="1211760"/>
            <a:ext cx="4353480" cy="3825720"/>
          </a:xfrm>
          <a:prstGeom prst="rect">
            <a:avLst/>
          </a:prstGeom>
          <a:noFill/>
          <a:ln w="0">
            <a:noFill/>
          </a:ln>
        </p:spPr>
        <p:txBody>
          <a:bodyPr lIns="0" rIns="0" tIns="0" bIns="0" anchor="t">
            <a:normAutofit/>
          </a:bodyPr>
          <a:p>
            <a:pPr marL="432000" indent="-324000">
              <a:lnSpc>
                <a:spcPct val="100000"/>
              </a:lnSpc>
              <a:spcBef>
                <a:spcPts val="1417"/>
              </a:spcBef>
              <a:buClr>
                <a:srgbClr val="000000"/>
              </a:buClr>
              <a:buFont typeface="OpenSymbol"/>
              <a:buAutoNum type="arabicParenR"/>
            </a:pPr>
            <a:r>
              <a:rPr b="0" lang="en-US" sz="1400" strike="noStrike" u="none">
                <a:solidFill>
                  <a:srgbClr val="000000"/>
                </a:solidFill>
                <a:effectLst/>
                <a:uFillTx/>
                <a:latin typeface="Arial"/>
              </a:rPr>
              <a:t>Use a Large Language Model (LLM) Encoder to do the mapping from (question ID, text, result) to node embedding in the graph of GNN.</a:t>
            </a:r>
            <a:endParaRPr b="0" lang="en-AU" sz="1400" strike="noStrike" u="none">
              <a:solidFill>
                <a:srgbClr val="000000"/>
              </a:solidFill>
              <a:effectLst/>
              <a:uFillTx/>
              <a:latin typeface="Arial"/>
            </a:endParaRPr>
          </a:p>
          <a:p>
            <a:pPr marL="432000" indent="-324000">
              <a:lnSpc>
                <a:spcPct val="100000"/>
              </a:lnSpc>
              <a:spcBef>
                <a:spcPts val="1417"/>
              </a:spcBef>
              <a:buClr>
                <a:srgbClr val="000000"/>
              </a:buClr>
              <a:buFont typeface="OpenSymbol"/>
              <a:buAutoNum type="arabicParenR"/>
            </a:pPr>
            <a:r>
              <a:rPr b="0" lang="en-US" sz="1400" strike="noStrike" u="none">
                <a:solidFill>
                  <a:srgbClr val="000000"/>
                </a:solidFill>
                <a:effectLst/>
                <a:uFillTx/>
                <a:latin typeface="Arial"/>
              </a:rPr>
              <a:t>The nodes in GNN remains implicit, but they are now semantically meaningful</a:t>
            </a:r>
            <a:endParaRPr b="0" lang="en-AU" sz="1400" strike="noStrike" u="none">
              <a:solidFill>
                <a:srgbClr val="000000"/>
              </a:solidFill>
              <a:effectLst/>
              <a:uFillTx/>
              <a:latin typeface="Arial"/>
            </a:endParaRPr>
          </a:p>
          <a:p>
            <a:pPr marL="432000" indent="-324000">
              <a:lnSpc>
                <a:spcPct val="100000"/>
              </a:lnSpc>
              <a:spcBef>
                <a:spcPts val="1417"/>
              </a:spcBef>
              <a:buClr>
                <a:srgbClr val="000000"/>
              </a:buClr>
              <a:buFont typeface="OpenSymbol"/>
              <a:buAutoNum type="arabicParenR"/>
            </a:pPr>
            <a:r>
              <a:rPr b="0" lang="en-US" sz="1400" strike="noStrike" u="none">
                <a:solidFill>
                  <a:srgbClr val="000000"/>
                </a:solidFill>
                <a:effectLst/>
                <a:uFillTx/>
                <a:latin typeface="Arial"/>
              </a:rPr>
              <a:t>Use a LLM decoder to decode the implicit knowledge state into natural language.</a:t>
            </a:r>
            <a:endParaRPr b="0" lang="en-AU" sz="1400" strike="noStrike" u="none">
              <a:solidFill>
                <a:srgbClr val="000000"/>
              </a:solidFill>
              <a:effectLst/>
              <a:uFillTx/>
              <a:latin typeface="Arial"/>
            </a:endParaRPr>
          </a:p>
          <a:p>
            <a:pPr indent="0">
              <a:lnSpc>
                <a:spcPct val="100000"/>
              </a:lnSpc>
              <a:spcBef>
                <a:spcPts val="1417"/>
              </a:spcBef>
              <a:buNone/>
              <a:tabLst>
                <a:tab algn="l" pos="0"/>
              </a:tabLst>
            </a:pPr>
            <a:endParaRPr b="0" lang="en-AU" sz="1400" strike="noStrike" u="none">
              <a:solidFill>
                <a:srgbClr val="000000"/>
              </a:solidFill>
              <a:effectLst/>
              <a:uFillTx/>
              <a:latin typeface="Arial"/>
            </a:endParaRPr>
          </a:p>
          <a:p>
            <a:pPr indent="0">
              <a:lnSpc>
                <a:spcPct val="100000"/>
              </a:lnSpc>
              <a:spcBef>
                <a:spcPts val="1417"/>
              </a:spcBef>
              <a:buNone/>
              <a:tabLst>
                <a:tab algn="l" pos="0"/>
              </a:tabLst>
            </a:pPr>
            <a:r>
              <a:rPr b="0" lang="en-US" sz="1400" strike="noStrike" u="none">
                <a:solidFill>
                  <a:srgbClr val="000000"/>
                </a:solidFill>
                <a:effectLst/>
                <a:uFillTx/>
                <a:latin typeface="Arial"/>
              </a:rPr>
              <a:t>             Interpretability ⬆️  Flexibility ⬆️</a:t>
            </a:r>
            <a:endParaRPr b="0" lang="en-AU" sz="1400" strike="noStrike" u="none">
              <a:solidFill>
                <a:srgbClr val="000000"/>
              </a:solidFill>
              <a:effectLst/>
              <a:uFillTx/>
              <a:latin typeface="Arial"/>
            </a:endParaRPr>
          </a:p>
          <a:p>
            <a:pPr indent="0">
              <a:lnSpc>
                <a:spcPct val="100000"/>
              </a:lnSpc>
              <a:spcBef>
                <a:spcPts val="1417"/>
              </a:spcBef>
              <a:buNone/>
              <a:tabLst>
                <a:tab algn="l" pos="0"/>
              </a:tabLst>
            </a:pPr>
            <a:r>
              <a:rPr b="0" lang="en-US" sz="1400" strike="noStrike" u="none">
                <a:solidFill>
                  <a:srgbClr val="000000"/>
                </a:solidFill>
                <a:effectLst/>
                <a:uFillTx/>
                <a:latin typeface="Arial"/>
              </a:rPr>
              <a:t>                     Implicitness Remains</a:t>
            </a:r>
            <a:endParaRPr b="0" lang="en-AU" sz="1400" strike="noStrike" u="none">
              <a:solidFill>
                <a:srgbClr val="000000"/>
              </a:solidFill>
              <a:effectLst/>
              <a:uFillTx/>
              <a:latin typeface="Arial"/>
            </a:endParaRPr>
          </a:p>
          <a:p>
            <a:pPr indent="0">
              <a:lnSpc>
                <a:spcPct val="100000"/>
              </a:lnSpc>
              <a:spcBef>
                <a:spcPts val="1417"/>
              </a:spcBef>
              <a:buNone/>
              <a:tabLst>
                <a:tab algn="l" pos="0"/>
              </a:tabLst>
            </a:pPr>
            <a:endParaRPr b="0" lang="en-AU" sz="1400" strike="noStrike" u="none">
              <a:solidFill>
                <a:srgbClr val="000000"/>
              </a:solidFill>
              <a:effectLst/>
              <a:uFillTx/>
              <a:latin typeface="Arial"/>
            </a:endParaRPr>
          </a:p>
          <a:p>
            <a:pPr indent="0">
              <a:lnSpc>
                <a:spcPct val="100000"/>
              </a:lnSpc>
              <a:spcBef>
                <a:spcPts val="1417"/>
              </a:spcBef>
              <a:buNone/>
              <a:tabLst>
                <a:tab algn="l" pos="0"/>
              </a:tabLst>
            </a:pPr>
            <a:endParaRPr b="0" lang="en-AU" sz="1400" strike="noStrike" u="none">
              <a:solidFill>
                <a:srgbClr val="000000"/>
              </a:solidFill>
              <a:effectLst/>
              <a:uFillTx/>
              <a:latin typeface="Arial"/>
            </a:endParaRPr>
          </a:p>
          <a:p>
            <a:pPr indent="0">
              <a:lnSpc>
                <a:spcPct val="100000"/>
              </a:lnSpc>
              <a:spcBef>
                <a:spcPts val="1417"/>
              </a:spcBef>
              <a:buNone/>
              <a:tabLst>
                <a:tab algn="l" pos="0"/>
              </a:tabLst>
            </a:pPr>
            <a:endParaRPr b="0" lang="en-AU" sz="1400" strike="noStrike" u="none">
              <a:solidFill>
                <a:srgbClr val="000000"/>
              </a:solidFill>
              <a:effectLst/>
              <a:uFillTx/>
              <a:latin typeface="Arial"/>
            </a:endParaRPr>
          </a:p>
          <a:p>
            <a:pPr indent="0">
              <a:lnSpc>
                <a:spcPct val="100000"/>
              </a:lnSpc>
              <a:spcBef>
                <a:spcPts val="1417"/>
              </a:spcBef>
              <a:buNone/>
              <a:tabLst>
                <a:tab algn="l" pos="0"/>
              </a:tabLst>
            </a:pPr>
            <a:endParaRPr b="0" lang="en-AU" sz="1400" strike="noStrike" u="none">
              <a:solidFill>
                <a:srgbClr val="000000"/>
              </a:solidFill>
              <a:effectLst/>
              <a:uFillTx/>
              <a:latin typeface="Arial"/>
            </a:endParaRPr>
          </a:p>
          <a:p>
            <a:pPr indent="0">
              <a:lnSpc>
                <a:spcPct val="100000"/>
              </a:lnSpc>
              <a:spcBef>
                <a:spcPts val="1417"/>
              </a:spcBef>
              <a:buNone/>
              <a:tabLst>
                <a:tab algn="l" pos="0"/>
              </a:tabLst>
            </a:pPr>
            <a:endParaRPr b="0" lang="en-AU" sz="1400" strike="noStrike" u="none">
              <a:solidFill>
                <a:srgbClr val="000000"/>
              </a:solidFill>
              <a:effectLst/>
              <a:uFillTx/>
              <a:latin typeface="Arial"/>
            </a:endParaRPr>
          </a:p>
          <a:p>
            <a:pPr indent="0">
              <a:lnSpc>
                <a:spcPct val="100000"/>
              </a:lnSpc>
              <a:spcBef>
                <a:spcPts val="1417"/>
              </a:spcBef>
              <a:buNone/>
              <a:tabLst>
                <a:tab algn="l" pos="0"/>
              </a:tabLst>
            </a:pPr>
            <a:endParaRPr b="0" lang="en-AU" sz="1400" strike="noStrike" u="none">
              <a:solidFill>
                <a:srgbClr val="000000"/>
              </a:solidFill>
              <a:effectLst/>
              <a:uFillTx/>
              <a:latin typeface="Arial"/>
            </a:endParaRPr>
          </a:p>
          <a:p>
            <a:pPr indent="0">
              <a:lnSpc>
                <a:spcPct val="100000"/>
              </a:lnSpc>
              <a:spcBef>
                <a:spcPts val="1417"/>
              </a:spcBef>
              <a:buNone/>
              <a:tabLst>
                <a:tab algn="l" pos="0"/>
              </a:tabLst>
            </a:pPr>
            <a:endParaRPr b="0" lang="en-AU" sz="1400" strike="noStrike" u="none">
              <a:solidFill>
                <a:srgbClr val="000000"/>
              </a:solidFill>
              <a:effectLst/>
              <a:uFillTx/>
              <a:latin typeface="Arial"/>
            </a:endParaRPr>
          </a:p>
          <a:p>
            <a:pPr indent="0">
              <a:lnSpc>
                <a:spcPct val="100000"/>
              </a:lnSpc>
              <a:spcBef>
                <a:spcPts val="1417"/>
              </a:spcBef>
              <a:buNone/>
              <a:tabLst>
                <a:tab algn="l" pos="0"/>
              </a:tabLst>
            </a:pPr>
            <a:endParaRPr b="0" lang="en-AU" sz="1400" strike="noStrike" u="none">
              <a:solidFill>
                <a:srgbClr val="000000"/>
              </a:solidFill>
              <a:effectLst/>
              <a:uFillTx/>
              <a:latin typeface="Arial"/>
            </a:endParaRPr>
          </a:p>
          <a:p>
            <a:pPr indent="0">
              <a:lnSpc>
                <a:spcPct val="100000"/>
              </a:lnSpc>
              <a:spcBef>
                <a:spcPts val="1417"/>
              </a:spcBef>
              <a:buNone/>
              <a:tabLst>
                <a:tab algn="l" pos="0"/>
              </a:tabLst>
            </a:pPr>
            <a:endParaRPr b="0" lang="en-AU" sz="1400" strike="noStrike" u="none">
              <a:solidFill>
                <a:srgbClr val="000000"/>
              </a:solidFill>
              <a:effectLst/>
              <a:uFillTx/>
              <a:latin typeface="Arial"/>
            </a:endParaRPr>
          </a:p>
          <a:p>
            <a:pPr indent="0">
              <a:lnSpc>
                <a:spcPct val="100000"/>
              </a:lnSpc>
              <a:spcBef>
                <a:spcPts val="1417"/>
              </a:spcBef>
              <a:buNone/>
              <a:tabLst>
                <a:tab algn="l" pos="0"/>
              </a:tabLst>
            </a:pPr>
            <a:endParaRPr b="0" lang="en-AU" sz="1400" strike="noStrike" u="none">
              <a:solidFill>
                <a:srgbClr val="000000"/>
              </a:solidFill>
              <a:effectLst/>
              <a:uFillTx/>
              <a:latin typeface="Arial"/>
            </a:endParaRPr>
          </a:p>
          <a:p>
            <a:pPr indent="0">
              <a:lnSpc>
                <a:spcPct val="100000"/>
              </a:lnSpc>
              <a:spcBef>
                <a:spcPts val="1417"/>
              </a:spcBef>
              <a:buNone/>
              <a:tabLst>
                <a:tab algn="l" pos="0"/>
              </a:tabLst>
            </a:pPr>
            <a:endParaRPr b="0" lang="en-AU" sz="2400" strike="noStrike" u="none">
              <a:solidFill>
                <a:srgbClr val="000000"/>
              </a:solidFill>
              <a:effectLst/>
              <a:uFillTx/>
              <a:latin typeface="Arial"/>
            </a:endParaRPr>
          </a:p>
          <a:p>
            <a:pPr indent="0">
              <a:lnSpc>
                <a:spcPct val="100000"/>
              </a:lnSpc>
              <a:spcBef>
                <a:spcPts val="1417"/>
              </a:spcBef>
              <a:buNone/>
              <a:tabLst>
                <a:tab algn="l" pos="0"/>
              </a:tabLst>
            </a:pPr>
            <a:endParaRPr b="0" lang="en-AU" sz="2400" strike="noStrike" u="none">
              <a:solidFill>
                <a:srgbClr val="000000"/>
              </a:solidFill>
              <a:effectLst/>
              <a:uFillTx/>
              <a:latin typeface="Arial"/>
            </a:endParaRPr>
          </a:p>
          <a:p>
            <a:pPr marL="432000" indent="0">
              <a:lnSpc>
                <a:spcPct val="100000"/>
              </a:lnSpc>
              <a:spcBef>
                <a:spcPts val="1417"/>
              </a:spcBef>
              <a:buNone/>
              <a:tabLst>
                <a:tab algn="l" pos="0"/>
              </a:tabLst>
            </a:pPr>
            <a:endParaRPr b="0" lang="en-AU" sz="2400" strike="noStrike" u="none">
              <a:solidFill>
                <a:srgbClr val="000000"/>
              </a:solidFill>
              <a:effectLst/>
              <a:uFillTx/>
              <a:latin typeface="Arial"/>
            </a:endParaRPr>
          </a:p>
          <a:p>
            <a:pPr marL="432000" indent="0">
              <a:lnSpc>
                <a:spcPct val="100000"/>
              </a:lnSpc>
              <a:spcBef>
                <a:spcPts val="1417"/>
              </a:spcBef>
              <a:buNone/>
              <a:tabLst>
                <a:tab algn="l" pos="0"/>
              </a:tabLst>
            </a:pPr>
            <a:endParaRPr b="0" lang="en-AU" sz="2400" strike="noStrike" u="none">
              <a:solidFill>
                <a:srgbClr val="000000"/>
              </a:solidFill>
              <a:effectLst/>
              <a:uFillTx/>
              <a:latin typeface="Arial"/>
            </a:endParaRPr>
          </a:p>
          <a:p>
            <a:pPr marL="432000" indent="0">
              <a:lnSpc>
                <a:spcPct val="100000"/>
              </a:lnSpc>
              <a:spcBef>
                <a:spcPts val="1417"/>
              </a:spcBef>
              <a:buNone/>
              <a:tabLst>
                <a:tab algn="l" pos="0"/>
              </a:tabLst>
            </a:pPr>
            <a:endParaRPr b="0" lang="en-AU" sz="2400" strike="noStrike" u="none">
              <a:solidFill>
                <a:srgbClr val="000000"/>
              </a:solidFill>
              <a:effectLst/>
              <a:uFillTx/>
              <a:latin typeface="Arial"/>
            </a:endParaRPr>
          </a:p>
          <a:p>
            <a:pPr marL="432000" indent="0">
              <a:lnSpc>
                <a:spcPct val="100000"/>
              </a:lnSpc>
              <a:spcBef>
                <a:spcPts val="1417"/>
              </a:spcBef>
              <a:buNone/>
              <a:tabLst>
                <a:tab algn="l" pos="0"/>
              </a:tabLst>
            </a:pPr>
            <a:endParaRPr b="0" lang="en-AU" sz="2400" strike="noStrike" u="none">
              <a:solidFill>
                <a:srgbClr val="000000"/>
              </a:solidFill>
              <a:effectLst/>
              <a:uFillTx/>
              <a:latin typeface="Arial"/>
            </a:endParaRPr>
          </a:p>
        </p:txBody>
      </p:sp>
      <p:sp>
        <p:nvSpPr>
          <p:cNvPr id="3" name="PlaceHolder 2"/>
          <p:cNvSpPr>
            <a:spLocks noGrp="1"/>
          </p:cNvSpPr>
          <p:nvPr>
            <p:ph type="sldNum" idx="2"/>
          </p:nvPr>
        </p:nvSpPr>
        <p:spPr/>
        <p:txBody>
          <a:bodyPr/>
          <a:p>
            <a:fld id="{12405AAA-712C-4211-8037-F16EF1FC8A35}" type="slidenum">
              <a:t>27</a:t>
            </a:fld>
          </a:p>
        </p:txBody>
      </p:sp>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7" name="PlaceHolder 1"/>
          <p:cNvSpPr>
            <a:spLocks noGrp="1"/>
          </p:cNvSpPr>
          <p:nvPr>
            <p:ph type="title"/>
          </p:nvPr>
        </p:nvSpPr>
        <p:spPr>
          <a:xfrm>
            <a:off x="504000" y="223560"/>
            <a:ext cx="9069120" cy="948960"/>
          </a:xfrm>
          <a:prstGeom prst="rect">
            <a:avLst/>
          </a:prstGeom>
          <a:noFill/>
          <a:ln w="0">
            <a:noFill/>
          </a:ln>
        </p:spPr>
        <p:txBody>
          <a:bodyPr lIns="0" rIns="0" tIns="0" bIns="0" anchor="ctr">
            <a:spAutoFit/>
          </a:bodyPr>
          <a:p>
            <a:pPr indent="0" algn="ctr">
              <a:lnSpc>
                <a:spcPct val="100000"/>
              </a:lnSpc>
              <a:buNone/>
              <a:tabLst>
                <a:tab algn="l" pos="0"/>
              </a:tabLst>
            </a:pPr>
            <a:r>
              <a:rPr b="0" lang="en-US" sz="4400" strike="noStrike" u="none">
                <a:solidFill>
                  <a:srgbClr val="000000"/>
                </a:solidFill>
                <a:effectLst/>
                <a:uFillTx/>
                <a:latin typeface="Arial"/>
              </a:rPr>
              <a:t>Our Goals</a:t>
            </a:r>
            <a:endParaRPr b="0" lang="en-AU" sz="4400" strike="noStrike" u="none">
              <a:solidFill>
                <a:srgbClr val="000000"/>
              </a:solidFill>
              <a:effectLst/>
              <a:uFillTx/>
              <a:latin typeface="Arial"/>
            </a:endParaRPr>
          </a:p>
        </p:txBody>
      </p:sp>
      <p:pic>
        <p:nvPicPr>
          <p:cNvPr id="108" name="" descr=""/>
          <p:cNvPicPr/>
          <p:nvPr/>
        </p:nvPicPr>
        <p:blipFill>
          <a:blip r:embed="rId1"/>
          <a:stretch/>
        </p:blipFill>
        <p:spPr>
          <a:xfrm>
            <a:off x="1113120" y="2160000"/>
            <a:ext cx="2592360" cy="2337480"/>
          </a:xfrm>
          <a:prstGeom prst="rect">
            <a:avLst/>
          </a:prstGeom>
          <a:noFill/>
          <a:ln w="0">
            <a:noFill/>
          </a:ln>
        </p:spPr>
      </p:pic>
      <p:sp>
        <p:nvSpPr>
          <p:cNvPr id="109" name=""/>
          <p:cNvSpPr/>
          <p:nvPr/>
        </p:nvSpPr>
        <p:spPr>
          <a:xfrm>
            <a:off x="2340000" y="3240000"/>
            <a:ext cx="2157480" cy="587520"/>
          </a:xfrm>
          <a:prstGeom prst="rect">
            <a:avLst/>
          </a:prstGeom>
          <a:noFill/>
          <a:ln w="0">
            <a:noFill/>
          </a:ln>
        </p:spPr>
        <p:style>
          <a:lnRef idx="0"/>
          <a:fillRef idx="0"/>
          <a:effectRef idx="0"/>
          <a:fontRef idx="minor"/>
        </p:style>
        <p:txBody>
          <a:bodyPr lIns="90000" rIns="90000" tIns="45000" bIns="45000" anchor="t" anchorCtr="1">
            <a:spAutoFit/>
          </a:bodyPr>
          <a:p>
            <a:pPr algn="ctr">
              <a:lnSpc>
                <a:spcPct val="100000"/>
              </a:lnSpc>
            </a:pPr>
            <a:r>
              <a:rPr b="0" lang="en-AU" sz="1800" strike="noStrike" u="none">
                <a:solidFill>
                  <a:srgbClr val="000000"/>
                </a:solidFill>
                <a:effectLst/>
                <a:highlight>
                  <a:srgbClr val="ffffff"/>
                </a:highlight>
                <a:uFillTx/>
                <a:latin typeface="Arial"/>
                <a:ea typeface="DejaVu Sans"/>
              </a:rPr>
              <a:t>Interpretability</a:t>
            </a:r>
            <a:endParaRPr b="0" lang="en-AU" sz="1800" strike="noStrike" u="none">
              <a:solidFill>
                <a:srgbClr val="000000"/>
              </a:solidFill>
              <a:effectLst/>
              <a:uFillTx/>
              <a:latin typeface="Arial"/>
            </a:endParaRPr>
          </a:p>
        </p:txBody>
      </p:sp>
      <p:sp>
        <p:nvSpPr>
          <p:cNvPr id="110" name=""/>
          <p:cNvSpPr/>
          <p:nvPr/>
        </p:nvSpPr>
        <p:spPr>
          <a:xfrm>
            <a:off x="540000" y="2520000"/>
            <a:ext cx="1941480" cy="1107360"/>
          </a:xfrm>
          <a:prstGeom prst="rect">
            <a:avLst/>
          </a:prstGeom>
          <a:noFill/>
          <a:ln w="0">
            <a:noFill/>
          </a:ln>
        </p:spPr>
        <p:style>
          <a:lnRef idx="0"/>
          <a:fillRef idx="0"/>
          <a:effectRef idx="0"/>
          <a:fontRef idx="minor"/>
        </p:style>
        <p:txBody>
          <a:bodyPr lIns="90000" rIns="90000" tIns="45000" bIns="45000" anchor="t" anchorCtr="1">
            <a:spAutoFit/>
          </a:bodyPr>
          <a:p>
            <a:pPr algn="ctr">
              <a:lnSpc>
                <a:spcPct val="100000"/>
              </a:lnSpc>
            </a:pPr>
            <a:r>
              <a:rPr b="0" lang="en-AU" sz="1800" strike="noStrike" u="none">
                <a:solidFill>
                  <a:srgbClr val="000000"/>
                </a:solidFill>
                <a:effectLst/>
                <a:highlight>
                  <a:srgbClr val="ffffff"/>
                </a:highlight>
                <a:uFillTx/>
                <a:latin typeface="Arial"/>
                <a:ea typeface="DejaVu Sans"/>
              </a:rPr>
              <a:t>Performance</a:t>
            </a:r>
            <a:endParaRPr b="0" lang="en-AU" sz="1800" strike="noStrike" u="none">
              <a:solidFill>
                <a:srgbClr val="000000"/>
              </a:solidFill>
              <a:effectLst/>
              <a:uFillTx/>
              <a:latin typeface="Arial"/>
            </a:endParaRPr>
          </a:p>
          <a:p>
            <a:pPr algn="ctr">
              <a:lnSpc>
                <a:spcPct val="100000"/>
              </a:lnSpc>
            </a:pPr>
            <a:r>
              <a:rPr b="0" lang="en-AU" sz="1800" strike="noStrike" u="none">
                <a:solidFill>
                  <a:srgbClr val="000000"/>
                </a:solidFill>
                <a:effectLst/>
                <a:highlight>
                  <a:srgbClr val="ffffff"/>
                </a:highlight>
                <a:uFillTx/>
                <a:latin typeface="Arial"/>
                <a:ea typeface="DejaVu Sans"/>
              </a:rPr>
              <a:t>Flexibility</a:t>
            </a:r>
            <a:endParaRPr b="0" lang="en-AU" sz="1800" strike="noStrike" u="none">
              <a:solidFill>
                <a:srgbClr val="000000"/>
              </a:solidFill>
              <a:effectLst/>
              <a:uFillTx/>
              <a:latin typeface="Arial"/>
            </a:endParaRPr>
          </a:p>
        </p:txBody>
      </p:sp>
      <p:pic>
        <p:nvPicPr>
          <p:cNvPr id="111" name="" descr=""/>
          <p:cNvPicPr/>
          <p:nvPr/>
        </p:nvPicPr>
        <p:blipFill>
          <a:blip r:embed="rId2"/>
          <a:stretch/>
        </p:blipFill>
        <p:spPr>
          <a:xfrm>
            <a:off x="6153120" y="2160000"/>
            <a:ext cx="2592360" cy="2337480"/>
          </a:xfrm>
          <a:prstGeom prst="rect">
            <a:avLst/>
          </a:prstGeom>
          <a:noFill/>
          <a:ln w="0">
            <a:noFill/>
          </a:ln>
        </p:spPr>
      </p:pic>
      <p:sp>
        <p:nvSpPr>
          <p:cNvPr id="112" name=""/>
          <p:cNvSpPr/>
          <p:nvPr/>
        </p:nvSpPr>
        <p:spPr>
          <a:xfrm>
            <a:off x="7200000" y="3240000"/>
            <a:ext cx="2157480" cy="397800"/>
          </a:xfrm>
          <a:prstGeom prst="rect">
            <a:avLst/>
          </a:prstGeom>
          <a:noFill/>
          <a:ln w="0">
            <a:noFill/>
          </a:ln>
        </p:spPr>
        <p:style>
          <a:lnRef idx="0"/>
          <a:fillRef idx="0"/>
          <a:effectRef idx="0"/>
          <a:fontRef idx="minor"/>
        </p:style>
        <p:txBody>
          <a:bodyPr lIns="90000" rIns="90000" tIns="45000" bIns="45000" anchor="t" anchorCtr="1">
            <a:spAutoFit/>
          </a:bodyPr>
          <a:p>
            <a:pPr algn="ctr">
              <a:lnSpc>
                <a:spcPct val="100000"/>
              </a:lnSpc>
            </a:pPr>
            <a:r>
              <a:rPr b="0" lang="en-AU" sz="1800" strike="noStrike" u="none">
                <a:solidFill>
                  <a:srgbClr val="000000"/>
                </a:solidFill>
                <a:effectLst/>
                <a:highlight>
                  <a:srgbClr val="ffffff"/>
                </a:highlight>
                <a:uFillTx/>
                <a:latin typeface="Arial"/>
                <a:ea typeface="DejaVu Sans"/>
              </a:rPr>
              <a:t>Hard Work</a:t>
            </a:r>
            <a:endParaRPr b="0" lang="en-AU" sz="1800" strike="noStrike" u="none">
              <a:solidFill>
                <a:srgbClr val="000000"/>
              </a:solidFill>
              <a:effectLst/>
              <a:uFillTx/>
              <a:latin typeface="Arial"/>
            </a:endParaRPr>
          </a:p>
        </p:txBody>
      </p:sp>
      <p:sp>
        <p:nvSpPr>
          <p:cNvPr id="113" name=""/>
          <p:cNvSpPr/>
          <p:nvPr/>
        </p:nvSpPr>
        <p:spPr>
          <a:xfrm>
            <a:off x="5400000" y="2340000"/>
            <a:ext cx="2157480" cy="1447200"/>
          </a:xfrm>
          <a:prstGeom prst="rect">
            <a:avLst/>
          </a:prstGeom>
          <a:noFill/>
          <a:ln w="0">
            <a:noFill/>
          </a:ln>
        </p:spPr>
        <p:style>
          <a:lnRef idx="0"/>
          <a:fillRef idx="0"/>
          <a:effectRef idx="0"/>
          <a:fontRef idx="minor"/>
        </p:style>
        <p:txBody>
          <a:bodyPr lIns="90000" rIns="90000" tIns="45000" bIns="45000" anchor="t" anchorCtr="1">
            <a:spAutoFit/>
          </a:bodyPr>
          <a:p>
            <a:pPr algn="ctr">
              <a:lnSpc>
                <a:spcPct val="100000"/>
              </a:lnSpc>
            </a:pPr>
            <a:r>
              <a:rPr b="0" lang="en-AU" sz="1800" strike="noStrike" u="none">
                <a:solidFill>
                  <a:srgbClr val="000000"/>
                </a:solidFill>
                <a:effectLst/>
                <a:highlight>
                  <a:srgbClr val="ffffff"/>
                </a:highlight>
                <a:uFillTx/>
                <a:latin typeface="Arial"/>
                <a:ea typeface="DejaVu Sans"/>
              </a:rPr>
              <a:t>Interpretability</a:t>
            </a:r>
            <a:endParaRPr b="0" lang="en-AU" sz="1800" strike="noStrike" u="none">
              <a:solidFill>
                <a:srgbClr val="000000"/>
              </a:solidFill>
              <a:effectLst/>
              <a:uFillTx/>
              <a:latin typeface="Arial"/>
            </a:endParaRPr>
          </a:p>
          <a:p>
            <a:pPr algn="ctr">
              <a:lnSpc>
                <a:spcPct val="100000"/>
              </a:lnSpc>
            </a:pPr>
            <a:r>
              <a:rPr b="0" lang="en-AU" sz="1800" strike="noStrike" u="none">
                <a:solidFill>
                  <a:srgbClr val="000000"/>
                </a:solidFill>
                <a:effectLst/>
                <a:highlight>
                  <a:srgbClr val="ffffff"/>
                </a:highlight>
                <a:uFillTx/>
                <a:latin typeface="Arial"/>
                <a:ea typeface="DejaVu Sans"/>
              </a:rPr>
              <a:t>Performance</a:t>
            </a:r>
            <a:endParaRPr b="0" lang="en-AU" sz="1800" strike="noStrike" u="none">
              <a:solidFill>
                <a:srgbClr val="000000"/>
              </a:solidFill>
              <a:effectLst/>
              <a:uFillTx/>
              <a:latin typeface="Arial"/>
            </a:endParaRPr>
          </a:p>
          <a:p>
            <a:pPr algn="ctr">
              <a:lnSpc>
                <a:spcPct val="100000"/>
              </a:lnSpc>
            </a:pPr>
            <a:r>
              <a:rPr b="0" lang="en-AU" sz="1800" strike="noStrike" u="none">
                <a:solidFill>
                  <a:srgbClr val="000000"/>
                </a:solidFill>
                <a:effectLst/>
                <a:highlight>
                  <a:srgbClr val="ffffff"/>
                </a:highlight>
                <a:uFillTx/>
                <a:latin typeface="Arial"/>
                <a:ea typeface="DejaVu Sans"/>
              </a:rPr>
              <a:t>Flexibility</a:t>
            </a:r>
            <a:endParaRPr b="0" lang="en-AU" sz="1800" strike="noStrike" u="none">
              <a:solidFill>
                <a:srgbClr val="000000"/>
              </a:solidFill>
              <a:effectLst/>
              <a:uFillTx/>
              <a:latin typeface="Arial"/>
            </a:endParaRPr>
          </a:p>
        </p:txBody>
      </p:sp>
      <p:sp>
        <p:nvSpPr>
          <p:cNvPr id="114" name=""/>
          <p:cNvSpPr/>
          <p:nvPr/>
        </p:nvSpPr>
        <p:spPr>
          <a:xfrm>
            <a:off x="4320000" y="2880000"/>
            <a:ext cx="1077480" cy="357480"/>
          </a:xfrm>
          <a:prstGeom prst="rightArrow">
            <a:avLst>
              <a:gd name="adj1" fmla="val 50000"/>
              <a:gd name="adj2" fmla="val 75000"/>
            </a:avLst>
          </a:prstGeom>
          <a:solidFill>
            <a:srgbClr val="729fcf"/>
          </a:solidFill>
          <a:ln w="0">
            <a:solidFill>
              <a:srgbClr val="3465a4"/>
            </a:solidFill>
          </a:ln>
        </p:spPr>
        <p:style>
          <a:lnRef idx="0"/>
          <a:fillRef idx="0"/>
          <a:effectRef idx="0"/>
          <a:fontRef idx="minor"/>
        </p:style>
        <p:txBody>
          <a:bodyPr lIns="90000" rIns="90000" tIns="45000" bIns="45000" anchor="ctr">
            <a:noAutofit/>
          </a:bodyPr>
          <a:p>
            <a:pPr>
              <a:lnSpc>
                <a:spcPct val="100000"/>
              </a:lnSpc>
            </a:pPr>
            <a:endParaRPr b="0" lang="en-US" sz="1800" strike="noStrike" u="none">
              <a:solidFill>
                <a:srgbClr val="000000"/>
              </a:solidFill>
              <a:effectLst/>
              <a:uFillTx/>
              <a:latin typeface="Arial"/>
              <a:ea typeface="DejaVu Sans"/>
            </a:endParaRPr>
          </a:p>
        </p:txBody>
      </p:sp>
      <p:sp>
        <p:nvSpPr>
          <p:cNvPr id="3" name="PlaceHolder 2"/>
          <p:cNvSpPr>
            <a:spLocks noGrp="1"/>
          </p:cNvSpPr>
          <p:nvPr>
            <p:ph type="sldNum" idx="2"/>
          </p:nvPr>
        </p:nvSpPr>
        <p:spPr/>
        <p:txBody>
          <a:bodyPr/>
          <a:p>
            <a:fld id="{E89D0E25-B48D-4E4B-B752-2CF7C31A2AA0}" type="slidenum">
              <a:t>28</a:t>
            </a:fld>
          </a:p>
        </p:txBody>
      </p:sp>
    </p:spTree>
  </p:cSld>
  <mc:AlternateContent>
    <mc:Choice Requires="p14">
      <p:transition spd="slow" p14:dur="2000"/>
    </mc:Choice>
    <mc:Fallback>
      <p:transition spd="slow"/>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5" name="PlaceHolder 1"/>
          <p:cNvSpPr>
            <a:spLocks noGrp="1"/>
          </p:cNvSpPr>
          <p:nvPr>
            <p:ph type="title"/>
          </p:nvPr>
        </p:nvSpPr>
        <p:spPr>
          <a:xfrm>
            <a:off x="468360" y="1617480"/>
            <a:ext cx="9069120" cy="1082520"/>
          </a:xfrm>
          <a:prstGeom prst="rect">
            <a:avLst/>
          </a:prstGeom>
          <a:noFill/>
          <a:ln w="0">
            <a:noFill/>
          </a:ln>
        </p:spPr>
        <p:txBody>
          <a:bodyPr lIns="0" rIns="0" tIns="0" bIns="0" anchor="ctr">
            <a:spAutoFit/>
          </a:bodyPr>
          <a:p>
            <a:pPr indent="0" algn="ctr">
              <a:lnSpc>
                <a:spcPct val="100000"/>
              </a:lnSpc>
              <a:buNone/>
              <a:tabLst>
                <a:tab algn="l" pos="0"/>
              </a:tabLst>
            </a:pPr>
            <a:r>
              <a:rPr b="0" lang="en-US" sz="4400" strike="noStrike" u="none">
                <a:solidFill>
                  <a:srgbClr val="000000"/>
                </a:solidFill>
                <a:effectLst/>
                <a:uFillTx/>
                <a:latin typeface="Arial"/>
              </a:rPr>
              <a:t>Thank you for your attention</a:t>
            </a:r>
            <a:endParaRPr b="0" lang="en-AU" sz="4400" strike="noStrike" u="none">
              <a:solidFill>
                <a:srgbClr val="000000"/>
              </a:solidFill>
              <a:effectLst/>
              <a:uFillTx/>
              <a:latin typeface="Arial"/>
            </a:endParaRPr>
          </a:p>
        </p:txBody>
      </p:sp>
      <p:sp>
        <p:nvSpPr>
          <p:cNvPr id="116" name="PlaceHolder 2"/>
          <p:cNvSpPr>
            <a:spLocks noGrp="1"/>
          </p:cNvSpPr>
          <p:nvPr>
            <p:ph/>
          </p:nvPr>
        </p:nvSpPr>
        <p:spPr>
          <a:xfrm>
            <a:off x="504000" y="3780000"/>
            <a:ext cx="9069120" cy="1437480"/>
          </a:xfrm>
          <a:prstGeom prst="rect">
            <a:avLst/>
          </a:prstGeom>
          <a:noFill/>
          <a:ln w="0">
            <a:noFill/>
          </a:ln>
        </p:spPr>
        <p:txBody>
          <a:bodyPr lIns="0" rIns="0" tIns="0" bIns="0" anchor="t">
            <a:normAutofit fontScale="85000" lnSpcReduction="9999"/>
          </a:bodyPr>
          <a:p>
            <a:pPr indent="0">
              <a:lnSpc>
                <a:spcPct val="100000"/>
              </a:lnSpc>
              <a:spcBef>
                <a:spcPts val="1417"/>
              </a:spcBef>
              <a:buNone/>
              <a:tabLst>
                <a:tab algn="l" pos="0"/>
              </a:tabLst>
            </a:pPr>
            <a:r>
              <a:rPr b="0" lang="en-US" sz="1800" strike="noStrike" u="none">
                <a:solidFill>
                  <a:srgbClr val="000000"/>
                </a:solidFill>
                <a:effectLst/>
                <a:uFillTx/>
                <a:latin typeface="Arial"/>
              </a:rPr>
              <a:t>Bonus Slides: </a:t>
            </a:r>
            <a:endParaRPr b="0" lang="en-AU" sz="1800" strike="noStrike" u="none">
              <a:solidFill>
                <a:srgbClr val="000000"/>
              </a:solidFill>
              <a:effectLst/>
              <a:uFillTx/>
              <a:latin typeface="Arial"/>
            </a:endParaRPr>
          </a:p>
          <a:p>
            <a:pPr marL="432000" indent="-324000">
              <a:lnSpc>
                <a:spcPct val="100000"/>
              </a:lnSpc>
              <a:spcBef>
                <a:spcPts val="1417"/>
              </a:spcBef>
              <a:buClr>
                <a:srgbClr val="000000"/>
              </a:buClr>
              <a:buSzPct val="45000"/>
              <a:buFont typeface="Wingdings" charset="2"/>
              <a:buChar char=""/>
              <a:tabLst>
                <a:tab algn="l" pos="0"/>
              </a:tabLst>
            </a:pPr>
            <a:r>
              <a:rPr b="1" lang="en-US" sz="1800" strike="noStrike" u="none">
                <a:solidFill>
                  <a:srgbClr val="000000"/>
                </a:solidFill>
                <a:effectLst/>
                <a:uFillTx/>
                <a:latin typeface="Arial"/>
              </a:rPr>
              <a:t>Bayesian Network</a:t>
            </a:r>
            <a:r>
              <a:rPr b="0" lang="en-US" sz="1800" strike="noStrike" u="none">
                <a:solidFill>
                  <a:srgbClr val="000000"/>
                </a:solidFill>
                <a:effectLst/>
                <a:uFillTx/>
                <a:latin typeface="Arial"/>
              </a:rPr>
              <a:t>: a type of KT model architecture (also the oldest KT model architecture) that is explicit, interpretable, but not flexible and has low performance. (pg. 29)</a:t>
            </a:r>
            <a:endParaRPr b="0" lang="en-AU" sz="1800" strike="noStrike" u="none">
              <a:solidFill>
                <a:srgbClr val="000000"/>
              </a:solidFill>
              <a:effectLst/>
              <a:uFillTx/>
              <a:latin typeface="Arial"/>
            </a:endParaRPr>
          </a:p>
          <a:p>
            <a:pPr marL="432000" indent="-324000">
              <a:lnSpc>
                <a:spcPct val="100000"/>
              </a:lnSpc>
              <a:spcBef>
                <a:spcPts val="1417"/>
              </a:spcBef>
              <a:buClr>
                <a:srgbClr val="000000"/>
              </a:buClr>
              <a:buSzPct val="45000"/>
              <a:buFont typeface="Wingdings" charset="2"/>
              <a:buChar char=""/>
              <a:tabLst>
                <a:tab algn="l" pos="0"/>
              </a:tabLst>
            </a:pPr>
            <a:r>
              <a:rPr b="1" lang="en-US" sz="1800" strike="noStrike" u="none">
                <a:solidFill>
                  <a:srgbClr val="000000"/>
                </a:solidFill>
                <a:effectLst/>
                <a:uFillTx/>
                <a:latin typeface="Arial"/>
              </a:rPr>
              <a:t>Dataset Challenge</a:t>
            </a:r>
            <a:r>
              <a:rPr b="0" lang="en-US" sz="1800" strike="noStrike" u="none">
                <a:solidFill>
                  <a:srgbClr val="000000"/>
                </a:solidFill>
                <a:effectLst/>
                <a:uFillTx/>
                <a:latin typeface="Arial"/>
              </a:rPr>
              <a:t>: many KT datasets do not provide the text of the questions, which is essential for training LLMs. (pg. 32)</a:t>
            </a:r>
            <a:endParaRPr b="0" lang="en-AU" sz="1800" strike="noStrike" u="none">
              <a:solidFill>
                <a:srgbClr val="000000"/>
              </a:solidFill>
              <a:effectLst/>
              <a:uFillTx/>
              <a:latin typeface="Arial"/>
            </a:endParaRPr>
          </a:p>
        </p:txBody>
      </p:sp>
      <p:sp>
        <p:nvSpPr>
          <p:cNvPr id="4" name="PlaceHolder 3"/>
          <p:cNvSpPr>
            <a:spLocks noGrp="1"/>
          </p:cNvSpPr>
          <p:nvPr>
            <p:ph type="sldNum" idx="2"/>
          </p:nvPr>
        </p:nvSpPr>
        <p:spPr/>
        <p:txBody>
          <a:bodyPr/>
          <a:p>
            <a:fld id="{BA236B8A-2157-4244-BA77-82F1AAE43411}" type="slidenum">
              <a:t>29</a:t>
            </a:fld>
          </a:p>
        </p:txBody>
      </p:sp>
    </p:spTree>
  </p:cSld>
  <mc:AlternateContent>
    <mc:Choice Requires="p14">
      <p:transition spd="slow" p14:dur="2000"/>
    </mc:Choice>
    <mc:Fallback>
      <p:transition spd="slow"/>
    </mc:Fallback>
  </mc:AlternateContent>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17" name="" descr=""/>
          <p:cNvPicPr/>
          <p:nvPr/>
        </p:nvPicPr>
        <p:blipFill>
          <a:blip r:embed="rId1"/>
          <a:stretch/>
        </p:blipFill>
        <p:spPr>
          <a:xfrm>
            <a:off x="308160" y="360000"/>
            <a:ext cx="3109320" cy="4497480"/>
          </a:xfrm>
          <a:prstGeom prst="rect">
            <a:avLst/>
          </a:prstGeom>
          <a:noFill/>
          <a:ln w="0">
            <a:noFill/>
          </a:ln>
        </p:spPr>
      </p:pic>
      <p:pic>
        <p:nvPicPr>
          <p:cNvPr id="118" name="" descr=""/>
          <p:cNvPicPr/>
          <p:nvPr/>
        </p:nvPicPr>
        <p:blipFill>
          <a:blip r:embed="rId2"/>
          <a:stretch/>
        </p:blipFill>
        <p:spPr>
          <a:xfrm>
            <a:off x="3600000" y="360000"/>
            <a:ext cx="2832480" cy="5037480"/>
          </a:xfrm>
          <a:prstGeom prst="rect">
            <a:avLst/>
          </a:prstGeom>
          <a:noFill/>
          <a:ln w="0">
            <a:noFill/>
          </a:ln>
        </p:spPr>
      </p:pic>
      <p:sp>
        <p:nvSpPr>
          <p:cNvPr id="119" name="PlaceHolder 1"/>
          <p:cNvSpPr>
            <a:spLocks noGrp="1"/>
          </p:cNvSpPr>
          <p:nvPr>
            <p:ph type="title"/>
          </p:nvPr>
        </p:nvSpPr>
        <p:spPr>
          <a:xfrm>
            <a:off x="6661440" y="-48960"/>
            <a:ext cx="3237480" cy="948960"/>
          </a:xfrm>
          <a:prstGeom prst="rect">
            <a:avLst/>
          </a:prstGeom>
          <a:noFill/>
          <a:ln w="0">
            <a:noFill/>
          </a:ln>
        </p:spPr>
        <p:txBody>
          <a:bodyPr lIns="0" rIns="0" tIns="0" bIns="0" anchor="ctr">
            <a:spAutoFit/>
          </a:bodyPr>
          <a:p>
            <a:pPr indent="0" algn="ctr">
              <a:lnSpc>
                <a:spcPct val="100000"/>
              </a:lnSpc>
              <a:buNone/>
              <a:tabLst>
                <a:tab algn="l" pos="0"/>
              </a:tabLst>
            </a:pPr>
            <a:r>
              <a:rPr b="0" lang="en-US" sz="2600" strike="noStrike" u="none">
                <a:solidFill>
                  <a:srgbClr val="000000"/>
                </a:solidFill>
                <a:effectLst/>
                <a:uFillTx/>
                <a:latin typeface="Arial"/>
              </a:rPr>
              <a:t>Bayesian Network</a:t>
            </a:r>
            <a:endParaRPr b="0" lang="en-AU" sz="2600" strike="noStrike" u="none">
              <a:solidFill>
                <a:srgbClr val="000000"/>
              </a:solidFill>
              <a:effectLst/>
              <a:uFillTx/>
              <a:latin typeface="Arial"/>
            </a:endParaRPr>
          </a:p>
        </p:txBody>
      </p:sp>
      <p:sp>
        <p:nvSpPr>
          <p:cNvPr id="120" name=""/>
          <p:cNvSpPr/>
          <p:nvPr/>
        </p:nvSpPr>
        <p:spPr>
          <a:xfrm>
            <a:off x="6661440" y="785880"/>
            <a:ext cx="3237480" cy="4974120"/>
          </a:xfrm>
          <a:prstGeom prst="rect">
            <a:avLst/>
          </a:prstGeom>
          <a:noFill/>
          <a:ln w="0">
            <a:noFill/>
          </a:ln>
        </p:spPr>
        <p:style>
          <a:lnRef idx="0"/>
          <a:fillRef idx="0"/>
          <a:effectRef idx="0"/>
          <a:fontRef idx="minor"/>
        </p:style>
        <p:txBody>
          <a:bodyPr lIns="90000" rIns="90000" tIns="45000" bIns="45000" anchor="t">
            <a:spAutoFit/>
          </a:bodyPr>
          <a:p>
            <a:pPr marL="216000" indent="-216000">
              <a:lnSpc>
                <a:spcPct val="100000"/>
              </a:lnSpc>
              <a:buClr>
                <a:srgbClr val="000000"/>
              </a:buClr>
              <a:buSzPct val="45000"/>
              <a:buFont typeface="Wingdings" charset="2"/>
              <a:buChar char=""/>
            </a:pPr>
            <a:r>
              <a:rPr b="0" lang="en-US" sz="1000" strike="noStrike" u="none">
                <a:solidFill>
                  <a:srgbClr val="000000"/>
                </a:solidFill>
                <a:effectLst/>
                <a:uFillTx/>
                <a:latin typeface="Arial"/>
                <a:ea typeface="DejaVu Sans"/>
              </a:rPr>
              <a:t>The model can only trace the student interactions of a single question. Hence, there is only one latent KC, i.e., the KC for answering the question. </a:t>
            </a:r>
            <a:endParaRPr b="0" lang="en-AU" sz="1000" strike="noStrike" u="none">
              <a:solidFill>
                <a:srgbClr val="000000"/>
              </a:solidFill>
              <a:effectLst/>
              <a:uFillTx/>
              <a:latin typeface="Arial"/>
            </a:endParaRPr>
          </a:p>
          <a:p>
            <a:pPr marL="216000" indent="-216000">
              <a:lnSpc>
                <a:spcPct val="100000"/>
              </a:lnSpc>
              <a:buClr>
                <a:srgbClr val="000000"/>
              </a:buClr>
              <a:buSzPct val="45000"/>
              <a:buFont typeface="Wingdings" charset="2"/>
              <a:buChar char=""/>
            </a:pPr>
            <a:r>
              <a:rPr b="0" lang="en-US" sz="1000" strike="noStrike" u="none">
                <a:solidFill>
                  <a:srgbClr val="000000"/>
                </a:solidFill>
                <a:effectLst/>
                <a:uFillTx/>
                <a:latin typeface="Arial"/>
                <a:ea typeface="DejaVu Sans"/>
              </a:rPr>
              <a:t>The student’s latent knowledge state at t = n, p(Ln), also represents the probability the student can correctly answer the question.</a:t>
            </a:r>
            <a:endParaRPr b="0" lang="en-AU" sz="1000" strike="noStrike" u="none">
              <a:solidFill>
                <a:srgbClr val="000000"/>
              </a:solidFill>
              <a:effectLst/>
              <a:uFillTx/>
              <a:latin typeface="Arial"/>
            </a:endParaRPr>
          </a:p>
          <a:p>
            <a:pPr marL="216000" indent="-216000">
              <a:lnSpc>
                <a:spcPct val="100000"/>
              </a:lnSpc>
              <a:buClr>
                <a:srgbClr val="000000"/>
              </a:buClr>
              <a:buSzPct val="45000"/>
              <a:buFont typeface="Wingdings" charset="2"/>
              <a:buChar char=""/>
            </a:pPr>
            <a:r>
              <a:rPr b="0" lang="en-US" sz="1000" strike="noStrike" u="none">
                <a:solidFill>
                  <a:srgbClr val="000000"/>
                </a:solidFill>
                <a:effectLst/>
                <a:uFillTx/>
                <a:latin typeface="Arial"/>
                <a:ea typeface="DejaVu Sans"/>
              </a:rPr>
              <a:t>The RHS graph is already the full model the original Bayesian BT (BKT), not a conceptual graph. </a:t>
            </a:r>
            <a:endParaRPr b="0" lang="en-AU" sz="1000" strike="noStrike" u="none">
              <a:solidFill>
                <a:srgbClr val="000000"/>
              </a:solidFill>
              <a:effectLst/>
              <a:uFillTx/>
              <a:latin typeface="Arial"/>
            </a:endParaRPr>
          </a:p>
          <a:p>
            <a:pPr marL="216000" indent="-216000">
              <a:lnSpc>
                <a:spcPct val="100000"/>
              </a:lnSpc>
              <a:buClr>
                <a:srgbClr val="000000"/>
              </a:buClr>
              <a:buSzPct val="45000"/>
              <a:buFont typeface="Wingdings" charset="2"/>
              <a:buChar char=""/>
            </a:pPr>
            <a:r>
              <a:rPr b="0" lang="en-US" sz="1000" strike="noStrike" u="none">
                <a:solidFill>
                  <a:srgbClr val="000000"/>
                </a:solidFill>
                <a:effectLst/>
                <a:uFillTx/>
                <a:latin typeface="Arial"/>
                <a:ea typeface="DejaVu Sans"/>
              </a:rPr>
              <a:t>The mastery is binary.</a:t>
            </a:r>
            <a:endParaRPr b="0" lang="en-AU" sz="1000" strike="noStrike" u="none">
              <a:solidFill>
                <a:srgbClr val="000000"/>
              </a:solidFill>
              <a:effectLst/>
              <a:uFillTx/>
              <a:latin typeface="Arial"/>
            </a:endParaRPr>
          </a:p>
          <a:p>
            <a:pPr marL="216000" indent="-216000">
              <a:lnSpc>
                <a:spcPct val="100000"/>
              </a:lnSpc>
              <a:buClr>
                <a:srgbClr val="000000"/>
              </a:buClr>
              <a:buSzPct val="45000"/>
              <a:buFont typeface="Wingdings" charset="2"/>
              <a:buChar char=""/>
            </a:pPr>
            <a:r>
              <a:rPr b="0" lang="en-US" sz="1000" strike="noStrike" u="none">
                <a:solidFill>
                  <a:srgbClr val="000000"/>
                </a:solidFill>
                <a:effectLst/>
                <a:uFillTx/>
                <a:latin typeface="Arial"/>
                <a:ea typeface="DejaVu Sans"/>
              </a:rPr>
              <a:t>For multiple questions, we build a separate BKT model for each.</a:t>
            </a:r>
            <a:endParaRPr b="0" lang="en-AU" sz="1000" strike="noStrike" u="none">
              <a:solidFill>
                <a:srgbClr val="000000"/>
              </a:solidFill>
              <a:effectLst/>
              <a:uFillTx/>
              <a:latin typeface="Arial"/>
            </a:endParaRPr>
          </a:p>
          <a:p>
            <a:pPr>
              <a:lnSpc>
                <a:spcPct val="100000"/>
              </a:lnSpc>
            </a:pPr>
            <a:endParaRPr b="0" lang="en-AU" sz="1000" strike="noStrike" u="none">
              <a:solidFill>
                <a:srgbClr val="000000"/>
              </a:solidFill>
              <a:effectLst/>
              <a:uFillTx/>
              <a:latin typeface="Arial"/>
            </a:endParaRPr>
          </a:p>
          <a:p>
            <a:pPr>
              <a:lnSpc>
                <a:spcPct val="100000"/>
              </a:lnSpc>
            </a:pPr>
            <a:r>
              <a:rPr b="0" lang="en-US" sz="1000" strike="noStrike" u="none">
                <a:solidFill>
                  <a:srgbClr val="2a6099"/>
                </a:solidFill>
                <a:effectLst/>
                <a:uFillTx/>
                <a:latin typeface="Arial"/>
                <a:ea typeface="DejaVu Sans"/>
              </a:rPr>
              <a:t>Static Parameters</a:t>
            </a:r>
            <a:r>
              <a:rPr b="0" lang="en-US" sz="1000" strike="noStrike" u="none">
                <a:solidFill>
                  <a:srgbClr val="000000"/>
                </a:solidFill>
                <a:effectLst/>
                <a:uFillTx/>
                <a:latin typeface="Arial"/>
                <a:ea typeface="DejaVu Sans"/>
              </a:rPr>
              <a:t>. </a:t>
            </a:r>
            <a:endParaRPr b="0" lang="en-AU" sz="1000" strike="noStrike" u="none">
              <a:solidFill>
                <a:srgbClr val="000000"/>
              </a:solidFill>
              <a:effectLst/>
              <a:uFillTx/>
              <a:latin typeface="Arial"/>
            </a:endParaRPr>
          </a:p>
          <a:p>
            <a:pPr marL="216000" indent="-216000">
              <a:lnSpc>
                <a:spcPct val="100000"/>
              </a:lnSpc>
              <a:buClr>
                <a:srgbClr val="000000"/>
              </a:buClr>
              <a:buSzPct val="45000"/>
              <a:buFont typeface="Wingdings" charset="2"/>
              <a:buChar char=""/>
            </a:pPr>
            <a:r>
              <a:rPr b="0" lang="en-US" sz="1000" strike="noStrike" u="none">
                <a:solidFill>
                  <a:srgbClr val="000000"/>
                </a:solidFill>
                <a:effectLst/>
                <a:uFillTx/>
                <a:latin typeface="Arial"/>
                <a:ea typeface="DejaVu Sans"/>
              </a:rPr>
              <a:t>p(G): The probability of guessing right, i.e., the probability of answering the question right even in an unlearned state.</a:t>
            </a:r>
            <a:endParaRPr b="0" lang="en-AU" sz="1000" strike="noStrike" u="none">
              <a:solidFill>
                <a:srgbClr val="000000"/>
              </a:solidFill>
              <a:effectLst/>
              <a:uFillTx/>
              <a:latin typeface="Arial"/>
            </a:endParaRPr>
          </a:p>
          <a:p>
            <a:pPr marL="216000" indent="-216000">
              <a:lnSpc>
                <a:spcPct val="100000"/>
              </a:lnSpc>
              <a:buClr>
                <a:srgbClr val="000000"/>
              </a:buClr>
              <a:buSzPct val="45000"/>
              <a:buFont typeface="Wingdings" charset="2"/>
              <a:buChar char=""/>
            </a:pPr>
            <a:r>
              <a:rPr b="0" lang="en-US" sz="1000" strike="noStrike" u="none">
                <a:solidFill>
                  <a:srgbClr val="000000"/>
                </a:solidFill>
                <a:effectLst/>
                <a:uFillTx/>
                <a:latin typeface="Arial"/>
                <a:ea typeface="DejaVu Sans"/>
              </a:rPr>
              <a:t>p(S): The probability of slipping, i.e., the probability of answering the question wrong in a learned state.</a:t>
            </a:r>
            <a:endParaRPr b="0" lang="en-AU" sz="1000" strike="noStrike" u="none">
              <a:solidFill>
                <a:srgbClr val="000000"/>
              </a:solidFill>
              <a:effectLst/>
              <a:uFillTx/>
              <a:latin typeface="Arial"/>
            </a:endParaRPr>
          </a:p>
          <a:p>
            <a:pPr marL="216000" indent="-216000">
              <a:lnSpc>
                <a:spcPct val="100000"/>
              </a:lnSpc>
              <a:buClr>
                <a:srgbClr val="000000"/>
              </a:buClr>
              <a:buSzPct val="45000"/>
              <a:buFont typeface="Wingdings" charset="2"/>
              <a:buChar char=""/>
            </a:pPr>
            <a:r>
              <a:rPr b="0" lang="en-US" sz="1000" strike="noStrike" u="none">
                <a:solidFill>
                  <a:srgbClr val="000000"/>
                </a:solidFill>
                <a:effectLst/>
                <a:uFillTx/>
                <a:latin typeface="Arial"/>
                <a:ea typeface="DejaVu Sans"/>
              </a:rPr>
              <a:t>p(T): The probability of transiting from a unlearned state to a learned state between t = n and t = n+1.</a:t>
            </a:r>
            <a:endParaRPr b="0" lang="en-AU" sz="1000" strike="noStrike" u="none">
              <a:solidFill>
                <a:srgbClr val="000000"/>
              </a:solidFill>
              <a:effectLst/>
              <a:uFillTx/>
              <a:latin typeface="Arial"/>
            </a:endParaRPr>
          </a:p>
          <a:p>
            <a:pPr marL="216000" indent="-216000">
              <a:lnSpc>
                <a:spcPct val="100000"/>
              </a:lnSpc>
              <a:buClr>
                <a:srgbClr val="000000"/>
              </a:buClr>
              <a:buSzPct val="45000"/>
              <a:buFont typeface="Wingdings" charset="2"/>
              <a:buChar char=""/>
            </a:pPr>
            <a:r>
              <a:rPr b="0" lang="en-US" sz="1000" strike="noStrike" u="none">
                <a:solidFill>
                  <a:srgbClr val="000000"/>
                </a:solidFill>
                <a:effectLst/>
                <a:uFillTx/>
                <a:latin typeface="Arial"/>
                <a:ea typeface="DejaVu Sans"/>
              </a:rPr>
              <a:t>p(L0): The probability that the student have mastered the KC initially.</a:t>
            </a:r>
            <a:endParaRPr b="0" lang="en-AU" sz="1000" strike="noStrike" u="none">
              <a:solidFill>
                <a:srgbClr val="000000"/>
              </a:solidFill>
              <a:effectLst/>
              <a:uFillTx/>
              <a:latin typeface="Arial"/>
            </a:endParaRPr>
          </a:p>
          <a:p>
            <a:pPr>
              <a:lnSpc>
                <a:spcPct val="100000"/>
              </a:lnSpc>
            </a:pPr>
            <a:endParaRPr b="0" lang="en-AU" sz="1000" strike="noStrike" u="none">
              <a:solidFill>
                <a:srgbClr val="000000"/>
              </a:solidFill>
              <a:effectLst/>
              <a:uFillTx/>
              <a:latin typeface="Arial"/>
            </a:endParaRPr>
          </a:p>
          <a:p>
            <a:pPr>
              <a:lnSpc>
                <a:spcPct val="100000"/>
              </a:lnSpc>
            </a:pPr>
            <a:r>
              <a:rPr b="0" lang="en-US" sz="1000" strike="noStrike" u="none">
                <a:solidFill>
                  <a:srgbClr val="00a933"/>
                </a:solidFill>
                <a:effectLst/>
                <a:uFillTx/>
                <a:latin typeface="Arial"/>
                <a:ea typeface="DejaVu Sans"/>
              </a:rPr>
              <a:t>Online parameters.</a:t>
            </a:r>
            <a:r>
              <a:rPr b="0" lang="en-US" sz="1000" strike="noStrike" u="none">
                <a:solidFill>
                  <a:srgbClr val="000000"/>
                </a:solidFill>
                <a:effectLst/>
                <a:uFillTx/>
                <a:latin typeface="Arial"/>
                <a:ea typeface="DejaVu Sans"/>
              </a:rPr>
              <a:t> </a:t>
            </a:r>
            <a:endParaRPr b="0" lang="en-AU" sz="1000" strike="noStrike" u="none">
              <a:solidFill>
                <a:srgbClr val="000000"/>
              </a:solidFill>
              <a:effectLst/>
              <a:uFillTx/>
              <a:latin typeface="Arial"/>
            </a:endParaRPr>
          </a:p>
          <a:p>
            <a:pPr marL="216000" indent="-216000">
              <a:lnSpc>
                <a:spcPct val="100000"/>
              </a:lnSpc>
              <a:buClr>
                <a:srgbClr val="000000"/>
              </a:buClr>
              <a:buSzPct val="45000"/>
              <a:buFont typeface="Wingdings" charset="2"/>
              <a:buChar char=""/>
            </a:pPr>
            <a:r>
              <a:rPr b="0" lang="en-US" sz="1000" strike="noStrike" u="none">
                <a:solidFill>
                  <a:srgbClr val="000000"/>
                </a:solidFill>
                <a:effectLst/>
                <a:uFillTx/>
                <a:latin typeface="Arial"/>
                <a:ea typeface="DejaVu Sans"/>
              </a:rPr>
              <a:t>p(Ln): The probability that the student have masted the KC at t=n. Also the probability that the student can answer the quesiton at t=n.</a:t>
            </a:r>
            <a:endParaRPr b="0" lang="en-AU" sz="1000" strike="noStrike" u="none">
              <a:solidFill>
                <a:srgbClr val="000000"/>
              </a:solidFill>
              <a:effectLst/>
              <a:uFillTx/>
              <a:latin typeface="Arial"/>
            </a:endParaRPr>
          </a:p>
          <a:p>
            <a:pPr>
              <a:lnSpc>
                <a:spcPct val="100000"/>
              </a:lnSpc>
            </a:pPr>
            <a:endParaRPr b="0" lang="en-AU" sz="1000" strike="noStrike" u="none">
              <a:solidFill>
                <a:srgbClr val="000000"/>
              </a:solidFill>
              <a:effectLst/>
              <a:uFillTx/>
              <a:latin typeface="Arial"/>
            </a:endParaRPr>
          </a:p>
          <a:p>
            <a:pPr>
              <a:lnSpc>
                <a:spcPct val="100000"/>
              </a:lnSpc>
            </a:pPr>
            <a:endParaRPr b="0" lang="en-AU" sz="1000" strike="noStrike" u="none">
              <a:solidFill>
                <a:srgbClr val="000000"/>
              </a:solidFill>
              <a:effectLst/>
              <a:uFillTx/>
              <a:latin typeface="Arial"/>
            </a:endParaRPr>
          </a:p>
          <a:p>
            <a:pPr>
              <a:lnSpc>
                <a:spcPct val="100000"/>
              </a:lnSpc>
            </a:pPr>
            <a:endParaRPr b="0" lang="en-AU" sz="1000" strike="noStrike" u="none">
              <a:solidFill>
                <a:srgbClr val="000000"/>
              </a:solidFill>
              <a:effectLst/>
              <a:uFillTx/>
              <a:latin typeface="Arial"/>
            </a:endParaRPr>
          </a:p>
        </p:txBody>
      </p:sp>
      <p:sp>
        <p:nvSpPr>
          <p:cNvPr id="121" name=""/>
          <p:cNvSpPr/>
          <p:nvPr/>
        </p:nvSpPr>
        <p:spPr>
          <a:xfrm>
            <a:off x="3960000" y="3780000"/>
            <a:ext cx="2157480" cy="89748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i="1" lang="en-US" sz="1000" strike="noStrike" u="none">
                <a:solidFill>
                  <a:srgbClr val="000000"/>
                </a:solidFill>
                <a:effectLst/>
                <a:uFillTx/>
                <a:latin typeface="Arial"/>
                <a:ea typeface="DejaVu Sans"/>
              </a:rPr>
              <a:t>Albert T. Corbett and John R. Anderson. 1994. Knowledge tracing: Modeling the acquisition of procedural knowledge.</a:t>
            </a:r>
            <a:endParaRPr b="0" lang="en-AU" sz="1000" strike="noStrike" u="none">
              <a:solidFill>
                <a:srgbClr val="000000"/>
              </a:solidFill>
              <a:effectLst/>
              <a:uFillTx/>
              <a:latin typeface="Arial"/>
            </a:endParaRPr>
          </a:p>
          <a:p>
            <a:pPr>
              <a:lnSpc>
                <a:spcPct val="100000"/>
              </a:lnSpc>
            </a:pPr>
            <a:r>
              <a:rPr b="0" i="1" lang="en-US" sz="1000" strike="noStrike" u="none">
                <a:solidFill>
                  <a:srgbClr val="000000"/>
                </a:solidFill>
                <a:effectLst/>
                <a:uFillTx/>
                <a:latin typeface="Arial"/>
                <a:ea typeface="DejaVu Sans"/>
              </a:rPr>
              <a:t>UMUAI 4 (1994), 253–278.</a:t>
            </a:r>
            <a:endParaRPr b="0" lang="en-AU" sz="1000" strike="noStrike" u="none">
              <a:solidFill>
                <a:srgbClr val="000000"/>
              </a:solidFill>
              <a:effectLst/>
              <a:uFillTx/>
              <a:latin typeface="Arial"/>
            </a:endParaRPr>
          </a:p>
        </p:txBody>
      </p:sp>
      <p:sp>
        <p:nvSpPr>
          <p:cNvPr id="3" name="PlaceHolder 2"/>
          <p:cNvSpPr>
            <a:spLocks noGrp="1"/>
          </p:cNvSpPr>
          <p:nvPr>
            <p:ph type="sldNum" idx="2"/>
          </p:nvPr>
        </p:nvSpPr>
        <p:spPr/>
        <p:txBody>
          <a:bodyPr/>
          <a:p>
            <a:fld id="{4F92A5D5-049B-49BA-AEF2-A310C695615E}" type="slidenum">
              <a:t>30</a:t>
            </a:fld>
          </a:p>
        </p:txBody>
      </p:sp>
    </p:spTree>
  </p:cSld>
  <mc:AlternateContent>
    <mc:Choice Requires="p14">
      <p:transition spd="slow" p14:dur="2000"/>
    </mc:Choice>
    <mc:Fallback>
      <p:transition spd="slow"/>
    </mc:Fallback>
  </mc:AlternateContent>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2" name="PlaceHolder 1"/>
          <p:cNvSpPr>
            <a:spLocks noGrp="1"/>
          </p:cNvSpPr>
          <p:nvPr>
            <p:ph type="title"/>
          </p:nvPr>
        </p:nvSpPr>
        <p:spPr>
          <a:xfrm>
            <a:off x="4248360" y="223560"/>
            <a:ext cx="5649120" cy="676440"/>
          </a:xfrm>
          <a:prstGeom prst="rect">
            <a:avLst/>
          </a:prstGeom>
          <a:noFill/>
          <a:ln w="0">
            <a:noFill/>
          </a:ln>
        </p:spPr>
        <p:txBody>
          <a:bodyPr lIns="0" rIns="0" tIns="0" bIns="0" anchor="ctr">
            <a:spAutoFit/>
          </a:bodyPr>
          <a:p>
            <a:pPr indent="0" algn="ctr">
              <a:lnSpc>
                <a:spcPct val="100000"/>
              </a:lnSpc>
              <a:buNone/>
              <a:tabLst>
                <a:tab algn="l" pos="0"/>
              </a:tabLst>
            </a:pPr>
            <a:r>
              <a:rPr b="0" lang="en-US" sz="2600" strike="noStrike" u="none">
                <a:solidFill>
                  <a:srgbClr val="000000"/>
                </a:solidFill>
                <a:effectLst/>
                <a:uFillTx/>
                <a:latin typeface="Arial"/>
              </a:rPr>
              <a:t>Bayesian Network (Analysis)</a:t>
            </a:r>
            <a:endParaRPr b="0" lang="en-AU" sz="2600" strike="noStrike" u="none">
              <a:solidFill>
                <a:srgbClr val="000000"/>
              </a:solidFill>
              <a:effectLst/>
              <a:uFillTx/>
              <a:latin typeface="Arial"/>
            </a:endParaRPr>
          </a:p>
        </p:txBody>
      </p:sp>
      <p:sp>
        <p:nvSpPr>
          <p:cNvPr id="123" name="PlaceHolder 2"/>
          <p:cNvSpPr>
            <a:spLocks noGrp="1"/>
          </p:cNvSpPr>
          <p:nvPr>
            <p:ph/>
          </p:nvPr>
        </p:nvSpPr>
        <p:spPr>
          <a:xfrm>
            <a:off x="4320000" y="1080000"/>
            <a:ext cx="5577480" cy="3957480"/>
          </a:xfrm>
          <a:prstGeom prst="rect">
            <a:avLst/>
          </a:prstGeom>
          <a:noFill/>
          <a:ln w="0">
            <a:noFill/>
          </a:ln>
        </p:spPr>
        <p:txBody>
          <a:bodyPr lIns="0" rIns="0" tIns="0" bIns="0" anchor="t">
            <a:normAutofit lnSpcReduction="9999"/>
          </a:bodyPr>
          <a:p>
            <a:pPr indent="0">
              <a:lnSpc>
                <a:spcPct val="100000"/>
              </a:lnSpc>
              <a:spcBef>
                <a:spcPts val="1417"/>
              </a:spcBef>
              <a:buNone/>
              <a:tabLst>
                <a:tab algn="l" pos="0"/>
              </a:tabLst>
            </a:pPr>
            <a:r>
              <a:rPr b="0" lang="en-US" sz="1600" strike="noStrike" u="none">
                <a:solidFill>
                  <a:srgbClr val="000000"/>
                </a:solidFill>
                <a:effectLst/>
                <a:uFillTx/>
                <a:latin typeface="Arial"/>
              </a:rPr>
              <a:t>🤔 How does it model KCs?</a:t>
            </a:r>
            <a:endParaRPr b="0" lang="en-AU" sz="1600" strike="noStrike" u="none">
              <a:solidFill>
                <a:srgbClr val="000000"/>
              </a:solidFill>
              <a:effectLst/>
              <a:uFillTx/>
              <a:latin typeface="Arial"/>
            </a:endParaRPr>
          </a:p>
          <a:p>
            <a:pPr marL="432000" indent="-324000">
              <a:lnSpc>
                <a:spcPct val="100000"/>
              </a:lnSpc>
              <a:spcBef>
                <a:spcPts val="1417"/>
              </a:spcBef>
              <a:buClr>
                <a:srgbClr val="000000"/>
              </a:buClr>
              <a:buSzPct val="45000"/>
              <a:buFont typeface="Wingdings" charset="2"/>
              <a:buChar char=""/>
              <a:tabLst>
                <a:tab algn="l" pos="0"/>
              </a:tabLst>
            </a:pPr>
            <a:r>
              <a:rPr b="0" lang="en-US" sz="1600" strike="noStrike" u="none">
                <a:solidFill>
                  <a:srgbClr val="000000"/>
                </a:solidFill>
                <a:effectLst/>
                <a:uFillTx/>
                <a:latin typeface="Arial"/>
              </a:rPr>
              <a:t>❌ Does not model. It is assumed that one question corresponds to one KC only.</a:t>
            </a:r>
            <a:endParaRPr b="0" lang="en-AU" sz="1600" strike="noStrike" u="none">
              <a:solidFill>
                <a:srgbClr val="000000"/>
              </a:solidFill>
              <a:effectLst/>
              <a:uFillTx/>
              <a:latin typeface="Arial"/>
            </a:endParaRPr>
          </a:p>
          <a:p>
            <a:pPr indent="0">
              <a:lnSpc>
                <a:spcPct val="100000"/>
              </a:lnSpc>
              <a:spcBef>
                <a:spcPts val="1417"/>
              </a:spcBef>
              <a:buNone/>
              <a:tabLst>
                <a:tab algn="l" pos="0"/>
              </a:tabLst>
            </a:pPr>
            <a:r>
              <a:rPr b="0" lang="en-US" sz="1600" strike="noStrike" u="none">
                <a:solidFill>
                  <a:srgbClr val="000000"/>
                </a:solidFill>
                <a:effectLst/>
                <a:uFillTx/>
                <a:latin typeface="Arial"/>
              </a:rPr>
              <a:t>🤔 How does it model KC-KC relations?</a:t>
            </a:r>
            <a:endParaRPr b="0" lang="en-AU" sz="1600" strike="noStrike" u="none">
              <a:solidFill>
                <a:srgbClr val="000000"/>
              </a:solidFill>
              <a:effectLst/>
              <a:uFillTx/>
              <a:latin typeface="Arial"/>
            </a:endParaRPr>
          </a:p>
          <a:p>
            <a:pPr marL="432000" indent="-324000">
              <a:lnSpc>
                <a:spcPct val="100000"/>
              </a:lnSpc>
              <a:spcBef>
                <a:spcPts val="1417"/>
              </a:spcBef>
              <a:buClr>
                <a:srgbClr val="000000"/>
              </a:buClr>
              <a:buSzPct val="45000"/>
              <a:buFont typeface="Wingdings" charset="2"/>
              <a:buChar char=""/>
              <a:tabLst>
                <a:tab algn="l" pos="0"/>
              </a:tabLst>
            </a:pPr>
            <a:r>
              <a:rPr b="0" lang="en-US" sz="1600" strike="noStrike" u="none">
                <a:solidFill>
                  <a:srgbClr val="000000"/>
                </a:solidFill>
                <a:effectLst/>
                <a:uFillTx/>
                <a:latin typeface="Arial"/>
              </a:rPr>
              <a:t>❌ Does not model.</a:t>
            </a:r>
            <a:endParaRPr b="0" lang="en-AU" sz="1600" strike="noStrike" u="none">
              <a:solidFill>
                <a:srgbClr val="000000"/>
              </a:solidFill>
              <a:effectLst/>
              <a:uFillTx/>
              <a:latin typeface="Arial"/>
            </a:endParaRPr>
          </a:p>
          <a:p>
            <a:pPr indent="0">
              <a:lnSpc>
                <a:spcPct val="100000"/>
              </a:lnSpc>
              <a:spcBef>
                <a:spcPts val="1417"/>
              </a:spcBef>
              <a:buNone/>
              <a:tabLst>
                <a:tab algn="l" pos="0"/>
              </a:tabLst>
            </a:pPr>
            <a:r>
              <a:rPr b="0" lang="en-US" sz="1600" strike="noStrike" u="none">
                <a:solidFill>
                  <a:srgbClr val="000000"/>
                </a:solidFill>
                <a:effectLst/>
                <a:uFillTx/>
                <a:latin typeface="Arial"/>
              </a:rPr>
              <a:t>🤔 How does it model the learning of KCs?</a:t>
            </a:r>
            <a:endParaRPr b="0" lang="en-AU" sz="1600" strike="noStrike" u="none">
              <a:solidFill>
                <a:srgbClr val="000000"/>
              </a:solidFill>
              <a:effectLst/>
              <a:uFillTx/>
              <a:latin typeface="Arial"/>
            </a:endParaRPr>
          </a:p>
          <a:p>
            <a:pPr marL="432000" indent="-324000">
              <a:lnSpc>
                <a:spcPct val="100000"/>
              </a:lnSpc>
              <a:spcBef>
                <a:spcPts val="1417"/>
              </a:spcBef>
              <a:buClr>
                <a:srgbClr val="000000"/>
              </a:buClr>
              <a:buSzPct val="45000"/>
              <a:buFont typeface="Wingdings" charset="2"/>
              <a:buChar char=""/>
              <a:tabLst>
                <a:tab algn="l" pos="0"/>
              </a:tabLst>
            </a:pPr>
            <a:r>
              <a:rPr b="1" lang="en-US" sz="1600" strike="noStrike" u="none">
                <a:solidFill>
                  <a:srgbClr val="000000"/>
                </a:solidFill>
                <a:effectLst/>
                <a:uFillTx/>
                <a:latin typeface="Arial"/>
              </a:rPr>
              <a:t>Explicitly</a:t>
            </a:r>
            <a:r>
              <a:rPr b="0" lang="en-US" sz="1600" strike="noStrike" u="none">
                <a:solidFill>
                  <a:srgbClr val="000000"/>
                </a:solidFill>
                <a:effectLst/>
                <a:uFillTx/>
                <a:latin typeface="Arial"/>
              </a:rPr>
              <a:t> through a single probability value, p(T)</a:t>
            </a:r>
            <a:endParaRPr b="0" lang="en-AU" sz="1600" strike="noStrike" u="none">
              <a:solidFill>
                <a:srgbClr val="000000"/>
              </a:solidFill>
              <a:effectLst/>
              <a:uFillTx/>
              <a:latin typeface="Arial"/>
            </a:endParaRPr>
          </a:p>
          <a:p>
            <a:pPr indent="0">
              <a:lnSpc>
                <a:spcPct val="100000"/>
              </a:lnSpc>
              <a:spcBef>
                <a:spcPts val="1417"/>
              </a:spcBef>
              <a:buNone/>
              <a:tabLst>
                <a:tab algn="l" pos="0"/>
              </a:tabLst>
            </a:pPr>
            <a:r>
              <a:rPr b="0" lang="en-US" sz="1600" strike="noStrike" u="none">
                <a:solidFill>
                  <a:srgbClr val="000000"/>
                </a:solidFill>
                <a:effectLst/>
                <a:uFillTx/>
                <a:latin typeface="Arial"/>
              </a:rPr>
              <a:t>🤔 How does it model the forgetting of KCs?</a:t>
            </a:r>
            <a:endParaRPr b="0" lang="en-AU" sz="1600" strike="noStrike" u="none">
              <a:solidFill>
                <a:srgbClr val="000000"/>
              </a:solidFill>
              <a:effectLst/>
              <a:uFillTx/>
              <a:latin typeface="Arial"/>
            </a:endParaRPr>
          </a:p>
          <a:p>
            <a:pPr marL="432000" indent="-324000">
              <a:lnSpc>
                <a:spcPct val="100000"/>
              </a:lnSpc>
              <a:spcBef>
                <a:spcPts val="1417"/>
              </a:spcBef>
              <a:buClr>
                <a:srgbClr val="000000"/>
              </a:buClr>
              <a:buSzPct val="45000"/>
              <a:buFont typeface="Wingdings" charset="2"/>
              <a:buChar char=""/>
              <a:tabLst>
                <a:tab algn="l" pos="0"/>
              </a:tabLst>
            </a:pPr>
            <a:r>
              <a:rPr b="0" lang="en-US" sz="1600" strike="noStrike" u="none">
                <a:solidFill>
                  <a:srgbClr val="000000"/>
                </a:solidFill>
                <a:effectLst/>
                <a:uFillTx/>
                <a:latin typeface="Arial"/>
              </a:rPr>
              <a:t>❌ Does not model.</a:t>
            </a:r>
            <a:endParaRPr b="0" lang="en-AU" sz="1600" strike="noStrike" u="none">
              <a:solidFill>
                <a:srgbClr val="000000"/>
              </a:solidFill>
              <a:effectLst/>
              <a:uFillTx/>
              <a:latin typeface="Arial"/>
            </a:endParaRPr>
          </a:p>
          <a:p>
            <a:pPr indent="0">
              <a:lnSpc>
                <a:spcPct val="100000"/>
              </a:lnSpc>
              <a:spcBef>
                <a:spcPts val="1417"/>
              </a:spcBef>
              <a:buNone/>
              <a:tabLst>
                <a:tab algn="l" pos="0"/>
              </a:tabLst>
            </a:pPr>
            <a:r>
              <a:rPr b="0" lang="en-US" sz="1600" strike="noStrike" u="none">
                <a:solidFill>
                  <a:srgbClr val="000000"/>
                </a:solidFill>
                <a:effectLst/>
                <a:uFillTx/>
                <a:latin typeface="Arial"/>
              </a:rPr>
              <a:t>🤔 How does it model the student’s knowledge state?</a:t>
            </a:r>
            <a:endParaRPr b="0" lang="en-AU" sz="1600" strike="noStrike" u="none">
              <a:solidFill>
                <a:srgbClr val="000000"/>
              </a:solidFill>
              <a:effectLst/>
              <a:uFillTx/>
              <a:latin typeface="Arial"/>
            </a:endParaRPr>
          </a:p>
          <a:p>
            <a:pPr marL="432000" indent="-324000">
              <a:lnSpc>
                <a:spcPct val="100000"/>
              </a:lnSpc>
              <a:spcBef>
                <a:spcPts val="1417"/>
              </a:spcBef>
              <a:buClr>
                <a:srgbClr val="000000"/>
              </a:buClr>
              <a:buSzPct val="45000"/>
              <a:buFont typeface="Wingdings" charset="2"/>
              <a:buChar char=""/>
              <a:tabLst>
                <a:tab algn="l" pos="0"/>
              </a:tabLst>
            </a:pPr>
            <a:r>
              <a:rPr b="1" lang="en-US" sz="1600" strike="noStrike" u="none">
                <a:solidFill>
                  <a:srgbClr val="000000"/>
                </a:solidFill>
                <a:effectLst/>
                <a:uFillTx/>
                <a:latin typeface="Arial"/>
              </a:rPr>
              <a:t>Explicitly</a:t>
            </a:r>
            <a:r>
              <a:rPr b="0" lang="en-US" sz="1600" strike="noStrike" u="none">
                <a:solidFill>
                  <a:srgbClr val="000000"/>
                </a:solidFill>
                <a:effectLst/>
                <a:uFillTx/>
                <a:latin typeface="Arial"/>
              </a:rPr>
              <a:t> through a single probability value, p(Ln)</a:t>
            </a:r>
            <a:endParaRPr b="0" lang="en-AU" sz="1600" strike="noStrike" u="none">
              <a:solidFill>
                <a:srgbClr val="000000"/>
              </a:solidFill>
              <a:effectLst/>
              <a:uFillTx/>
              <a:latin typeface="Arial"/>
            </a:endParaRPr>
          </a:p>
        </p:txBody>
      </p:sp>
      <p:pic>
        <p:nvPicPr>
          <p:cNvPr id="124" name="" descr=""/>
          <p:cNvPicPr/>
          <p:nvPr/>
        </p:nvPicPr>
        <p:blipFill>
          <a:blip r:embed="rId1"/>
          <a:stretch/>
        </p:blipFill>
        <p:spPr>
          <a:xfrm>
            <a:off x="488160" y="360000"/>
            <a:ext cx="3109320" cy="4497480"/>
          </a:xfrm>
          <a:prstGeom prst="rect">
            <a:avLst/>
          </a:prstGeom>
          <a:noFill/>
          <a:ln w="0">
            <a:noFill/>
          </a:ln>
        </p:spPr>
      </p:pic>
      <p:sp>
        <p:nvSpPr>
          <p:cNvPr id="4" name="PlaceHolder 3"/>
          <p:cNvSpPr>
            <a:spLocks noGrp="1"/>
          </p:cNvSpPr>
          <p:nvPr>
            <p:ph type="sldNum" idx="2"/>
          </p:nvPr>
        </p:nvSpPr>
        <p:spPr/>
        <p:txBody>
          <a:bodyPr/>
          <a:p>
            <a:fld id="{A0C33876-186E-4EC8-9B44-B17484CB8BB2}" type="slidenum">
              <a:t>31</a:t>
            </a:fld>
          </a:p>
        </p:txBody>
      </p:sp>
    </p:spTree>
  </p:cSld>
  <mc:AlternateContent>
    <mc:Choice Requires="p14">
      <p:transition spd="slow" p14:dur="2000"/>
    </mc:Choice>
    <mc:Fallback>
      <p:transition spd="slow"/>
    </mc:Fallback>
  </mc:AlternateContent>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5" name="PlaceHolder 1"/>
          <p:cNvSpPr>
            <a:spLocks noGrp="1"/>
          </p:cNvSpPr>
          <p:nvPr>
            <p:ph type="title"/>
          </p:nvPr>
        </p:nvSpPr>
        <p:spPr>
          <a:xfrm>
            <a:off x="504000" y="223560"/>
            <a:ext cx="9069120" cy="948960"/>
          </a:xfrm>
          <a:prstGeom prst="rect">
            <a:avLst/>
          </a:prstGeom>
          <a:noFill/>
          <a:ln w="0">
            <a:noFill/>
          </a:ln>
        </p:spPr>
        <p:txBody>
          <a:bodyPr lIns="0" rIns="0" tIns="0" bIns="0" anchor="ctr">
            <a:spAutoFit/>
          </a:bodyPr>
          <a:p>
            <a:pPr indent="0" algn="ctr">
              <a:lnSpc>
                <a:spcPct val="100000"/>
              </a:lnSpc>
              <a:buNone/>
              <a:tabLst>
                <a:tab algn="l" pos="0"/>
              </a:tabLst>
            </a:pPr>
            <a:r>
              <a:rPr b="0" lang="en-US" sz="4000" strike="noStrike" u="none">
                <a:solidFill>
                  <a:srgbClr val="000000"/>
                </a:solidFill>
                <a:effectLst/>
                <a:uFillTx/>
                <a:latin typeface="Arial"/>
              </a:rPr>
              <a:t>Model Architectures Visited So Far</a:t>
            </a:r>
            <a:endParaRPr b="0" lang="en-AU" sz="4000" strike="noStrike" u="none">
              <a:solidFill>
                <a:srgbClr val="000000"/>
              </a:solidFill>
              <a:effectLst/>
              <a:uFillTx/>
              <a:latin typeface="Arial"/>
            </a:endParaRPr>
          </a:p>
        </p:txBody>
      </p:sp>
      <p:graphicFrame>
        <p:nvGraphicFramePr>
          <p:cNvPr id="126" name=""/>
          <p:cNvGraphicFramePr/>
          <p:nvPr/>
        </p:nvGraphicFramePr>
        <p:xfrm>
          <a:off x="416160" y="1459440"/>
          <a:ext cx="9032040" cy="3638520"/>
        </p:xfrm>
        <a:graphic>
          <a:graphicData uri="http://schemas.openxmlformats.org/drawingml/2006/table">
            <a:tbl>
              <a:tblPr/>
              <a:tblGrid>
                <a:gridCol w="1505520"/>
                <a:gridCol w="1505520"/>
                <a:gridCol w="1505520"/>
                <a:gridCol w="1510560"/>
                <a:gridCol w="1500480"/>
                <a:gridCol w="1504800"/>
              </a:tblGrid>
              <a:tr h="346320">
                <a:tc>
                  <a:txBody>
                    <a:bodyPr lIns="36000" rIns="36000" tIns="36000" bIns="36000" anchor="t">
                      <a:noAutofit/>
                    </a:bodyPr>
                    <a:p>
                      <a:pPr algn="ctr">
                        <a:lnSpc>
                          <a:spcPct val="100000"/>
                        </a:lnSpc>
                        <a:tabLst>
                          <a:tab algn="l" pos="0"/>
                        </a:tabLst>
                      </a:pPr>
                      <a:r>
                        <a:rPr b="0" lang="en-US" sz="1300" strike="noStrike" u="none">
                          <a:solidFill>
                            <a:srgbClr val="000000"/>
                          </a:solidFill>
                          <a:effectLst/>
                          <a:uFillTx/>
                          <a:latin typeface="Arial"/>
                        </a:rPr>
                        <a:t>Architecture</a:t>
                      </a:r>
                      <a:endParaRPr b="0" lang="en-AU" sz="1300" strike="noStrike" u="non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tabLst>
                          <a:tab algn="l" pos="0"/>
                        </a:tabLst>
                      </a:pPr>
                      <a:r>
                        <a:rPr b="0" lang="en-US" sz="1300" strike="noStrike" u="none">
                          <a:solidFill>
                            <a:srgbClr val="000000"/>
                          </a:solidFill>
                          <a:effectLst/>
                          <a:uFillTx/>
                          <a:latin typeface="Arial"/>
                        </a:rPr>
                        <a:t>KCs</a:t>
                      </a:r>
                      <a:endParaRPr b="0" lang="en-AU" sz="1300" strike="noStrike" u="non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tabLst>
                          <a:tab algn="l" pos="0"/>
                        </a:tabLst>
                      </a:pPr>
                      <a:r>
                        <a:rPr b="0" lang="en-US" sz="1300" strike="noStrike" u="none">
                          <a:solidFill>
                            <a:srgbClr val="000000"/>
                          </a:solidFill>
                          <a:effectLst/>
                          <a:uFillTx/>
                          <a:latin typeface="Arial"/>
                        </a:rPr>
                        <a:t>KC-KC Relations</a:t>
                      </a:r>
                      <a:endParaRPr b="0" lang="en-AU" sz="1300" strike="noStrike" u="non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tabLst>
                          <a:tab algn="l" pos="0"/>
                        </a:tabLst>
                      </a:pPr>
                      <a:r>
                        <a:rPr b="0" lang="en-US" sz="1300" strike="noStrike" u="none">
                          <a:solidFill>
                            <a:srgbClr val="000000"/>
                          </a:solidFill>
                          <a:effectLst/>
                          <a:uFillTx/>
                          <a:latin typeface="Arial"/>
                        </a:rPr>
                        <a:t>Leaning of KCs</a:t>
                      </a:r>
                      <a:endParaRPr b="0" lang="en-AU" sz="1300" strike="noStrike" u="non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tabLst>
                          <a:tab algn="l" pos="0"/>
                        </a:tabLst>
                      </a:pPr>
                      <a:r>
                        <a:rPr b="0" lang="en-US" sz="1300" strike="noStrike" u="none">
                          <a:solidFill>
                            <a:srgbClr val="000000"/>
                          </a:solidFill>
                          <a:effectLst/>
                          <a:uFillTx/>
                          <a:latin typeface="Arial"/>
                        </a:rPr>
                        <a:t>Time-Based Forgetting of KCs</a:t>
                      </a:r>
                      <a:endParaRPr b="0" lang="en-AU" sz="1300" strike="noStrike" u="non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tabLst>
                          <a:tab algn="l" pos="0"/>
                        </a:tabLst>
                      </a:pPr>
                      <a:r>
                        <a:rPr b="0" lang="en-US" sz="1300" strike="noStrike" u="none">
                          <a:solidFill>
                            <a:srgbClr val="000000"/>
                          </a:solidFill>
                          <a:effectLst/>
                          <a:uFillTx/>
                          <a:latin typeface="Arial"/>
                        </a:rPr>
                        <a:t>Student’s Knowledge State</a:t>
                      </a:r>
                      <a:endParaRPr b="0" lang="en-AU" sz="1300" strike="noStrike" u="non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r h="698040">
                <a:tc>
                  <a:txBody>
                    <a:bodyPr lIns="36000" rIns="36000" tIns="36000" bIns="36000" anchor="t">
                      <a:noAutofit/>
                    </a:bodyPr>
                    <a:p>
                      <a:pPr algn="ctr">
                        <a:lnSpc>
                          <a:spcPct val="100000"/>
                        </a:lnSpc>
                        <a:tabLst>
                          <a:tab algn="l" pos="0"/>
                        </a:tabLst>
                      </a:pPr>
                      <a:r>
                        <a:rPr b="0" lang="en-US" sz="1300" strike="noStrike" u="none">
                          <a:solidFill>
                            <a:srgbClr val="000000"/>
                          </a:solidFill>
                          <a:effectLst/>
                          <a:uFillTx/>
                          <a:latin typeface="Arial"/>
                        </a:rPr>
                        <a:t>Graph Neural Network</a:t>
                      </a:r>
                      <a:endParaRPr b="0" lang="en-AU" sz="1300" strike="noStrike" u="non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tabLst>
                          <a:tab algn="l" pos="0"/>
                        </a:tabLst>
                      </a:pPr>
                      <a:r>
                        <a:rPr b="1" lang="en-US" sz="1300" strike="noStrike" u="none">
                          <a:solidFill>
                            <a:srgbClr val="000000"/>
                          </a:solidFill>
                          <a:effectLst/>
                          <a:uFillTx/>
                          <a:latin typeface="Arial"/>
                        </a:rPr>
                        <a:t>Explicit</a:t>
                      </a:r>
                      <a:r>
                        <a:rPr b="0" lang="en-US" sz="1300" strike="noStrike" u="none">
                          <a:solidFill>
                            <a:srgbClr val="000000"/>
                          </a:solidFill>
                          <a:effectLst/>
                          <a:uFillTx/>
                          <a:latin typeface="Arial"/>
                        </a:rPr>
                        <a:t> as Nodes</a:t>
                      </a:r>
                      <a:endParaRPr b="0" lang="en-AU" sz="1300" strike="noStrike" u="non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tabLst>
                          <a:tab algn="l" pos="0"/>
                        </a:tabLst>
                      </a:pPr>
                      <a:r>
                        <a:rPr b="1" lang="en-US" sz="1300" strike="noStrike" u="none">
                          <a:solidFill>
                            <a:srgbClr val="000000"/>
                          </a:solidFill>
                          <a:effectLst/>
                          <a:uFillTx/>
                          <a:latin typeface="Arial"/>
                        </a:rPr>
                        <a:t>Explicit</a:t>
                      </a:r>
                      <a:r>
                        <a:rPr b="0" lang="en-US" sz="1300" strike="noStrike" u="none">
                          <a:solidFill>
                            <a:srgbClr val="000000"/>
                          </a:solidFill>
                          <a:effectLst/>
                          <a:uFillTx/>
                          <a:latin typeface="Arial"/>
                        </a:rPr>
                        <a:t> as Edges</a:t>
                      </a:r>
                      <a:endParaRPr b="0" lang="en-AU" sz="1300" strike="noStrike" u="non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tabLst>
                          <a:tab algn="l" pos="0"/>
                        </a:tabLst>
                      </a:pPr>
                      <a:r>
                        <a:rPr b="1" lang="en-US" sz="1300" strike="noStrike" u="none">
                          <a:solidFill>
                            <a:srgbClr val="000000"/>
                          </a:solidFill>
                          <a:effectLst/>
                          <a:uFillTx/>
                          <a:latin typeface="Arial"/>
                        </a:rPr>
                        <a:t>Explicit</a:t>
                      </a:r>
                      <a:r>
                        <a:rPr b="0" lang="en-US" sz="1300" strike="noStrike" u="none">
                          <a:solidFill>
                            <a:srgbClr val="000000"/>
                          </a:solidFill>
                          <a:effectLst/>
                          <a:uFillTx/>
                          <a:latin typeface="Arial"/>
                        </a:rPr>
                        <a:t> via node update + message passing</a:t>
                      </a:r>
                      <a:endParaRPr b="0" lang="en-AU" sz="1300" strike="noStrike" u="non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tabLst>
                          <a:tab algn="l" pos="0"/>
                        </a:tabLst>
                      </a:pPr>
                      <a:r>
                        <a:rPr b="1" lang="en-US" sz="1300" strike="noStrike" u="none">
                          <a:solidFill>
                            <a:srgbClr val="000000"/>
                          </a:solidFill>
                          <a:effectLst/>
                          <a:uFillTx/>
                          <a:latin typeface="Arial"/>
                        </a:rPr>
                        <a:t>Explicit</a:t>
                      </a:r>
                      <a:r>
                        <a:rPr b="0" lang="en-US" sz="1300" strike="noStrike" u="none">
                          <a:solidFill>
                            <a:srgbClr val="000000"/>
                          </a:solidFill>
                          <a:effectLst/>
                          <a:uFillTx/>
                          <a:latin typeface="Arial"/>
                        </a:rPr>
                        <a:t> via Forgetting Functions</a:t>
                      </a:r>
                      <a:endParaRPr b="0" lang="en-AU" sz="1300" strike="noStrike" u="non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tabLst>
                          <a:tab algn="l" pos="0"/>
                        </a:tabLst>
                      </a:pPr>
                      <a:r>
                        <a:rPr b="1" lang="en-US" sz="1300" strike="noStrike" u="none">
                          <a:solidFill>
                            <a:srgbClr val="000000"/>
                          </a:solidFill>
                          <a:effectLst/>
                          <a:uFillTx/>
                          <a:latin typeface="Arial"/>
                        </a:rPr>
                        <a:t>Explicit</a:t>
                      </a:r>
                      <a:r>
                        <a:rPr b="0" lang="en-US" sz="1300" strike="noStrike" u="none">
                          <a:solidFill>
                            <a:srgbClr val="000000"/>
                          </a:solidFill>
                          <a:effectLst/>
                          <a:uFillTx/>
                          <a:latin typeface="Arial"/>
                        </a:rPr>
                        <a:t> as a Graph</a:t>
                      </a:r>
                      <a:endParaRPr b="0" lang="en-AU" sz="1300" strike="noStrike" u="non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r h="346320">
                <a:tc>
                  <a:txBody>
                    <a:bodyPr lIns="36000" rIns="36000" tIns="36000" bIns="36000" anchor="t">
                      <a:noAutofit/>
                    </a:bodyPr>
                    <a:p>
                      <a:pPr algn="ctr">
                        <a:lnSpc>
                          <a:spcPct val="100000"/>
                        </a:lnSpc>
                        <a:tabLst>
                          <a:tab algn="l" pos="0"/>
                        </a:tabLst>
                      </a:pPr>
                      <a:r>
                        <a:rPr b="0" lang="en-US" sz="1300" strike="noStrike" u="none">
                          <a:solidFill>
                            <a:srgbClr val="000000"/>
                          </a:solidFill>
                          <a:effectLst/>
                          <a:uFillTx/>
                          <a:latin typeface="Arial"/>
                        </a:rPr>
                        <a:t>Key-Value Memory Network</a:t>
                      </a:r>
                      <a:endParaRPr b="0" lang="en-AU" sz="1300" strike="noStrike" u="non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tabLst>
                          <a:tab algn="l" pos="0"/>
                        </a:tabLst>
                      </a:pPr>
                      <a:r>
                        <a:rPr b="1" lang="en-US" sz="1300" strike="noStrike" u="none">
                          <a:solidFill>
                            <a:srgbClr val="000000"/>
                          </a:solidFill>
                          <a:effectLst/>
                          <a:uFillTx/>
                          <a:latin typeface="Arial"/>
                        </a:rPr>
                        <a:t>Explicit</a:t>
                      </a:r>
                      <a:r>
                        <a:rPr b="0" lang="en-US" sz="1300" strike="noStrike" u="none">
                          <a:solidFill>
                            <a:srgbClr val="000000"/>
                          </a:solidFill>
                          <a:effectLst/>
                          <a:uFillTx/>
                          <a:latin typeface="Arial"/>
                        </a:rPr>
                        <a:t> as Keys</a:t>
                      </a:r>
                      <a:endParaRPr b="0" lang="en-AU" sz="1300" strike="noStrike" u="non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tabLst>
                          <a:tab algn="l" pos="0"/>
                        </a:tabLst>
                      </a:pPr>
                      <a:r>
                        <a:rPr b="0" lang="en-US" sz="1300" strike="noStrike" u="none">
                          <a:solidFill>
                            <a:srgbClr val="000000"/>
                          </a:solidFill>
                          <a:effectLst/>
                          <a:uFillTx/>
                          <a:latin typeface="Arial"/>
                        </a:rPr>
                        <a:t>---------</a:t>
                      </a:r>
                      <a:endParaRPr b="0" lang="en-AU" sz="1300" strike="noStrike" u="non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tabLst>
                          <a:tab algn="l" pos="0"/>
                        </a:tabLst>
                      </a:pPr>
                      <a:r>
                        <a:rPr b="1" lang="en-US" sz="1300" strike="noStrike" u="none">
                          <a:solidFill>
                            <a:srgbClr val="000000"/>
                          </a:solidFill>
                          <a:effectLst/>
                          <a:uFillTx/>
                          <a:latin typeface="Arial"/>
                        </a:rPr>
                        <a:t>Explicit</a:t>
                      </a:r>
                      <a:r>
                        <a:rPr b="0" lang="en-US" sz="1300" strike="noStrike" u="none">
                          <a:solidFill>
                            <a:srgbClr val="000000"/>
                          </a:solidFill>
                          <a:effectLst/>
                          <a:uFillTx/>
                          <a:latin typeface="Arial"/>
                        </a:rPr>
                        <a:t> via erase-add update</a:t>
                      </a:r>
                      <a:endParaRPr b="0" lang="en-AU" sz="1300" strike="noStrike" u="non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tabLst>
                          <a:tab algn="l" pos="0"/>
                        </a:tabLst>
                      </a:pPr>
                      <a:r>
                        <a:rPr b="0" lang="en-US" sz="1300" strike="noStrike" u="none">
                          <a:solidFill>
                            <a:srgbClr val="000000"/>
                          </a:solidFill>
                          <a:effectLst/>
                          <a:uFillTx/>
                          <a:latin typeface="Arial"/>
                        </a:rPr>
                        <a:t>---------</a:t>
                      </a:r>
                      <a:endParaRPr b="0" lang="en-AU" sz="1300" strike="noStrike" u="non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tabLst>
                          <a:tab algn="l" pos="0"/>
                        </a:tabLst>
                      </a:pPr>
                      <a:r>
                        <a:rPr b="1" lang="en-US" sz="1300" strike="noStrike" u="none">
                          <a:solidFill>
                            <a:srgbClr val="000000"/>
                          </a:solidFill>
                          <a:effectLst/>
                          <a:uFillTx/>
                          <a:latin typeface="Arial"/>
                        </a:rPr>
                        <a:t>Explicit</a:t>
                      </a:r>
                      <a:r>
                        <a:rPr b="0" lang="en-US" sz="1300" strike="noStrike" u="none">
                          <a:solidFill>
                            <a:srgbClr val="000000"/>
                          </a:solidFill>
                          <a:effectLst/>
                          <a:uFillTx/>
                          <a:latin typeface="Arial"/>
                        </a:rPr>
                        <a:t> as a Key-Value Table</a:t>
                      </a:r>
                      <a:endParaRPr b="0" lang="en-AU" sz="1300" strike="noStrike" u="non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r h="346320">
                <a:tc>
                  <a:txBody>
                    <a:bodyPr lIns="36000" rIns="36000" tIns="36000" bIns="36000" anchor="t">
                      <a:noAutofit/>
                    </a:bodyPr>
                    <a:p>
                      <a:pPr algn="ctr">
                        <a:lnSpc>
                          <a:spcPct val="100000"/>
                        </a:lnSpc>
                        <a:tabLst>
                          <a:tab algn="l" pos="0"/>
                        </a:tabLst>
                      </a:pPr>
                      <a:r>
                        <a:rPr b="0" lang="en-US" sz="1300" strike="noStrike" u="none">
                          <a:solidFill>
                            <a:srgbClr val="000000"/>
                          </a:solidFill>
                          <a:effectLst/>
                          <a:uFillTx/>
                          <a:latin typeface="Arial"/>
                        </a:rPr>
                        <a:t>Recurrent Neural Network</a:t>
                      </a:r>
                      <a:endParaRPr b="0" lang="en-AU" sz="1300" strike="noStrike" u="non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tabLst>
                          <a:tab algn="l" pos="0"/>
                        </a:tabLst>
                      </a:pPr>
                      <a:r>
                        <a:rPr b="1" lang="en-US" sz="1300" strike="noStrike" u="none">
                          <a:solidFill>
                            <a:srgbClr val="000000"/>
                          </a:solidFill>
                          <a:effectLst/>
                          <a:uFillTx/>
                          <a:latin typeface="Arial"/>
                        </a:rPr>
                        <a:t>Implicit</a:t>
                      </a:r>
                      <a:r>
                        <a:rPr b="0" lang="en-US" sz="1300" strike="noStrike" u="none">
                          <a:solidFill>
                            <a:srgbClr val="000000"/>
                          </a:solidFill>
                          <a:effectLst/>
                          <a:uFillTx/>
                          <a:latin typeface="Arial"/>
                        </a:rPr>
                        <a:t> as Question Embedding</a:t>
                      </a:r>
                      <a:endParaRPr b="0" lang="en-AU" sz="1300" strike="noStrike" u="non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tabLst>
                          <a:tab algn="l" pos="0"/>
                        </a:tabLst>
                      </a:pPr>
                      <a:r>
                        <a:rPr b="1" lang="en-US" sz="1300" strike="noStrike" u="none">
                          <a:solidFill>
                            <a:srgbClr val="000000"/>
                          </a:solidFill>
                          <a:effectLst/>
                          <a:uFillTx/>
                          <a:latin typeface="Arial"/>
                        </a:rPr>
                        <a:t>Implicit</a:t>
                      </a:r>
                      <a:r>
                        <a:rPr b="0" lang="en-US" sz="1300" strike="noStrike" u="none">
                          <a:solidFill>
                            <a:srgbClr val="000000"/>
                          </a:solidFill>
                          <a:effectLst/>
                          <a:uFillTx/>
                          <a:latin typeface="Arial"/>
                        </a:rPr>
                        <a:t> as Recurrent Weights</a:t>
                      </a:r>
                      <a:endParaRPr b="0" lang="en-AU" sz="1300" strike="noStrike" u="non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spcBef>
                          <a:spcPts val="1191"/>
                        </a:spcBef>
                        <a:spcAft>
                          <a:spcPts val="992"/>
                        </a:spcAft>
                        <a:tabLst>
                          <a:tab algn="l" pos="0"/>
                        </a:tabLst>
                      </a:pPr>
                      <a:r>
                        <a:rPr b="1" lang="en-US" sz="1300" strike="noStrike" u="none">
                          <a:solidFill>
                            <a:srgbClr val="000000"/>
                          </a:solidFill>
                          <a:effectLst/>
                          <a:uFillTx/>
                          <a:latin typeface="Arial"/>
                        </a:rPr>
                        <a:t>Implicit</a:t>
                      </a:r>
                      <a:r>
                        <a:rPr b="0" lang="en-US" sz="1300" strike="noStrike" u="none">
                          <a:solidFill>
                            <a:srgbClr val="000000"/>
                          </a:solidFill>
                          <a:effectLst/>
                          <a:uFillTx/>
                          <a:latin typeface="Arial"/>
                        </a:rPr>
                        <a:t> via the Input &amp; Update Gates</a:t>
                      </a:r>
                      <a:endParaRPr b="0" lang="en-AU" sz="1300" strike="noStrike" u="non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spcBef>
                          <a:spcPts val="1191"/>
                        </a:spcBef>
                        <a:spcAft>
                          <a:spcPts val="992"/>
                        </a:spcAft>
                        <a:tabLst>
                          <a:tab algn="l" pos="0"/>
                        </a:tabLst>
                      </a:pPr>
                      <a:r>
                        <a:rPr b="1" lang="en-US" sz="1300" strike="noStrike" u="none">
                          <a:solidFill>
                            <a:srgbClr val="000000"/>
                          </a:solidFill>
                          <a:effectLst/>
                          <a:uFillTx/>
                          <a:latin typeface="Arial"/>
                        </a:rPr>
                        <a:t>Implicit</a:t>
                      </a:r>
                      <a:r>
                        <a:rPr b="0" lang="en-US" sz="1300" strike="noStrike" u="none">
                          <a:solidFill>
                            <a:srgbClr val="000000"/>
                          </a:solidFill>
                          <a:effectLst/>
                          <a:uFillTx/>
                          <a:latin typeface="Arial"/>
                        </a:rPr>
                        <a:t> via the Forget Gate</a:t>
                      </a:r>
                      <a:endParaRPr b="0" lang="en-AU" sz="1300" strike="noStrike" u="non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spcBef>
                          <a:spcPts val="1417"/>
                        </a:spcBef>
                        <a:tabLst>
                          <a:tab algn="l" pos="0"/>
                        </a:tabLst>
                      </a:pPr>
                      <a:r>
                        <a:rPr b="1" lang="en-US" sz="1300" strike="noStrike" u="none">
                          <a:solidFill>
                            <a:srgbClr val="000000"/>
                          </a:solidFill>
                          <a:effectLst/>
                          <a:uFillTx/>
                          <a:latin typeface="Arial"/>
                        </a:rPr>
                        <a:t>Explicit</a:t>
                      </a:r>
                      <a:r>
                        <a:rPr b="0" lang="en-US" sz="1300" strike="noStrike" u="none">
                          <a:solidFill>
                            <a:srgbClr val="000000"/>
                          </a:solidFill>
                          <a:effectLst/>
                          <a:uFillTx/>
                          <a:latin typeface="Arial"/>
                        </a:rPr>
                        <a:t> as a hidden state vector(s)</a:t>
                      </a:r>
                      <a:endParaRPr b="0" lang="en-AU" sz="1300" strike="noStrike" u="non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r h="346320">
                <a:tc>
                  <a:txBody>
                    <a:bodyPr lIns="36000" rIns="36000" tIns="36000" bIns="36000" anchor="t">
                      <a:noAutofit/>
                    </a:bodyPr>
                    <a:p>
                      <a:pPr algn="ctr">
                        <a:lnSpc>
                          <a:spcPct val="100000"/>
                        </a:lnSpc>
                        <a:tabLst>
                          <a:tab algn="l" pos="0"/>
                        </a:tabLst>
                      </a:pPr>
                      <a:r>
                        <a:rPr b="0" lang="en-US" sz="1300" strike="noStrike" u="none">
                          <a:solidFill>
                            <a:srgbClr val="000000"/>
                          </a:solidFill>
                          <a:effectLst/>
                          <a:uFillTx/>
                          <a:latin typeface="Arial"/>
                        </a:rPr>
                        <a:t>Transformer</a:t>
                      </a:r>
                      <a:endParaRPr b="0" lang="en-AU" sz="1300" strike="noStrike" u="non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spcBef>
                          <a:spcPts val="1417"/>
                        </a:spcBef>
                        <a:tabLst>
                          <a:tab algn="l" pos="0"/>
                        </a:tabLst>
                      </a:pPr>
                      <a:r>
                        <a:rPr b="1" lang="en-US" sz="1300" strike="noStrike" u="none">
                          <a:solidFill>
                            <a:srgbClr val="000000"/>
                          </a:solidFill>
                          <a:effectLst/>
                          <a:uFillTx/>
                          <a:latin typeface="Arial"/>
                        </a:rPr>
                        <a:t>Implicit</a:t>
                      </a:r>
                      <a:r>
                        <a:rPr b="0" lang="en-US" sz="1300" strike="noStrike" u="none">
                          <a:solidFill>
                            <a:srgbClr val="000000"/>
                          </a:solidFill>
                          <a:effectLst/>
                          <a:uFillTx/>
                          <a:latin typeface="Arial"/>
                        </a:rPr>
                        <a:t> as Embeddings</a:t>
                      </a:r>
                      <a:endParaRPr b="0" lang="en-AU" sz="1300" strike="noStrike" u="non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spcBef>
                          <a:spcPts val="1417"/>
                        </a:spcBef>
                        <a:tabLst>
                          <a:tab algn="l" pos="0"/>
                        </a:tabLst>
                      </a:pPr>
                      <a:r>
                        <a:rPr b="1" lang="en-US" sz="1300" strike="noStrike" u="none">
                          <a:solidFill>
                            <a:srgbClr val="000000"/>
                          </a:solidFill>
                          <a:effectLst/>
                          <a:uFillTx/>
                          <a:latin typeface="Arial"/>
                        </a:rPr>
                        <a:t>Implicit</a:t>
                      </a:r>
                      <a:r>
                        <a:rPr b="0" lang="en-US" sz="1300" strike="noStrike" u="none">
                          <a:solidFill>
                            <a:srgbClr val="000000"/>
                          </a:solidFill>
                          <a:effectLst/>
                          <a:uFillTx/>
                          <a:latin typeface="Arial"/>
                        </a:rPr>
                        <a:t> as attention weights</a:t>
                      </a:r>
                      <a:endParaRPr b="0" lang="en-AU" sz="1300" strike="noStrike" u="non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spcBef>
                          <a:spcPts val="1191"/>
                        </a:spcBef>
                        <a:spcAft>
                          <a:spcPts val="992"/>
                        </a:spcAft>
                        <a:tabLst>
                          <a:tab algn="l" pos="0"/>
                        </a:tabLst>
                      </a:pPr>
                      <a:r>
                        <a:rPr b="1" lang="en-US" sz="1300" strike="noStrike" u="none">
                          <a:solidFill>
                            <a:srgbClr val="000000"/>
                          </a:solidFill>
                          <a:effectLst/>
                          <a:uFillTx/>
                          <a:latin typeface="Arial"/>
                        </a:rPr>
                        <a:t>Implicit</a:t>
                      </a:r>
                      <a:r>
                        <a:rPr b="0" lang="en-US" sz="1300" strike="noStrike" u="none">
                          <a:solidFill>
                            <a:srgbClr val="000000"/>
                          </a:solidFill>
                          <a:effectLst/>
                          <a:uFillTx/>
                          <a:latin typeface="Arial"/>
                        </a:rPr>
                        <a:t> via attention mechanism</a:t>
                      </a:r>
                      <a:endParaRPr b="0" lang="en-AU" sz="1300" strike="noStrike" u="non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spcBef>
                          <a:spcPts val="1191"/>
                        </a:spcBef>
                        <a:spcAft>
                          <a:spcPts val="992"/>
                        </a:spcAft>
                        <a:tabLst>
                          <a:tab algn="l" pos="0"/>
                        </a:tabLst>
                      </a:pPr>
                      <a:r>
                        <a:rPr b="1" lang="en-US" sz="1300" strike="noStrike" u="none">
                          <a:solidFill>
                            <a:srgbClr val="000000"/>
                          </a:solidFill>
                          <a:effectLst/>
                          <a:uFillTx/>
                          <a:latin typeface="Arial"/>
                        </a:rPr>
                        <a:t>Explicitly</a:t>
                      </a:r>
                      <a:r>
                        <a:rPr b="0" lang="en-US" sz="1300" strike="noStrike" u="none">
                          <a:solidFill>
                            <a:srgbClr val="000000"/>
                          </a:solidFill>
                          <a:effectLst/>
                          <a:uFillTx/>
                          <a:latin typeface="Arial"/>
                        </a:rPr>
                        <a:t> through forgetting functions</a:t>
                      </a:r>
                      <a:endParaRPr b="0" lang="en-AU" sz="1300" strike="noStrike" u="non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spcBef>
                          <a:spcPts val="1417"/>
                        </a:spcBef>
                        <a:tabLst>
                          <a:tab algn="l" pos="0"/>
                        </a:tabLst>
                      </a:pPr>
                      <a:r>
                        <a:rPr b="0" lang="en-US" sz="1300" strike="noStrike" u="none">
                          <a:solidFill>
                            <a:srgbClr val="000000"/>
                          </a:solidFill>
                          <a:effectLst/>
                          <a:uFillTx/>
                          <a:latin typeface="Arial"/>
                        </a:rPr>
                        <a:t>Full knowledge state is </a:t>
                      </a:r>
                      <a:r>
                        <a:rPr b="1" lang="en-US" sz="1300" strike="noStrike" u="none">
                          <a:solidFill>
                            <a:srgbClr val="000000"/>
                          </a:solidFill>
                          <a:effectLst/>
                          <a:uFillTx/>
                          <a:latin typeface="Arial"/>
                        </a:rPr>
                        <a:t>implicit</a:t>
                      </a:r>
                      <a:endParaRPr b="0" lang="en-AU" sz="1300" strike="noStrike" u="non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r h="346320">
                <a:tc>
                  <a:txBody>
                    <a:bodyPr lIns="36000" rIns="36000" tIns="36000" bIns="36000" anchor="t">
                      <a:noAutofit/>
                    </a:bodyPr>
                    <a:p>
                      <a:pPr algn="ctr">
                        <a:lnSpc>
                          <a:spcPct val="100000"/>
                        </a:lnSpc>
                        <a:tabLst>
                          <a:tab algn="l" pos="0"/>
                        </a:tabLst>
                      </a:pPr>
                      <a:r>
                        <a:rPr b="0" lang="en-US" sz="1300" strike="noStrike" u="none">
                          <a:solidFill>
                            <a:srgbClr val="000000"/>
                          </a:solidFill>
                          <a:effectLst/>
                          <a:uFillTx/>
                          <a:latin typeface="Arial"/>
                        </a:rPr>
                        <a:t>Bayesian Network</a:t>
                      </a:r>
                      <a:endParaRPr b="0" lang="en-AU" sz="1300" strike="noStrike" u="non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spcBef>
                          <a:spcPts val="1417"/>
                        </a:spcBef>
                        <a:tabLst>
                          <a:tab algn="l" pos="0"/>
                        </a:tabLst>
                      </a:pPr>
                      <a:r>
                        <a:rPr b="0" lang="en-US" sz="1300" strike="noStrike" u="none">
                          <a:solidFill>
                            <a:srgbClr val="000000"/>
                          </a:solidFill>
                          <a:effectLst/>
                          <a:uFillTx/>
                          <a:latin typeface="Arial"/>
                        </a:rPr>
                        <a:t>---------</a:t>
                      </a:r>
                      <a:endParaRPr b="0" lang="en-AU" sz="1300" strike="noStrike" u="non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spcBef>
                          <a:spcPts val="1417"/>
                        </a:spcBef>
                        <a:tabLst>
                          <a:tab algn="l" pos="0"/>
                        </a:tabLst>
                      </a:pPr>
                      <a:r>
                        <a:rPr b="0" lang="en-US" sz="1300" strike="noStrike" u="none">
                          <a:solidFill>
                            <a:srgbClr val="000000"/>
                          </a:solidFill>
                          <a:effectLst/>
                          <a:uFillTx/>
                          <a:latin typeface="Arial"/>
                        </a:rPr>
                        <a:t>---------</a:t>
                      </a:r>
                      <a:endParaRPr b="0" lang="en-AU" sz="1300" strike="noStrike" u="non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spcBef>
                          <a:spcPts val="1417"/>
                        </a:spcBef>
                        <a:tabLst>
                          <a:tab algn="l" pos="0"/>
                        </a:tabLst>
                      </a:pPr>
                      <a:r>
                        <a:rPr b="1" lang="en-US" sz="1300" strike="noStrike" u="none">
                          <a:solidFill>
                            <a:srgbClr val="000000"/>
                          </a:solidFill>
                          <a:effectLst/>
                          <a:uFillTx/>
                          <a:latin typeface="Arial"/>
                        </a:rPr>
                        <a:t>Explicitly</a:t>
                      </a:r>
                      <a:r>
                        <a:rPr b="0" lang="en-US" sz="1300" strike="noStrike" u="none">
                          <a:solidFill>
                            <a:srgbClr val="000000"/>
                          </a:solidFill>
                          <a:effectLst/>
                          <a:uFillTx/>
                          <a:latin typeface="Arial"/>
                        </a:rPr>
                        <a:t> as a single probability value, p(T)</a:t>
                      </a:r>
                      <a:endParaRPr b="0" lang="en-AU" sz="1300" strike="noStrike" u="non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spcBef>
                          <a:spcPts val="1191"/>
                        </a:spcBef>
                        <a:spcAft>
                          <a:spcPts val="992"/>
                        </a:spcAft>
                        <a:tabLst>
                          <a:tab algn="l" pos="0"/>
                        </a:tabLst>
                      </a:pPr>
                      <a:r>
                        <a:rPr b="0" lang="en-US" sz="1300" strike="noStrike" u="none">
                          <a:solidFill>
                            <a:srgbClr val="000000"/>
                          </a:solidFill>
                          <a:effectLst/>
                          <a:uFillTx/>
                          <a:latin typeface="Arial"/>
                        </a:rPr>
                        <a:t>---------</a:t>
                      </a:r>
                      <a:endParaRPr b="0" lang="en-AU" sz="1300" strike="noStrike" u="non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rIns="36000" tIns="36000" bIns="36000" anchor="t">
                      <a:noAutofit/>
                    </a:bodyPr>
                    <a:p>
                      <a:pPr algn="ctr">
                        <a:lnSpc>
                          <a:spcPct val="100000"/>
                        </a:lnSpc>
                        <a:spcBef>
                          <a:spcPts val="1417"/>
                        </a:spcBef>
                        <a:tabLst>
                          <a:tab algn="l" pos="0"/>
                        </a:tabLst>
                      </a:pPr>
                      <a:r>
                        <a:rPr b="1" lang="en-US" sz="1300" strike="noStrike" u="none">
                          <a:solidFill>
                            <a:srgbClr val="000000"/>
                          </a:solidFill>
                          <a:effectLst/>
                          <a:uFillTx/>
                          <a:latin typeface="Arial"/>
                        </a:rPr>
                        <a:t>Explicitly</a:t>
                      </a:r>
                      <a:r>
                        <a:rPr b="0" lang="en-US" sz="1300" strike="noStrike" u="none">
                          <a:solidFill>
                            <a:srgbClr val="000000"/>
                          </a:solidFill>
                          <a:effectLst/>
                          <a:uFillTx/>
                          <a:latin typeface="Arial"/>
                        </a:rPr>
                        <a:t> as a single probability value, p(Ln)</a:t>
                      </a:r>
                      <a:endParaRPr b="0" lang="en-AU" sz="1300" strike="noStrike" u="non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bl>
          </a:graphicData>
        </a:graphic>
      </p:graphicFrame>
      <p:sp>
        <p:nvSpPr>
          <p:cNvPr id="3" name="PlaceHolder 2"/>
          <p:cNvSpPr>
            <a:spLocks noGrp="1"/>
          </p:cNvSpPr>
          <p:nvPr>
            <p:ph type="sldNum" idx="2"/>
          </p:nvPr>
        </p:nvSpPr>
        <p:spPr/>
        <p:txBody>
          <a:bodyPr/>
          <a:p>
            <a:fld id="{94DBE906-A332-4C7C-8DD6-428B46EC31EC}" type="slidenum">
              <a:t>32</a:t>
            </a:fld>
          </a:p>
        </p:txBody>
      </p:sp>
    </p:spTree>
  </p:cSld>
  <mc:AlternateContent>
    <mc:Choice Requires="p14">
      <p:transition spd="slow" p14:dur="2000"/>
    </mc:Choice>
    <mc:Fallback>
      <p:transition spd="slow"/>
    </mc:Fallback>
  </mc:AlternateContent>
</p:sld>
</file>

<file path=ppt/slides/slide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7" name="PlaceHolder 1"/>
          <p:cNvSpPr>
            <a:spLocks noGrp="1"/>
          </p:cNvSpPr>
          <p:nvPr>
            <p:ph type="title"/>
          </p:nvPr>
        </p:nvSpPr>
        <p:spPr>
          <a:xfrm>
            <a:off x="504000" y="223560"/>
            <a:ext cx="9069120" cy="948960"/>
          </a:xfrm>
          <a:prstGeom prst="rect">
            <a:avLst/>
          </a:prstGeom>
          <a:noFill/>
          <a:ln w="0">
            <a:noFill/>
          </a:ln>
        </p:spPr>
        <p:txBody>
          <a:bodyPr lIns="0" rIns="0" tIns="0" bIns="0" anchor="ctr">
            <a:spAutoFit/>
          </a:bodyPr>
          <a:p>
            <a:pPr indent="0" algn="ctr">
              <a:lnSpc>
                <a:spcPct val="100000"/>
              </a:lnSpc>
              <a:buNone/>
              <a:tabLst>
                <a:tab algn="l" pos="0"/>
              </a:tabLst>
            </a:pPr>
            <a:r>
              <a:rPr b="0" lang="en-US" sz="4400" strike="noStrike" u="none">
                <a:solidFill>
                  <a:srgbClr val="000000"/>
                </a:solidFill>
                <a:effectLst/>
                <a:uFillTx/>
                <a:latin typeface="Arial"/>
              </a:rPr>
              <a:t>Dataset Challenge</a:t>
            </a:r>
            <a:endParaRPr b="0" lang="en-AU" sz="4400" strike="noStrike" u="none">
              <a:solidFill>
                <a:srgbClr val="000000"/>
              </a:solidFill>
              <a:effectLst/>
              <a:uFillTx/>
              <a:latin typeface="Arial"/>
            </a:endParaRPr>
          </a:p>
        </p:txBody>
      </p:sp>
      <p:sp>
        <p:nvSpPr>
          <p:cNvPr id="128" name="PlaceHolder 2"/>
          <p:cNvSpPr>
            <a:spLocks noGrp="1"/>
          </p:cNvSpPr>
          <p:nvPr>
            <p:ph/>
          </p:nvPr>
        </p:nvSpPr>
        <p:spPr>
          <a:xfrm>
            <a:off x="540000" y="1326600"/>
            <a:ext cx="9069120" cy="3352320"/>
          </a:xfrm>
          <a:prstGeom prst="rect">
            <a:avLst/>
          </a:prstGeom>
          <a:noFill/>
          <a:ln w="0">
            <a:noFill/>
          </a:ln>
        </p:spPr>
        <p:txBody>
          <a:bodyPr lIns="0" rIns="0" tIns="0" bIns="0" anchor="t">
            <a:normAutofit lnSpcReduction="9999"/>
          </a:bodyPr>
          <a:p>
            <a:pPr indent="0">
              <a:lnSpc>
                <a:spcPct val="100000"/>
              </a:lnSpc>
              <a:spcBef>
                <a:spcPts val="1191"/>
              </a:spcBef>
              <a:spcAft>
                <a:spcPts val="992"/>
              </a:spcAft>
              <a:buNone/>
              <a:tabLst>
                <a:tab algn="l" pos="0"/>
              </a:tabLst>
            </a:pPr>
            <a:r>
              <a:rPr b="0" lang="en-US" sz="1600" strike="noStrike" u="none">
                <a:solidFill>
                  <a:srgbClr val="000000"/>
                </a:solidFill>
                <a:effectLst/>
                <a:uFillTx/>
                <a:latin typeface="Arial"/>
                <a:ea typeface="Noto Sans CJK SC"/>
              </a:rPr>
              <a:t>Both stage 1 and stage 2’s proposed models require the text of the questions to be available for training LLMs. However, most public KT dataset does not provide the text of the questions other than their IDs. This is probably because the questions are intellectual property of the educational institutes which provide the datasets. Publishing the original test questions along with the KT dataset to the public may affect their commercial interests. </a:t>
            </a:r>
            <a:endParaRPr b="0" lang="en-AU" sz="1600" strike="noStrike" u="none">
              <a:solidFill>
                <a:srgbClr val="000000"/>
              </a:solidFill>
              <a:effectLst/>
              <a:uFillTx/>
              <a:latin typeface="Arial"/>
            </a:endParaRPr>
          </a:p>
          <a:p>
            <a:pPr indent="0">
              <a:lnSpc>
                <a:spcPct val="100000"/>
              </a:lnSpc>
              <a:spcBef>
                <a:spcPts val="1191"/>
              </a:spcBef>
              <a:spcAft>
                <a:spcPts val="992"/>
              </a:spcAft>
              <a:buNone/>
              <a:tabLst>
                <a:tab algn="l" pos="0"/>
              </a:tabLst>
            </a:pPr>
            <a:r>
              <a:rPr b="0" lang="en-US" sz="1600" strike="noStrike" u="none">
                <a:solidFill>
                  <a:srgbClr val="000000"/>
                </a:solidFill>
                <a:effectLst/>
                <a:uFillTx/>
                <a:latin typeface="Arial"/>
                <a:ea typeface="Noto Sans CJK SC"/>
              </a:rPr>
              <a:t>In contrast, many datasets provides manually annotated KCs and KC-Question mappings by experts. However, during the deployment of a KT model, requiring manually annotated KCs by teachers is not realistic and automatic. In nowadays deep learning, it is usually the job of the model to find out the latent KCs. However, the question text is generally available automatically. Assume that the model is deployed privately in an institute. The model should be able to access the private question text. Because all (Question ID, Question Text, Result) can be obtained directly from teachers without further labelling, the training of KT models is self-supervised, which enables the use of large-scale data in training.</a:t>
            </a:r>
            <a:endParaRPr b="0" lang="en-AU" sz="1600" strike="noStrike" u="none">
              <a:solidFill>
                <a:srgbClr val="000000"/>
              </a:solidFill>
              <a:effectLst/>
              <a:uFillTx/>
              <a:latin typeface="Arial"/>
            </a:endParaRPr>
          </a:p>
          <a:p>
            <a:pPr indent="0">
              <a:lnSpc>
                <a:spcPct val="100000"/>
              </a:lnSpc>
              <a:spcBef>
                <a:spcPts val="1191"/>
              </a:spcBef>
              <a:spcAft>
                <a:spcPts val="992"/>
              </a:spcAft>
              <a:buNone/>
              <a:tabLst>
                <a:tab algn="l" pos="0"/>
              </a:tabLst>
            </a:pPr>
            <a:endParaRPr b="0" lang="en-AU" sz="1600" strike="noStrike" u="none">
              <a:solidFill>
                <a:srgbClr val="000000"/>
              </a:solidFill>
              <a:effectLst/>
              <a:uFillTx/>
              <a:latin typeface="Arial"/>
            </a:endParaRPr>
          </a:p>
          <a:p>
            <a:pPr indent="0">
              <a:lnSpc>
                <a:spcPct val="100000"/>
              </a:lnSpc>
              <a:spcBef>
                <a:spcPts val="1191"/>
              </a:spcBef>
              <a:spcAft>
                <a:spcPts val="992"/>
              </a:spcAft>
              <a:buNone/>
              <a:tabLst>
                <a:tab algn="l" pos="0"/>
              </a:tabLst>
            </a:pPr>
            <a:endParaRPr b="0" lang="en-AU" sz="1600" strike="noStrike" u="none">
              <a:solidFill>
                <a:srgbClr val="000000"/>
              </a:solidFill>
              <a:effectLst/>
              <a:uFillTx/>
              <a:latin typeface="Arial"/>
            </a:endParaRPr>
          </a:p>
          <a:p>
            <a:pPr indent="0">
              <a:lnSpc>
                <a:spcPct val="100000"/>
              </a:lnSpc>
              <a:spcBef>
                <a:spcPts val="1191"/>
              </a:spcBef>
              <a:spcAft>
                <a:spcPts val="992"/>
              </a:spcAft>
              <a:buNone/>
              <a:tabLst>
                <a:tab algn="l" pos="0"/>
              </a:tabLst>
            </a:pPr>
            <a:endParaRPr b="0" lang="en-AU" sz="1600" strike="noStrike" u="none">
              <a:solidFill>
                <a:srgbClr val="000000"/>
              </a:solidFill>
              <a:effectLst/>
              <a:uFillTx/>
              <a:latin typeface="Arial"/>
            </a:endParaRPr>
          </a:p>
          <a:p>
            <a:pPr indent="0">
              <a:lnSpc>
                <a:spcPct val="100000"/>
              </a:lnSpc>
              <a:spcBef>
                <a:spcPts val="1191"/>
              </a:spcBef>
              <a:spcAft>
                <a:spcPts val="992"/>
              </a:spcAft>
              <a:buNone/>
              <a:tabLst>
                <a:tab algn="l" pos="0"/>
              </a:tabLst>
            </a:pPr>
            <a:endParaRPr b="0" lang="en-AU" sz="1600" strike="noStrike" u="none">
              <a:solidFill>
                <a:srgbClr val="000000"/>
              </a:solidFill>
              <a:effectLst/>
              <a:uFillTx/>
              <a:latin typeface="Arial"/>
            </a:endParaRPr>
          </a:p>
          <a:p>
            <a:pPr indent="0">
              <a:lnSpc>
                <a:spcPct val="100000"/>
              </a:lnSpc>
              <a:spcBef>
                <a:spcPts val="1191"/>
              </a:spcBef>
              <a:spcAft>
                <a:spcPts val="992"/>
              </a:spcAft>
              <a:buNone/>
              <a:tabLst>
                <a:tab algn="l" pos="0"/>
              </a:tabLst>
            </a:pPr>
            <a:endParaRPr b="0" lang="en-AU" sz="1600" strike="noStrike" u="none">
              <a:solidFill>
                <a:srgbClr val="000000"/>
              </a:solidFill>
              <a:effectLst/>
              <a:uFillTx/>
              <a:latin typeface="Arial"/>
            </a:endParaRPr>
          </a:p>
        </p:txBody>
      </p:sp>
      <p:sp>
        <p:nvSpPr>
          <p:cNvPr id="4" name="PlaceHolder 3"/>
          <p:cNvSpPr>
            <a:spLocks noGrp="1"/>
          </p:cNvSpPr>
          <p:nvPr>
            <p:ph type="sldNum" idx="2"/>
          </p:nvPr>
        </p:nvSpPr>
        <p:spPr/>
        <p:txBody>
          <a:bodyPr/>
          <a:p>
            <a:fld id="{EDFAE464-2296-4FB4-B1DF-38F1093E3DA0}" type="slidenum">
              <a:t>33</a:t>
            </a:fld>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1010</TotalTime>
  <Application>LibreOffice/25.8.1.1$Linux_X86_64 LibreOffice_project/580$Build-1</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2025-09-18T11:37:03Z</dcterms:created>
  <dc:creator/>
  <dc:description/>
  <dc:language>en-AU</dc:language>
  <cp:lastModifiedBy/>
  <dcterms:modified xsi:type="dcterms:W3CDTF">2025-10-10T10:52:19Z</dcterms:modified>
  <cp:revision>45</cp:revision>
  <dc:subject/>
  <dc:title/>
</cp:coreProperties>
</file>

<file path=docProps/custom.xml><?xml version="1.0" encoding="utf-8"?>
<Properties xmlns="http://schemas.openxmlformats.org/officeDocument/2006/custom-properties" xmlns:vt="http://schemas.openxmlformats.org/officeDocument/2006/docPropsVTypes"/>
</file>